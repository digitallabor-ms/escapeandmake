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</p:sldIdLst>
  <p:sldSz cx="7556500" cy="10693400"/>
  <p:notesSz cx="6858000" cy="9144000"/>
  <p:embeddedFontLst>
    <p:embeddedFont>
      <p:font typeface="Campton Light" panose="020B0604020202020204" charset="0"/>
      <p:regular r:id="rId3"/>
    </p:embeddedFont>
    <p:embeddedFont>
      <p:font typeface="Montserrat" panose="00000500000000000000" pitchFamily="2" charset="0"/>
      <p:regular r:id="rId4"/>
      <p:bold r:id="rId5"/>
      <p:italic r:id="rId6"/>
      <p:boldItalic r:id="rId7"/>
    </p:embeddedFont>
    <p:embeddedFont>
      <p:font typeface="Poppins" panose="00000500000000000000" pitchFamily="2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6F"/>
    <a:srgbClr val="C00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32" autoAdjust="0"/>
    <p:restoredTop sz="94567" autoAdjust="0"/>
  </p:normalViewPr>
  <p:slideViewPr>
    <p:cSldViewPr>
      <p:cViewPr varScale="1">
        <p:scale>
          <a:sx n="68" d="100"/>
          <a:sy n="68" d="100"/>
        </p:scale>
        <p:origin x="340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13381">
            <a:off x="5823715" y="548291"/>
            <a:ext cx="1249288" cy="656444"/>
          </a:xfrm>
          <a:custGeom>
            <a:avLst/>
            <a:gdLst/>
            <a:ahLst/>
            <a:cxnLst/>
            <a:rect l="l" t="t" r="r" b="b"/>
            <a:pathLst>
              <a:path w="1249288" h="656444">
                <a:moveTo>
                  <a:pt x="0" y="0"/>
                </a:moveTo>
                <a:lnTo>
                  <a:pt x="1249288" y="0"/>
                </a:lnTo>
                <a:lnTo>
                  <a:pt x="1249288" y="656444"/>
                </a:lnTo>
                <a:lnTo>
                  <a:pt x="0" y="656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3" name="Group 3"/>
          <p:cNvGrpSpPr/>
          <p:nvPr/>
        </p:nvGrpSpPr>
        <p:grpSpPr>
          <a:xfrm>
            <a:off x="213753" y="2070100"/>
            <a:ext cx="364097" cy="312645"/>
            <a:chOff x="0" y="0"/>
            <a:chExt cx="109497" cy="9402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497" cy="94024"/>
            </a:xfrm>
            <a:custGeom>
              <a:avLst/>
              <a:gdLst/>
              <a:ahLst/>
              <a:cxnLst/>
              <a:rect l="l" t="t" r="r" b="b"/>
              <a:pathLst>
                <a:path w="109497" h="94024">
                  <a:moveTo>
                    <a:pt x="0" y="0"/>
                  </a:moveTo>
                  <a:lnTo>
                    <a:pt x="109497" y="0"/>
                  </a:lnTo>
                  <a:lnTo>
                    <a:pt x="109497" y="94024"/>
                  </a:lnTo>
                  <a:lnTo>
                    <a:pt x="0" y="94024"/>
                  </a:lnTo>
                  <a:close/>
                </a:path>
              </a:pathLst>
            </a:custGeom>
            <a:solidFill>
              <a:srgbClr val="7D1579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497" cy="132124"/>
            </a:xfrm>
            <a:prstGeom prst="rect">
              <a:avLst/>
            </a:prstGeom>
          </p:spPr>
          <p:txBody>
            <a:bodyPr lIns="44489" tIns="44489" rIns="44489" bIns="44489" rtlCol="0" anchor="ctr"/>
            <a:lstStyle/>
            <a:p>
              <a:pPr algn="ctr">
                <a:lnSpc>
                  <a:spcPts val="1543"/>
                </a:lnSpc>
              </a:pPr>
              <a:endParaRPr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3753" y="2595655"/>
            <a:ext cx="364097" cy="312645"/>
            <a:chOff x="0" y="0"/>
            <a:chExt cx="109497" cy="940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497" cy="94024"/>
            </a:xfrm>
            <a:custGeom>
              <a:avLst/>
              <a:gdLst/>
              <a:ahLst/>
              <a:cxnLst/>
              <a:rect l="l" t="t" r="r" b="b"/>
              <a:pathLst>
                <a:path w="109497" h="94024">
                  <a:moveTo>
                    <a:pt x="0" y="0"/>
                  </a:moveTo>
                  <a:lnTo>
                    <a:pt x="109497" y="0"/>
                  </a:lnTo>
                  <a:lnTo>
                    <a:pt x="109497" y="94024"/>
                  </a:lnTo>
                  <a:lnTo>
                    <a:pt x="0" y="940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9497" cy="132124"/>
            </a:xfrm>
            <a:prstGeom prst="rect">
              <a:avLst/>
            </a:prstGeom>
          </p:spPr>
          <p:txBody>
            <a:bodyPr lIns="44489" tIns="44489" rIns="44489" bIns="44489" rtlCol="0" anchor="ctr"/>
            <a:lstStyle/>
            <a:p>
              <a:pPr algn="ctr">
                <a:lnSpc>
                  <a:spcPts val="1543"/>
                </a:lnSpc>
              </a:pPr>
              <a:endParaRPr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3753" y="3136900"/>
            <a:ext cx="364097" cy="312645"/>
            <a:chOff x="0" y="0"/>
            <a:chExt cx="109497" cy="940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497" cy="94024"/>
            </a:xfrm>
            <a:custGeom>
              <a:avLst/>
              <a:gdLst/>
              <a:ahLst/>
              <a:cxnLst/>
              <a:rect l="l" t="t" r="r" b="b"/>
              <a:pathLst>
                <a:path w="109497" h="94024">
                  <a:moveTo>
                    <a:pt x="0" y="0"/>
                  </a:moveTo>
                  <a:lnTo>
                    <a:pt x="109497" y="0"/>
                  </a:lnTo>
                  <a:lnTo>
                    <a:pt x="109497" y="94024"/>
                  </a:lnTo>
                  <a:lnTo>
                    <a:pt x="0" y="94024"/>
                  </a:lnTo>
                  <a:close/>
                </a:path>
              </a:pathLst>
            </a:custGeom>
            <a:solidFill>
              <a:srgbClr val="009F6F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9497" cy="132124"/>
            </a:xfrm>
            <a:prstGeom prst="rect">
              <a:avLst/>
            </a:prstGeom>
          </p:spPr>
          <p:txBody>
            <a:bodyPr lIns="44489" tIns="44489" rIns="44489" bIns="44489" rtlCol="0" anchor="ctr"/>
            <a:lstStyle/>
            <a:p>
              <a:pPr algn="ctr">
                <a:lnSpc>
                  <a:spcPts val="1543"/>
                </a:lnSpc>
              </a:pPr>
              <a:endParaRPr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07673" y="3302946"/>
            <a:ext cx="364097" cy="64610"/>
            <a:chOff x="0" y="0"/>
            <a:chExt cx="109497" cy="194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497" cy="19431"/>
            </a:xfrm>
            <a:custGeom>
              <a:avLst/>
              <a:gdLst/>
              <a:ahLst/>
              <a:cxnLst/>
              <a:rect l="l" t="t" r="r" b="b"/>
              <a:pathLst>
                <a:path w="109497" h="19431">
                  <a:moveTo>
                    <a:pt x="0" y="0"/>
                  </a:moveTo>
                  <a:lnTo>
                    <a:pt x="109497" y="0"/>
                  </a:lnTo>
                  <a:lnTo>
                    <a:pt x="109497" y="19431"/>
                  </a:lnTo>
                  <a:lnTo>
                    <a:pt x="0" y="19431"/>
                  </a:lnTo>
                  <a:close/>
                </a:path>
              </a:pathLst>
            </a:custGeom>
            <a:solidFill>
              <a:srgbClr val="FF900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9497" cy="57531"/>
            </a:xfrm>
            <a:prstGeom prst="rect">
              <a:avLst/>
            </a:prstGeom>
          </p:spPr>
          <p:txBody>
            <a:bodyPr lIns="44489" tIns="44489" rIns="44489" bIns="44489" rtlCol="0" anchor="ctr"/>
            <a:lstStyle/>
            <a:p>
              <a:pPr algn="ctr">
                <a:lnSpc>
                  <a:spcPts val="1543"/>
                </a:lnSpc>
              </a:pPr>
              <a:endParaRPr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13753" y="1460500"/>
            <a:ext cx="364097" cy="348556"/>
            <a:chOff x="0" y="0"/>
            <a:chExt cx="148406" cy="1484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6" cy="148406"/>
            </a:xfrm>
            <a:custGeom>
              <a:avLst/>
              <a:gdLst/>
              <a:ahLst/>
              <a:cxnLst/>
              <a:rect l="l" t="t" r="r" b="b"/>
              <a:pathLst>
                <a:path w="148406" h="148406">
                  <a:moveTo>
                    <a:pt x="0" y="0"/>
                  </a:moveTo>
                  <a:lnTo>
                    <a:pt x="148406" y="0"/>
                  </a:lnTo>
                  <a:lnTo>
                    <a:pt x="148406" y="148406"/>
                  </a:lnTo>
                  <a:lnTo>
                    <a:pt x="0" y="148406"/>
                  </a:lnTo>
                  <a:close/>
                </a:path>
              </a:pathLst>
            </a:custGeom>
            <a:solidFill>
              <a:schemeClr val="bg1">
                <a:alpha val="69804"/>
              </a:schemeClr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48406" cy="215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9"/>
                </a:lnSpc>
              </a:pPr>
              <a:endParaRPr dirty="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22098" y="2066782"/>
            <a:ext cx="4861152" cy="2807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29"/>
              </a:lnSpc>
              <a:spcBef>
                <a:spcPct val="0"/>
              </a:spcBef>
            </a:pPr>
            <a:r>
              <a:rPr lang="en-US" sz="1663" dirty="0" err="1">
                <a:solidFill>
                  <a:srgbClr val="000000"/>
                </a:solidFill>
                <a:latin typeface="Poppins" panose="00000500000000000000" pitchFamily="2" charset="0"/>
                <a:ea typeface="Campton Light"/>
                <a:cs typeface="Poppins" panose="00000500000000000000" pitchFamily="2" charset="0"/>
                <a:sym typeface="Campton Light"/>
              </a:rPr>
              <a:t>Mögliche</a:t>
            </a:r>
            <a:r>
              <a:rPr lang="en-US" sz="1663" dirty="0">
                <a:solidFill>
                  <a:srgbClr val="000000"/>
                </a:solidFill>
                <a:latin typeface="Campton Light"/>
                <a:ea typeface="Campton Light"/>
                <a:cs typeface="Campton Light"/>
                <a:sym typeface="Campton Light"/>
              </a:rPr>
              <a:t> </a:t>
            </a:r>
            <a:r>
              <a:rPr lang="en-US" sz="1663" dirty="0" err="1">
                <a:solidFill>
                  <a:srgbClr val="000000"/>
                </a:solidFill>
                <a:latin typeface="Poppins" panose="00000500000000000000" pitchFamily="2" charset="0"/>
                <a:ea typeface="Campton Light"/>
                <a:cs typeface="Poppins" panose="00000500000000000000" pitchFamily="2" charset="0"/>
                <a:sym typeface="Campton Light"/>
              </a:rPr>
              <a:t>Landeplätze</a:t>
            </a:r>
            <a:endParaRPr lang="en-US" sz="1663" dirty="0">
              <a:solidFill>
                <a:srgbClr val="000000"/>
              </a:solidFill>
              <a:latin typeface="Poppins" panose="00000500000000000000" pitchFamily="2" charset="0"/>
              <a:ea typeface="Campton Light"/>
              <a:cs typeface="Poppins" panose="00000500000000000000" pitchFamily="2" charset="0"/>
              <a:sym typeface="Campton Ligh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22098" y="2592685"/>
            <a:ext cx="2803751" cy="28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29"/>
              </a:lnSpc>
              <a:spcBef>
                <a:spcPct val="0"/>
              </a:spcBef>
            </a:pPr>
            <a:r>
              <a:rPr lang="en-US" sz="1663" dirty="0">
                <a:solidFill>
                  <a:srgbClr val="000000"/>
                </a:solidFill>
                <a:latin typeface="Poppins" panose="00000500000000000000" pitchFamily="2" charset="0"/>
                <a:ea typeface="Campton Light"/>
                <a:cs typeface="Poppins" panose="00000500000000000000" pitchFamily="2" charset="0"/>
                <a:sym typeface="Campton Light"/>
              </a:rPr>
              <a:t>Sicherheitsschleuse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2098" y="3143729"/>
            <a:ext cx="2454991" cy="280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9"/>
              </a:lnSpc>
              <a:spcBef>
                <a:spcPct val="0"/>
              </a:spcBef>
            </a:pPr>
            <a:r>
              <a:rPr lang="en-US" sz="1663" dirty="0">
                <a:solidFill>
                  <a:srgbClr val="000000"/>
                </a:solidFill>
                <a:latin typeface="Poppins" panose="00000500000000000000" pitchFamily="2" charset="0"/>
                <a:ea typeface="Campton Light"/>
                <a:cs typeface="Poppins" panose="00000500000000000000" pitchFamily="2" charset="0"/>
                <a:sym typeface="Campton Light"/>
              </a:rPr>
              <a:t>Startpunkt der Drohne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67021" y="3143729"/>
            <a:ext cx="2536979" cy="280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9"/>
              </a:lnSpc>
              <a:spcBef>
                <a:spcPct val="0"/>
              </a:spcBef>
            </a:pPr>
            <a:r>
              <a:rPr lang="en-US" sz="1663" dirty="0">
                <a:solidFill>
                  <a:srgbClr val="000000"/>
                </a:solidFill>
                <a:latin typeface="Poppins" panose="00000500000000000000" pitchFamily="2" charset="0"/>
                <a:ea typeface="Campton Light"/>
                <a:cs typeface="Poppins" panose="00000500000000000000" pitchFamily="2" charset="0"/>
                <a:sym typeface="Campton Light"/>
              </a:rPr>
              <a:t>Tür des jeweiligen Büros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172" y="4045693"/>
            <a:ext cx="60519" cy="13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1"/>
              </a:lnSpc>
            </a:pPr>
            <a:r>
              <a:rPr lang="en-US" sz="801" spc="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7418" y="341812"/>
            <a:ext cx="5712742" cy="741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00"/>
              </a:lnSpc>
            </a:pPr>
            <a:r>
              <a:rPr lang="en-US" sz="4357" b="1" dirty="0">
                <a:solidFill>
                  <a:srgbClr val="000000"/>
                </a:solidFill>
                <a:latin typeface="Poppins" panose="00000500000000000000" pitchFamily="2" charset="0"/>
                <a:ea typeface="Campton Bold"/>
                <a:cs typeface="Poppins" panose="00000500000000000000" pitchFamily="2" charset="0"/>
                <a:sym typeface="Campton Bold"/>
              </a:rPr>
              <a:t>Gebäudegrundriss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2098" y="1510583"/>
            <a:ext cx="5712742" cy="268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Poppins" panose="00000500000000000000" pitchFamily="2" charset="0"/>
                <a:ea typeface="Campton Light"/>
                <a:cs typeface="Poppins" panose="00000500000000000000" pitchFamily="2" charset="0"/>
                <a:sym typeface="Campton Light"/>
              </a:rPr>
              <a:t>Die </a:t>
            </a:r>
            <a:r>
              <a:rPr lang="en-US" sz="1660" dirty="0">
                <a:solidFill>
                  <a:srgbClr val="000000"/>
                </a:solidFill>
                <a:latin typeface="Poppins" panose="00000500000000000000" pitchFamily="2" charset="0"/>
                <a:ea typeface="Campton Light"/>
                <a:cs typeface="Poppins" panose="00000500000000000000" pitchFamily="2" charset="0"/>
                <a:sym typeface="Campton Light"/>
              </a:rPr>
              <a:t>Drohne</a:t>
            </a:r>
            <a:r>
              <a:rPr lang="en-US" sz="1599" dirty="0">
                <a:solidFill>
                  <a:srgbClr val="000000"/>
                </a:solidFill>
                <a:latin typeface="Poppins" panose="00000500000000000000" pitchFamily="2" charset="0"/>
                <a:ea typeface="Campton Light"/>
                <a:cs typeface="Poppins" panose="00000500000000000000" pitchFamily="2" charset="0"/>
                <a:sym typeface="Campton Light"/>
              </a:rPr>
              <a:t> </a:t>
            </a:r>
            <a:r>
              <a:rPr lang="en-US" sz="1660" dirty="0">
                <a:solidFill>
                  <a:srgbClr val="000000"/>
                </a:solidFill>
                <a:latin typeface="Poppins" panose="00000500000000000000" pitchFamily="2" charset="0"/>
                <a:ea typeface="Campton Light"/>
                <a:cs typeface="Poppins" panose="00000500000000000000" pitchFamily="2" charset="0"/>
                <a:sym typeface="Campton Light"/>
              </a:rPr>
              <a:t>kann</a:t>
            </a:r>
            <a:r>
              <a:rPr lang="en-US" sz="1599" dirty="0">
                <a:solidFill>
                  <a:srgbClr val="000000"/>
                </a:solidFill>
                <a:latin typeface="Poppins" panose="00000500000000000000" pitchFamily="2" charset="0"/>
                <a:ea typeface="Campton Light"/>
                <a:cs typeface="Poppins" panose="00000500000000000000" pitchFamily="2" charset="0"/>
                <a:sym typeface="Campton Light"/>
              </a:rPr>
              <a:t> nur über die weißen Flächen fliegen. </a:t>
            </a:r>
          </a:p>
        </p:txBody>
      </p:sp>
      <p:pic>
        <p:nvPicPr>
          <p:cNvPr id="28" name="Grafik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88" y="3689616"/>
            <a:ext cx="7069465" cy="5002772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E7AA87F9-3882-959B-7BED-91CB8EACDB71}"/>
              </a:ext>
            </a:extLst>
          </p:cNvPr>
          <p:cNvSpPr txBox="1"/>
          <p:nvPr/>
        </p:nvSpPr>
        <p:spPr>
          <a:xfrm>
            <a:off x="-1190648" y="10431790"/>
            <a:ext cx="85088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de-DE" sz="1100" b="0" i="0" dirty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Escape &amp; </a:t>
            </a:r>
            <a:r>
              <a:rPr lang="de-DE" sz="1100" b="0" i="0" dirty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Make</a:t>
            </a:r>
            <a:r>
              <a:rPr lang="de-DE" sz="1100" b="0" i="0" dirty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© 2026 vom Digitallabor Münster ist lizensiert unter CC BY-NC-SA 4.0. </a:t>
            </a:r>
            <a:endParaRPr lang="de-DE" sz="1100" dirty="0">
              <a:effectLst/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Benutzerdefiniert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Poppins</vt:lpstr>
      <vt:lpstr>Campton Light</vt:lpstr>
      <vt:lpstr>Montserrat</vt:lpstr>
      <vt:lpstr>Calibri</vt:lpstr>
      <vt:lpstr>Arial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Rätsel Station 5</dc:title>
  <dc:creator>Seida Bahtovic</dc:creator>
  <cp:lastModifiedBy>Seida Bahtovic</cp:lastModifiedBy>
  <cp:revision>19</cp:revision>
  <dcterms:created xsi:type="dcterms:W3CDTF">2006-08-16T00:00:00Z</dcterms:created>
  <dcterms:modified xsi:type="dcterms:W3CDTF">2026-06-08T11:17:55Z</dcterms:modified>
  <dc:identifier>DAGVsrWc_fs</dc:identifier>
</cp:coreProperties>
</file>