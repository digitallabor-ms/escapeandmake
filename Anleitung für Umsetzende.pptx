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sldSz cx="18288000" cy="10287000"/>
  <p:notesSz cx="6858000" cy="9144000"/>
  <p:embeddedFontLst>
    <p:embeddedFont>
      <p:font typeface="Poppins" panose="00000500000000000000" pitchFamily="2" charset="0"/>
      <p:regular r:id="rId30"/>
    </p:embeddedFont>
    <p:embeddedFont>
      <p:font typeface="Poppins Bold" panose="00000800000000000000" charset="0"/>
      <p:regular r:id="rId3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0" d="100"/>
          <a:sy n="70" d="100"/>
        </p:scale>
        <p:origin x="774" y="6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1.fntdata"/><Relationship Id="rId35"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7/29/2026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‹Nr.›</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‹Nr.›</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‹Nr.›</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7/29/2026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‹Nr.›</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7/29/2026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‹Nr.›</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7/29/2026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‹Nr.›</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‹Nr.›</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‹Nr.›</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‹Nr.›</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‹Nr.›</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‹Nr.›</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7/29/2026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‹Nr.›</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hyperlink" Target="https://creativecommons.org/licenses/by-nc-sa/4.0/legalcode.de" TargetMode="External"/><Relationship Id="rId5" Type="http://schemas.openxmlformats.org/officeDocument/2006/relationships/hyperlink" Target="https://www.digitallabor.ms" TargetMode="Externa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4.jpe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5.jpe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jpe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9.sv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9.sv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0.sv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11.jpeg"/><Relationship Id="rId4" Type="http://schemas.openxmlformats.org/officeDocument/2006/relationships/image" Target="../media/image10.sv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0.sv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2.sv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2.sv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hyperlink" Target="https://makecode.calliope.cc/68714-02467-53095-15506" TargetMode="External"/><Relationship Id="rId5" Type="http://schemas.openxmlformats.org/officeDocument/2006/relationships/image" Target="../media/image14.svg"/><Relationship Id="rId4" Type="http://schemas.openxmlformats.org/officeDocument/2006/relationships/image" Target="../media/image13.sv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5.png"/><Relationship Id="rId1" Type="http://schemas.openxmlformats.org/officeDocument/2006/relationships/slideLayout" Target="../slideLayouts/slideLayout7.xml"/><Relationship Id="rId5" Type="http://schemas.openxmlformats.org/officeDocument/2006/relationships/image" Target="../media/image14.svg"/><Relationship Id="rId4" Type="http://schemas.openxmlformats.org/officeDocument/2006/relationships/image" Target="../media/image13.sv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6.sv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17.png"/><Relationship Id="rId4" Type="http://schemas.openxmlformats.org/officeDocument/2006/relationships/image" Target="../media/image16.sv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8.svg"/></Relationships>
</file>

<file path=ppt/slides/_rels/slide22.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9.svg"/></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9.svg"/></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hyperlink" Target="https://creativecommons.org/licenses/by-nc-sa/4.0/legalcode.de" TargetMode="External"/><Relationship Id="rId4" Type="http://schemas.openxmlformats.org/officeDocument/2006/relationships/hyperlink" Target="https://digitallabor.ms/angebot" TargetMode="External"/></Relationships>
</file>

<file path=ppt/slides/_rels/slide28.xml.rels><?xml version="1.0" encoding="UTF-8" standalone="yes"?>
<Relationships xmlns="http://schemas.openxmlformats.org/package/2006/relationships"><Relationship Id="rId3" Type="http://schemas.openxmlformats.org/officeDocument/2006/relationships/hyperlink" Target="https://creativecommons.org/licenses/by-nc-sa/4.0/legalcode.de" TargetMode="External"/><Relationship Id="rId2" Type="http://schemas.openxmlformats.org/officeDocument/2006/relationships/hyperlink" Target="https://digitallabor.ms/angebot" TargetMode="External"/><Relationship Id="rId1" Type="http://schemas.openxmlformats.org/officeDocument/2006/relationships/slideLayout" Target="../slideLayouts/slideLayout7.xml"/><Relationship Id="rId6" Type="http://schemas.openxmlformats.org/officeDocument/2006/relationships/image" Target="../media/image1.png"/><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6F6F1"/>
        </a:solidFill>
        <a:effectLst/>
      </p:bgPr>
    </p:bg>
    <p:spTree>
      <p:nvGrpSpPr>
        <p:cNvPr id="1" name=""/>
        <p:cNvGrpSpPr/>
        <p:nvPr/>
      </p:nvGrpSpPr>
      <p:grpSpPr>
        <a:xfrm>
          <a:off x="0" y="0"/>
          <a:ext cx="0" cy="0"/>
          <a:chOff x="0" y="0"/>
          <a:chExt cx="0" cy="0"/>
        </a:xfrm>
      </p:grpSpPr>
      <p:sp>
        <p:nvSpPr>
          <p:cNvPr id="2" name="Freeform 2"/>
          <p:cNvSpPr/>
          <p:nvPr/>
        </p:nvSpPr>
        <p:spPr>
          <a:xfrm rot="1512000">
            <a:off x="-1327091" y="-3378882"/>
            <a:ext cx="20927895" cy="17074124"/>
          </a:xfrm>
          <a:custGeom>
            <a:avLst/>
            <a:gdLst/>
            <a:ahLst/>
            <a:cxnLst/>
            <a:rect l="l" t="t" r="r" b="b"/>
            <a:pathLst>
              <a:path w="20927895" h="17074124">
                <a:moveTo>
                  <a:pt x="0" y="7792735"/>
                </a:moveTo>
                <a:lnTo>
                  <a:pt x="16560405" y="0"/>
                </a:lnTo>
                <a:lnTo>
                  <a:pt x="20927895" y="9281390"/>
                </a:lnTo>
                <a:lnTo>
                  <a:pt x="4367490" y="17074125"/>
                </a:lnTo>
                <a:lnTo>
                  <a:pt x="0" y="7792735"/>
                </a:lnTo>
                <a:close/>
              </a:path>
            </a:pathLst>
          </a:custGeom>
          <a:blipFill>
            <a:blip r:embed="rId2"/>
            <a:stretch>
              <a:fillRect t="-11285" b="-11285"/>
            </a:stretch>
          </a:blipFill>
          <a:ln w="200025" cap="sq">
            <a:solidFill>
              <a:srgbClr val="E8440B"/>
            </a:solidFill>
            <a:prstDash val="solid"/>
            <a:miter/>
          </a:ln>
        </p:spPr>
        <p:txBody>
          <a:bodyPr/>
          <a:lstStyle/>
          <a:p>
            <a:endParaRPr lang="de-DE"/>
          </a:p>
        </p:txBody>
      </p:sp>
      <p:sp>
        <p:nvSpPr>
          <p:cNvPr id="3" name="Freeform 3"/>
          <p:cNvSpPr/>
          <p:nvPr/>
        </p:nvSpPr>
        <p:spPr>
          <a:xfrm>
            <a:off x="11211450" y="9013114"/>
            <a:ext cx="2612738" cy="1063221"/>
          </a:xfrm>
          <a:custGeom>
            <a:avLst/>
            <a:gdLst/>
            <a:ahLst/>
            <a:cxnLst/>
            <a:rect l="l" t="t" r="r" b="b"/>
            <a:pathLst>
              <a:path w="2612738" h="1063221">
                <a:moveTo>
                  <a:pt x="0" y="0"/>
                </a:moveTo>
                <a:lnTo>
                  <a:pt x="2612737" y="0"/>
                </a:lnTo>
                <a:lnTo>
                  <a:pt x="2612737" y="1063221"/>
                </a:lnTo>
                <a:lnTo>
                  <a:pt x="0" y="1063221"/>
                </a:lnTo>
                <a:lnTo>
                  <a:pt x="0" y="0"/>
                </a:lnTo>
                <a:close/>
              </a:path>
            </a:pathLst>
          </a:custGeom>
          <a:blipFill>
            <a:blip r:embed="rId3"/>
            <a:stretch>
              <a:fillRect/>
            </a:stretch>
          </a:blipFill>
        </p:spPr>
        <p:txBody>
          <a:bodyPr/>
          <a:lstStyle/>
          <a:p>
            <a:endParaRPr lang="de-DE"/>
          </a:p>
        </p:txBody>
      </p:sp>
      <p:sp>
        <p:nvSpPr>
          <p:cNvPr id="4" name="Freeform 4"/>
          <p:cNvSpPr/>
          <p:nvPr/>
        </p:nvSpPr>
        <p:spPr>
          <a:xfrm>
            <a:off x="14111826" y="9142039"/>
            <a:ext cx="3704707" cy="805371"/>
          </a:xfrm>
          <a:custGeom>
            <a:avLst/>
            <a:gdLst/>
            <a:ahLst/>
            <a:cxnLst/>
            <a:rect l="l" t="t" r="r" b="b"/>
            <a:pathLst>
              <a:path w="3704707" h="805371">
                <a:moveTo>
                  <a:pt x="0" y="0"/>
                </a:moveTo>
                <a:lnTo>
                  <a:pt x="3704707" y="0"/>
                </a:lnTo>
                <a:lnTo>
                  <a:pt x="3704707" y="805371"/>
                </a:lnTo>
                <a:lnTo>
                  <a:pt x="0" y="805371"/>
                </a:lnTo>
                <a:lnTo>
                  <a:pt x="0" y="0"/>
                </a:lnTo>
                <a:close/>
              </a:path>
            </a:pathLst>
          </a:custGeom>
          <a:blipFill>
            <a:blip r:embed="rId4"/>
            <a:stretch>
              <a:fillRect/>
            </a:stretch>
          </a:blipFill>
        </p:spPr>
        <p:txBody>
          <a:bodyPr/>
          <a:lstStyle/>
          <a:p>
            <a:endParaRPr lang="de-DE"/>
          </a:p>
        </p:txBody>
      </p:sp>
      <p:sp>
        <p:nvSpPr>
          <p:cNvPr id="5" name="TextBox 5"/>
          <p:cNvSpPr txBox="1"/>
          <p:nvPr/>
        </p:nvSpPr>
        <p:spPr>
          <a:xfrm>
            <a:off x="526486" y="9712280"/>
            <a:ext cx="8065929" cy="276223"/>
          </a:xfrm>
          <a:prstGeom prst="rect">
            <a:avLst/>
          </a:prstGeom>
        </p:spPr>
        <p:txBody>
          <a:bodyPr lIns="0" tIns="0" rIns="0" bIns="0" rtlCol="0" anchor="t">
            <a:spAutoFit/>
          </a:bodyPr>
          <a:lstStyle/>
          <a:p>
            <a:pPr algn="ctr">
              <a:lnSpc>
                <a:spcPts val="2100"/>
              </a:lnSpc>
              <a:spcBef>
                <a:spcPct val="0"/>
              </a:spcBef>
            </a:pPr>
            <a:r>
              <a:rPr lang="en-US" sz="1500">
                <a:solidFill>
                  <a:srgbClr val="000000"/>
                </a:solidFill>
                <a:latin typeface="Poppins"/>
                <a:ea typeface="Poppins"/>
                <a:cs typeface="Poppins"/>
                <a:sym typeface="Poppins"/>
              </a:rPr>
              <a:t>Escape &amp; Make © 2026 vom </a:t>
            </a:r>
            <a:r>
              <a:rPr lang="en-US" sz="1500" u="sng">
                <a:solidFill>
                  <a:srgbClr val="000000"/>
                </a:solidFill>
                <a:latin typeface="Poppins"/>
                <a:ea typeface="Poppins"/>
                <a:cs typeface="Poppins"/>
                <a:sym typeface="Poppins"/>
                <a:hlinkClick r:id="rId5" tooltip="https://www.digitallabor.ms"/>
              </a:rPr>
              <a:t>Digitallabor Münster</a:t>
            </a:r>
            <a:r>
              <a:rPr lang="en-US" sz="1500">
                <a:solidFill>
                  <a:srgbClr val="000000"/>
                </a:solidFill>
                <a:latin typeface="Poppins"/>
                <a:ea typeface="Poppins"/>
                <a:cs typeface="Poppins"/>
                <a:sym typeface="Poppins"/>
              </a:rPr>
              <a:t> ist lizensiert unter </a:t>
            </a:r>
            <a:r>
              <a:rPr lang="en-US" sz="1500" u="sng">
                <a:solidFill>
                  <a:srgbClr val="000000"/>
                </a:solidFill>
                <a:latin typeface="Poppins"/>
                <a:ea typeface="Poppins"/>
                <a:cs typeface="Poppins"/>
                <a:sym typeface="Poppins"/>
                <a:hlinkClick r:id="rId6" tooltip="https://creativecommons.org/licenses/by-nc-sa/4.0/legalcode.de"/>
              </a:rPr>
              <a:t>CC BY-NC-SA 4.0</a:t>
            </a:r>
            <a:r>
              <a:rPr lang="en-US" sz="1500">
                <a:solidFill>
                  <a:srgbClr val="000000"/>
                </a:solidFill>
                <a:latin typeface="Poppins"/>
                <a:ea typeface="Poppins"/>
                <a:cs typeface="Poppins"/>
                <a:sym typeface="Poppins"/>
              </a:rPr>
              <a:t>. </a:t>
            </a:r>
          </a:p>
        </p:txBody>
      </p:sp>
      <p:sp>
        <p:nvSpPr>
          <p:cNvPr id="6" name="TextBox 6"/>
          <p:cNvSpPr txBox="1"/>
          <p:nvPr/>
        </p:nvSpPr>
        <p:spPr>
          <a:xfrm>
            <a:off x="3990634" y="3302236"/>
            <a:ext cx="10492829" cy="1929765"/>
          </a:xfrm>
          <a:prstGeom prst="rect">
            <a:avLst/>
          </a:prstGeom>
        </p:spPr>
        <p:txBody>
          <a:bodyPr lIns="0" tIns="0" rIns="0" bIns="0" rtlCol="0" anchor="t">
            <a:spAutoFit/>
          </a:bodyPr>
          <a:lstStyle/>
          <a:p>
            <a:pPr algn="ctr">
              <a:lnSpc>
                <a:spcPts val="7559"/>
              </a:lnSpc>
            </a:pPr>
            <a:r>
              <a:rPr lang="en-US" sz="5400" b="1">
                <a:solidFill>
                  <a:srgbClr val="E8440B"/>
                </a:solidFill>
                <a:latin typeface="Poppins Bold"/>
                <a:ea typeface="Poppins Bold"/>
                <a:cs typeface="Poppins Bold"/>
                <a:sym typeface="Poppins Bold"/>
              </a:rPr>
              <a:t>Anleitung zur Umsetzung von </a:t>
            </a:r>
          </a:p>
          <a:p>
            <a:pPr algn="ctr">
              <a:lnSpc>
                <a:spcPts val="7559"/>
              </a:lnSpc>
              <a:spcBef>
                <a:spcPct val="0"/>
              </a:spcBef>
            </a:pPr>
            <a:r>
              <a:rPr lang="en-US" sz="5400" b="1">
                <a:solidFill>
                  <a:srgbClr val="E8440B"/>
                </a:solidFill>
                <a:latin typeface="Poppins Bold"/>
                <a:ea typeface="Poppins Bold"/>
                <a:cs typeface="Poppins Bold"/>
                <a:sym typeface="Poppins Bold"/>
              </a:rPr>
              <a:t>Escape &amp; Make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6F6F1"/>
        </a:solidFill>
        <a:effectLst/>
      </p:bgPr>
    </p:bg>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a:ln w="200025" cap="sq">
            <a:solidFill>
              <a:srgbClr val="EB4210"/>
            </a:solidFill>
            <a:prstDash val="solid"/>
            <a:miter/>
          </a:ln>
        </p:spPr>
        <p:txBody>
          <a:bodyPr/>
          <a:lstStyle/>
          <a:p>
            <a:endParaRPr lang="de-DE"/>
          </a:p>
        </p:txBody>
      </p:sp>
      <p:sp>
        <p:nvSpPr>
          <p:cNvPr id="3" name="TextBox 3"/>
          <p:cNvSpPr txBox="1"/>
          <p:nvPr/>
        </p:nvSpPr>
        <p:spPr>
          <a:xfrm>
            <a:off x="605767" y="2793738"/>
            <a:ext cx="17068632" cy="4642296"/>
          </a:xfrm>
          <a:prstGeom prst="rect">
            <a:avLst/>
          </a:prstGeom>
        </p:spPr>
        <p:txBody>
          <a:bodyPr lIns="0" tIns="0" rIns="0" bIns="0" rtlCol="0" anchor="t">
            <a:spAutoFit/>
          </a:bodyPr>
          <a:lstStyle/>
          <a:p>
            <a:pPr marL="647713" lvl="1" indent="-323856" algn="l">
              <a:lnSpc>
                <a:spcPts val="4200"/>
              </a:lnSpc>
              <a:buFont typeface="Arial"/>
              <a:buChar char="•"/>
            </a:pPr>
            <a:r>
              <a:rPr lang="en-US" sz="3000" dirty="0" err="1">
                <a:solidFill>
                  <a:srgbClr val="000000"/>
                </a:solidFill>
                <a:latin typeface="Poppins"/>
                <a:ea typeface="Poppins"/>
                <a:cs typeface="Poppins"/>
                <a:sym typeface="Poppins"/>
              </a:rPr>
              <a:t>Konzept</a:t>
            </a:r>
            <a:r>
              <a:rPr lang="en-US" sz="3000" dirty="0">
                <a:solidFill>
                  <a:srgbClr val="000000"/>
                </a:solidFill>
                <a:latin typeface="Poppins"/>
                <a:ea typeface="Poppins"/>
                <a:cs typeface="Poppins"/>
                <a:sym typeface="Poppins"/>
              </a:rPr>
              <a:t> &amp; </a:t>
            </a:r>
            <a:r>
              <a:rPr lang="en-US" sz="3000" dirty="0" err="1">
                <a:solidFill>
                  <a:srgbClr val="000000"/>
                </a:solidFill>
                <a:latin typeface="Poppins"/>
                <a:ea typeface="Poppins"/>
                <a:cs typeface="Poppins"/>
                <a:sym typeface="Poppins"/>
              </a:rPr>
              <a:t>Ziele</a:t>
            </a:r>
            <a:endParaRPr lang="en-US" sz="3000" dirty="0">
              <a:solidFill>
                <a:srgbClr val="000000"/>
              </a:solidFill>
              <a:latin typeface="Poppins"/>
              <a:ea typeface="Poppins"/>
              <a:cs typeface="Poppins"/>
              <a:sym typeface="Poppins"/>
            </a:endParaRPr>
          </a:p>
          <a:p>
            <a:pPr marL="647713" lvl="1" indent="-323856" algn="l">
              <a:lnSpc>
                <a:spcPts val="4200"/>
              </a:lnSpc>
              <a:buFont typeface="Arial"/>
              <a:buChar char="•"/>
            </a:pPr>
            <a:r>
              <a:rPr lang="en-US" sz="3000" dirty="0" err="1">
                <a:solidFill>
                  <a:srgbClr val="000000"/>
                </a:solidFill>
                <a:latin typeface="Poppins"/>
                <a:ea typeface="Poppins"/>
                <a:cs typeface="Poppins"/>
                <a:sym typeface="Poppins"/>
              </a:rPr>
              <a:t>Zeitplan</a:t>
            </a:r>
            <a:endParaRPr lang="en-US" sz="3000" dirty="0">
              <a:solidFill>
                <a:srgbClr val="000000"/>
              </a:solidFill>
              <a:latin typeface="Poppins"/>
              <a:ea typeface="Poppins"/>
              <a:cs typeface="Poppins"/>
              <a:sym typeface="Poppins"/>
            </a:endParaRPr>
          </a:p>
          <a:p>
            <a:pPr marL="647713" lvl="1" indent="-323856" algn="l">
              <a:lnSpc>
                <a:spcPts val="4200"/>
              </a:lnSpc>
              <a:buFont typeface="Arial"/>
              <a:buChar char="•"/>
            </a:pPr>
            <a:r>
              <a:rPr lang="en-US" sz="3000" dirty="0" err="1">
                <a:solidFill>
                  <a:srgbClr val="000000"/>
                </a:solidFill>
                <a:latin typeface="Poppins"/>
                <a:ea typeface="Poppins"/>
                <a:cs typeface="Poppins"/>
                <a:sym typeface="Poppins"/>
              </a:rPr>
              <a:t>Rahmenbedingungen</a:t>
            </a:r>
            <a:endParaRPr lang="en-US" sz="3000" dirty="0">
              <a:solidFill>
                <a:srgbClr val="000000"/>
              </a:solidFill>
              <a:latin typeface="Poppins"/>
              <a:ea typeface="Poppins"/>
              <a:cs typeface="Poppins"/>
              <a:sym typeface="Poppins"/>
            </a:endParaRPr>
          </a:p>
          <a:p>
            <a:pPr marL="647713" lvl="1" indent="-323856" algn="l">
              <a:lnSpc>
                <a:spcPts val="4200"/>
              </a:lnSpc>
              <a:buFont typeface="Arial"/>
              <a:buChar char="•"/>
            </a:pPr>
            <a:r>
              <a:rPr lang="en-US" sz="3000" dirty="0" err="1">
                <a:solidFill>
                  <a:srgbClr val="000000"/>
                </a:solidFill>
                <a:latin typeface="Poppins"/>
                <a:ea typeface="Poppins"/>
                <a:cs typeface="Poppins"/>
                <a:sym typeface="Poppins"/>
              </a:rPr>
              <a:t>Vorbereitung</a:t>
            </a:r>
            <a:endParaRPr lang="en-US" sz="3000" dirty="0">
              <a:solidFill>
                <a:srgbClr val="000000"/>
              </a:solidFill>
              <a:latin typeface="Poppins"/>
              <a:ea typeface="Poppins"/>
              <a:cs typeface="Poppins"/>
              <a:sym typeface="Poppins"/>
            </a:endParaRPr>
          </a:p>
          <a:p>
            <a:pPr marL="647713" lvl="1" indent="-323856" algn="l">
              <a:lnSpc>
                <a:spcPts val="4200"/>
              </a:lnSpc>
              <a:buFont typeface="Arial"/>
              <a:buChar char="•"/>
            </a:pPr>
            <a:r>
              <a:rPr lang="en-US" sz="3000" dirty="0">
                <a:solidFill>
                  <a:srgbClr val="000000"/>
                </a:solidFill>
                <a:latin typeface="Poppins"/>
                <a:ea typeface="Poppins"/>
                <a:cs typeface="Poppins"/>
                <a:sym typeface="Poppins"/>
              </a:rPr>
              <a:t>Der </a:t>
            </a:r>
            <a:r>
              <a:rPr lang="en-US" sz="3000" dirty="0" err="1">
                <a:solidFill>
                  <a:srgbClr val="000000"/>
                </a:solidFill>
                <a:latin typeface="Poppins"/>
                <a:ea typeface="Poppins"/>
                <a:cs typeface="Poppins"/>
                <a:sym typeface="Poppins"/>
              </a:rPr>
              <a:t>große</a:t>
            </a:r>
            <a:r>
              <a:rPr lang="en-US" sz="3000" dirty="0">
                <a:solidFill>
                  <a:srgbClr val="000000"/>
                </a:solidFill>
                <a:latin typeface="Poppins"/>
                <a:ea typeface="Poppins"/>
                <a:cs typeface="Poppins"/>
                <a:sym typeface="Poppins"/>
              </a:rPr>
              <a:t> Coup: </a:t>
            </a:r>
            <a:r>
              <a:rPr lang="en-US" sz="3000" dirty="0" err="1">
                <a:solidFill>
                  <a:srgbClr val="000000"/>
                </a:solidFill>
                <a:latin typeface="Poppins"/>
                <a:ea typeface="Poppins"/>
                <a:cs typeface="Poppins"/>
                <a:sym typeface="Poppins"/>
              </a:rPr>
              <a:t>Stationen</a:t>
            </a:r>
            <a:r>
              <a:rPr lang="en-US" sz="3000" dirty="0">
                <a:solidFill>
                  <a:srgbClr val="000000"/>
                </a:solidFill>
                <a:latin typeface="Poppins"/>
                <a:ea typeface="Poppins"/>
                <a:cs typeface="Poppins"/>
                <a:sym typeface="Poppins"/>
              </a:rPr>
              <a:t> </a:t>
            </a:r>
            <a:r>
              <a:rPr lang="en-US" sz="3000" dirty="0" err="1">
                <a:solidFill>
                  <a:srgbClr val="000000"/>
                </a:solidFill>
                <a:latin typeface="Poppins"/>
                <a:ea typeface="Poppins"/>
                <a:cs typeface="Poppins"/>
                <a:sym typeface="Poppins"/>
              </a:rPr>
              <a:t>vorbereiten</a:t>
            </a:r>
            <a:r>
              <a:rPr lang="en-US" sz="3000" dirty="0">
                <a:solidFill>
                  <a:srgbClr val="000000"/>
                </a:solidFill>
                <a:latin typeface="Poppins"/>
                <a:ea typeface="Poppins"/>
                <a:cs typeface="Poppins"/>
                <a:sym typeface="Poppins"/>
              </a:rPr>
              <a:t> und </a:t>
            </a:r>
            <a:r>
              <a:rPr lang="en-US" sz="3000" dirty="0" err="1">
                <a:solidFill>
                  <a:srgbClr val="000000"/>
                </a:solidFill>
                <a:latin typeface="Poppins"/>
                <a:ea typeface="Poppins"/>
                <a:cs typeface="Poppins"/>
                <a:sym typeface="Poppins"/>
              </a:rPr>
              <a:t>begleiten</a:t>
            </a:r>
            <a:endParaRPr lang="en-US" sz="3000" dirty="0">
              <a:solidFill>
                <a:srgbClr val="000000"/>
              </a:solidFill>
              <a:latin typeface="Poppins"/>
              <a:ea typeface="Poppins"/>
              <a:cs typeface="Poppins"/>
              <a:sym typeface="Poppins"/>
            </a:endParaRPr>
          </a:p>
          <a:p>
            <a:pPr marL="647713" lvl="1" indent="-323856" algn="l">
              <a:lnSpc>
                <a:spcPts val="4200"/>
              </a:lnSpc>
              <a:buFont typeface="Arial"/>
              <a:buChar char="•"/>
            </a:pPr>
            <a:r>
              <a:rPr lang="en-US" sz="3000" dirty="0" err="1">
                <a:solidFill>
                  <a:srgbClr val="000000"/>
                </a:solidFill>
                <a:latin typeface="Poppins"/>
                <a:ea typeface="Poppins"/>
                <a:cs typeface="Poppins"/>
                <a:sym typeface="Poppins"/>
              </a:rPr>
              <a:t>Ablauf</a:t>
            </a:r>
            <a:r>
              <a:rPr lang="en-US" sz="3000" dirty="0">
                <a:solidFill>
                  <a:srgbClr val="000000"/>
                </a:solidFill>
                <a:latin typeface="Poppins"/>
                <a:ea typeface="Poppins"/>
                <a:cs typeface="Poppins"/>
                <a:sym typeface="Poppins"/>
              </a:rPr>
              <a:t> am Tag</a:t>
            </a:r>
          </a:p>
          <a:p>
            <a:pPr algn="l">
              <a:lnSpc>
                <a:spcPts val="4200"/>
              </a:lnSpc>
            </a:pPr>
            <a:endParaRPr lang="en-US" sz="3000" dirty="0">
              <a:solidFill>
                <a:srgbClr val="000000"/>
              </a:solidFill>
              <a:latin typeface="Poppins"/>
              <a:ea typeface="Poppins"/>
              <a:cs typeface="Poppins"/>
              <a:sym typeface="Poppins"/>
            </a:endParaRPr>
          </a:p>
          <a:p>
            <a:pPr algn="l">
              <a:lnSpc>
                <a:spcPts val="3360"/>
              </a:lnSpc>
            </a:pPr>
            <a:endParaRPr lang="en-US" sz="3000" dirty="0">
              <a:solidFill>
                <a:srgbClr val="000000"/>
              </a:solidFill>
              <a:latin typeface="Poppins"/>
              <a:ea typeface="Poppins"/>
              <a:cs typeface="Poppins"/>
              <a:sym typeface="Poppins"/>
            </a:endParaRPr>
          </a:p>
          <a:p>
            <a:pPr algn="l">
              <a:lnSpc>
                <a:spcPts val="3360"/>
              </a:lnSpc>
            </a:pPr>
            <a:endParaRPr lang="en-US" sz="3000" dirty="0">
              <a:solidFill>
                <a:srgbClr val="000000"/>
              </a:solidFill>
              <a:latin typeface="Poppins"/>
              <a:ea typeface="Poppins"/>
              <a:cs typeface="Poppins"/>
              <a:sym typeface="Poppins"/>
            </a:endParaRPr>
          </a:p>
        </p:txBody>
      </p:sp>
      <p:sp>
        <p:nvSpPr>
          <p:cNvPr id="4" name="Freeform 4"/>
          <p:cNvSpPr/>
          <p:nvPr/>
        </p:nvSpPr>
        <p:spPr>
          <a:xfrm>
            <a:off x="15314140" y="9001800"/>
            <a:ext cx="2787410" cy="1134302"/>
          </a:xfrm>
          <a:custGeom>
            <a:avLst/>
            <a:gdLst/>
            <a:ahLst/>
            <a:cxnLst/>
            <a:rect l="l" t="t" r="r" b="b"/>
            <a:pathLst>
              <a:path w="2787410" h="1134302">
                <a:moveTo>
                  <a:pt x="0" y="0"/>
                </a:moveTo>
                <a:lnTo>
                  <a:pt x="2787411" y="0"/>
                </a:lnTo>
                <a:lnTo>
                  <a:pt x="2787411" y="1134301"/>
                </a:lnTo>
                <a:lnTo>
                  <a:pt x="0" y="1134301"/>
                </a:lnTo>
                <a:lnTo>
                  <a:pt x="0" y="0"/>
                </a:lnTo>
                <a:close/>
              </a:path>
            </a:pathLst>
          </a:custGeom>
          <a:blipFill>
            <a:blip r:embed="rId3"/>
            <a:stretch>
              <a:fillRect/>
            </a:stretch>
          </a:blipFill>
        </p:spPr>
        <p:txBody>
          <a:bodyPr/>
          <a:lstStyle/>
          <a:p>
            <a:endParaRPr lang="de-DE"/>
          </a:p>
        </p:txBody>
      </p:sp>
      <p:sp>
        <p:nvSpPr>
          <p:cNvPr id="5" name="TextBox 5"/>
          <p:cNvSpPr txBox="1"/>
          <p:nvPr/>
        </p:nvSpPr>
        <p:spPr>
          <a:xfrm>
            <a:off x="3824362" y="1573169"/>
            <a:ext cx="10639276" cy="977265"/>
          </a:xfrm>
          <a:prstGeom prst="rect">
            <a:avLst/>
          </a:prstGeom>
        </p:spPr>
        <p:txBody>
          <a:bodyPr lIns="0" tIns="0" rIns="0" bIns="0" rtlCol="0" anchor="t">
            <a:spAutoFit/>
          </a:bodyPr>
          <a:lstStyle/>
          <a:p>
            <a:pPr algn="ctr">
              <a:lnSpc>
                <a:spcPts val="7559"/>
              </a:lnSpc>
            </a:pPr>
            <a:r>
              <a:rPr lang="en-US" sz="5400" b="1">
                <a:solidFill>
                  <a:srgbClr val="E8440B"/>
                </a:solidFill>
                <a:latin typeface="Poppins Bold"/>
                <a:ea typeface="Poppins Bold"/>
                <a:cs typeface="Poppins Bold"/>
                <a:sym typeface="Poppins Bold"/>
              </a:rPr>
              <a:t>Überblick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6F6F1"/>
        </a:solidFill>
        <a:effectLst/>
      </p:bgPr>
    </p:bg>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a:ln w="200025" cap="sq">
            <a:solidFill>
              <a:srgbClr val="EB4210"/>
            </a:solidFill>
            <a:prstDash val="solid"/>
            <a:miter/>
          </a:ln>
        </p:spPr>
        <p:txBody>
          <a:bodyPr/>
          <a:lstStyle/>
          <a:p>
            <a:endParaRPr lang="de-DE"/>
          </a:p>
        </p:txBody>
      </p:sp>
      <p:sp>
        <p:nvSpPr>
          <p:cNvPr id="3" name="Freeform 3"/>
          <p:cNvSpPr/>
          <p:nvPr/>
        </p:nvSpPr>
        <p:spPr>
          <a:xfrm>
            <a:off x="15314140" y="9001800"/>
            <a:ext cx="2787410" cy="1134302"/>
          </a:xfrm>
          <a:custGeom>
            <a:avLst/>
            <a:gdLst/>
            <a:ahLst/>
            <a:cxnLst/>
            <a:rect l="l" t="t" r="r" b="b"/>
            <a:pathLst>
              <a:path w="2787410" h="1134302">
                <a:moveTo>
                  <a:pt x="0" y="0"/>
                </a:moveTo>
                <a:lnTo>
                  <a:pt x="2787411" y="0"/>
                </a:lnTo>
                <a:lnTo>
                  <a:pt x="2787411" y="1134301"/>
                </a:lnTo>
                <a:lnTo>
                  <a:pt x="0" y="1134301"/>
                </a:lnTo>
                <a:lnTo>
                  <a:pt x="0" y="0"/>
                </a:lnTo>
                <a:close/>
              </a:path>
            </a:pathLst>
          </a:custGeom>
          <a:blipFill>
            <a:blip r:embed="rId3"/>
            <a:stretch>
              <a:fillRect/>
            </a:stretch>
          </a:blipFill>
        </p:spPr>
        <p:txBody>
          <a:bodyPr/>
          <a:lstStyle/>
          <a:p>
            <a:endParaRPr lang="de-DE"/>
          </a:p>
        </p:txBody>
      </p:sp>
      <p:sp>
        <p:nvSpPr>
          <p:cNvPr id="4" name="TextBox 4"/>
          <p:cNvSpPr txBox="1"/>
          <p:nvPr/>
        </p:nvSpPr>
        <p:spPr>
          <a:xfrm>
            <a:off x="3824362" y="1573169"/>
            <a:ext cx="10639276" cy="977265"/>
          </a:xfrm>
          <a:prstGeom prst="rect">
            <a:avLst/>
          </a:prstGeom>
        </p:spPr>
        <p:txBody>
          <a:bodyPr lIns="0" tIns="0" rIns="0" bIns="0" rtlCol="0" anchor="t">
            <a:spAutoFit/>
          </a:bodyPr>
          <a:lstStyle/>
          <a:p>
            <a:pPr algn="ctr">
              <a:lnSpc>
                <a:spcPts val="7559"/>
              </a:lnSpc>
            </a:pPr>
            <a:r>
              <a:rPr lang="en-US" sz="5400" b="1">
                <a:solidFill>
                  <a:srgbClr val="E8440B"/>
                </a:solidFill>
                <a:latin typeface="Poppins Bold"/>
                <a:ea typeface="Poppins Bold"/>
                <a:cs typeface="Poppins Bold"/>
                <a:sym typeface="Poppins Bold"/>
              </a:rPr>
              <a:t>Konzept und Ziele</a:t>
            </a:r>
          </a:p>
        </p:txBody>
      </p:sp>
      <p:sp>
        <p:nvSpPr>
          <p:cNvPr id="5" name="TextBox 5"/>
          <p:cNvSpPr txBox="1"/>
          <p:nvPr/>
        </p:nvSpPr>
        <p:spPr>
          <a:xfrm>
            <a:off x="605767" y="2812788"/>
            <a:ext cx="17068632" cy="6711313"/>
          </a:xfrm>
          <a:prstGeom prst="rect">
            <a:avLst/>
          </a:prstGeom>
        </p:spPr>
        <p:txBody>
          <a:bodyPr lIns="0" tIns="0" rIns="0" bIns="0" rtlCol="0" anchor="t">
            <a:spAutoFit/>
          </a:bodyPr>
          <a:lstStyle/>
          <a:p>
            <a:pPr marL="518176" lvl="1" indent="-259088" algn="l">
              <a:lnSpc>
                <a:spcPts val="3360"/>
              </a:lnSpc>
              <a:buFont typeface="Arial"/>
              <a:buChar char="•"/>
            </a:pPr>
            <a:r>
              <a:rPr lang="en-US" sz="2400">
                <a:solidFill>
                  <a:srgbClr val="000000"/>
                </a:solidFill>
                <a:latin typeface="Poppins"/>
                <a:ea typeface="Poppins"/>
                <a:cs typeface="Poppins"/>
                <a:sym typeface="Poppins"/>
              </a:rPr>
              <a:t>Escape &amp; Make ist ein teamorientiertes “Escape-Game” mit Making-Elementen.</a:t>
            </a:r>
          </a:p>
          <a:p>
            <a:pPr marL="518176" lvl="1" indent="-259088" algn="l">
              <a:lnSpc>
                <a:spcPts val="3360"/>
              </a:lnSpc>
              <a:buFont typeface="Arial"/>
              <a:buChar char="•"/>
            </a:pPr>
            <a:r>
              <a:rPr lang="en-US" sz="2400">
                <a:solidFill>
                  <a:srgbClr val="000000"/>
                </a:solidFill>
                <a:latin typeface="Poppins"/>
                <a:ea typeface="Poppins"/>
                <a:cs typeface="Poppins"/>
                <a:sym typeface="Poppins"/>
              </a:rPr>
              <a:t>Es fördert Problemlösekompetenz, Kreativität, Kommunikation und bietet einen spielerischen Einstieg ins Making im Bildungskontext.</a:t>
            </a:r>
          </a:p>
          <a:p>
            <a:pPr marL="518176" lvl="1" indent="-259088" algn="l">
              <a:lnSpc>
                <a:spcPts val="3360"/>
              </a:lnSpc>
              <a:buFont typeface="Arial"/>
              <a:buChar char="•"/>
            </a:pPr>
            <a:r>
              <a:rPr lang="en-US" sz="2400">
                <a:solidFill>
                  <a:srgbClr val="000000"/>
                </a:solidFill>
                <a:latin typeface="Poppins"/>
                <a:ea typeface="Poppins"/>
                <a:cs typeface="Poppins"/>
                <a:sym typeface="Poppins"/>
              </a:rPr>
              <a:t>Die eingesetzten digitalen Werkzeuge eignen sich für den Einsatz in Schule und Bildung allgemein. </a:t>
            </a:r>
          </a:p>
          <a:p>
            <a:pPr marL="518176" lvl="1" indent="-259088" algn="l">
              <a:lnSpc>
                <a:spcPts val="3360"/>
              </a:lnSpc>
              <a:buFont typeface="Arial"/>
              <a:buChar char="•"/>
            </a:pPr>
            <a:r>
              <a:rPr lang="en-US" sz="2400">
                <a:solidFill>
                  <a:srgbClr val="000000"/>
                </a:solidFill>
                <a:latin typeface="Poppins"/>
                <a:ea typeface="Poppins"/>
                <a:cs typeface="Poppins"/>
                <a:sym typeface="Poppins"/>
              </a:rPr>
              <a:t>Sie können im Digitallabor noch näher kennengelernt (Anleitung, Workshops) sowie ausgeliehen werden.  </a:t>
            </a:r>
          </a:p>
          <a:p>
            <a:pPr marL="518176" lvl="1" indent="-259088" algn="l">
              <a:lnSpc>
                <a:spcPts val="3360"/>
              </a:lnSpc>
              <a:buFont typeface="Arial"/>
              <a:buChar char="•"/>
            </a:pPr>
            <a:r>
              <a:rPr lang="en-US" sz="2400">
                <a:solidFill>
                  <a:srgbClr val="000000"/>
                </a:solidFill>
                <a:latin typeface="Poppins"/>
                <a:ea typeface="Poppins"/>
                <a:cs typeface="Poppins"/>
                <a:sym typeface="Poppins"/>
              </a:rPr>
              <a:t>Das Angebot umfasst </a:t>
            </a:r>
            <a:r>
              <a:rPr lang="en-US" sz="2400" b="1">
                <a:solidFill>
                  <a:srgbClr val="000000"/>
                </a:solidFill>
                <a:latin typeface="Poppins Bold"/>
                <a:ea typeface="Poppins Bold"/>
                <a:cs typeface="Poppins Bold"/>
                <a:sym typeface="Poppins Bold"/>
              </a:rPr>
              <a:t>7 Stationen mit folgenden digitalen Tools</a:t>
            </a:r>
            <a:r>
              <a:rPr lang="en-US" sz="2400">
                <a:solidFill>
                  <a:srgbClr val="000000"/>
                </a:solidFill>
                <a:latin typeface="Poppins"/>
                <a:ea typeface="Poppins"/>
                <a:cs typeface="Poppins"/>
                <a:sym typeface="Poppins"/>
              </a:rPr>
              <a:t>: </a:t>
            </a:r>
          </a:p>
          <a:p>
            <a:pPr marL="1036352" lvl="2" indent="-345451" algn="l">
              <a:lnSpc>
                <a:spcPts val="3360"/>
              </a:lnSpc>
              <a:buFont typeface="Arial"/>
              <a:buChar char="⚬"/>
            </a:pPr>
            <a:r>
              <a:rPr lang="en-US" sz="2400">
                <a:solidFill>
                  <a:srgbClr val="000000"/>
                </a:solidFill>
                <a:latin typeface="Poppins"/>
                <a:ea typeface="Poppins"/>
                <a:cs typeface="Poppins"/>
                <a:sym typeface="Poppins"/>
              </a:rPr>
              <a:t> Greenscreen Filmtechnik</a:t>
            </a:r>
          </a:p>
          <a:p>
            <a:pPr marL="1036352" lvl="2" indent="-345451" algn="l">
              <a:lnSpc>
                <a:spcPts val="3360"/>
              </a:lnSpc>
              <a:buFont typeface="Arial"/>
              <a:buChar char="⚬"/>
            </a:pPr>
            <a:r>
              <a:rPr lang="en-US" sz="2400">
                <a:solidFill>
                  <a:srgbClr val="000000"/>
                </a:solidFill>
                <a:latin typeface="Poppins"/>
                <a:ea typeface="Poppins"/>
                <a:cs typeface="Poppins"/>
                <a:sym typeface="Poppins"/>
              </a:rPr>
              <a:t> Lasercutting</a:t>
            </a:r>
          </a:p>
          <a:p>
            <a:pPr marL="1036352" lvl="2" indent="-345451" algn="l">
              <a:lnSpc>
                <a:spcPts val="3360"/>
              </a:lnSpc>
              <a:buFont typeface="Arial"/>
              <a:buChar char="⚬"/>
            </a:pPr>
            <a:r>
              <a:rPr lang="en-US" sz="2400">
                <a:solidFill>
                  <a:srgbClr val="000000"/>
                </a:solidFill>
                <a:latin typeface="Poppins"/>
                <a:ea typeface="Poppins"/>
                <a:cs typeface="Poppins"/>
                <a:sym typeface="Poppins"/>
              </a:rPr>
              <a:t> 3D-Druck</a:t>
            </a:r>
          </a:p>
          <a:p>
            <a:pPr marL="1036352" lvl="2" indent="-345451" algn="l">
              <a:lnSpc>
                <a:spcPts val="3360"/>
              </a:lnSpc>
              <a:buFont typeface="Arial"/>
              <a:buChar char="⚬"/>
            </a:pPr>
            <a:r>
              <a:rPr lang="en-US" sz="2400">
                <a:solidFill>
                  <a:srgbClr val="000000"/>
                </a:solidFill>
                <a:latin typeface="Poppins"/>
                <a:ea typeface="Poppins"/>
                <a:cs typeface="Poppins"/>
                <a:sym typeface="Poppins"/>
              </a:rPr>
              <a:t> Robotik</a:t>
            </a:r>
          </a:p>
          <a:p>
            <a:pPr marL="1036352" lvl="2" indent="-345451" algn="l">
              <a:lnSpc>
                <a:spcPts val="3360"/>
              </a:lnSpc>
              <a:buFont typeface="Arial"/>
              <a:buChar char="⚬"/>
            </a:pPr>
            <a:r>
              <a:rPr lang="en-US" sz="2400">
                <a:solidFill>
                  <a:srgbClr val="000000"/>
                </a:solidFill>
                <a:latin typeface="Poppins"/>
                <a:ea typeface="Poppins"/>
                <a:cs typeface="Poppins"/>
                <a:sym typeface="Poppins"/>
              </a:rPr>
              <a:t> Drohnen</a:t>
            </a:r>
          </a:p>
          <a:p>
            <a:pPr marL="1036352" lvl="2" indent="-345451" algn="l">
              <a:lnSpc>
                <a:spcPts val="3360"/>
              </a:lnSpc>
              <a:buFont typeface="Arial"/>
              <a:buChar char="⚬"/>
            </a:pPr>
            <a:r>
              <a:rPr lang="en-US" sz="2400">
                <a:solidFill>
                  <a:srgbClr val="000000"/>
                </a:solidFill>
                <a:latin typeface="Poppins"/>
                <a:ea typeface="Poppins"/>
                <a:cs typeface="Poppins"/>
                <a:sym typeface="Poppins"/>
              </a:rPr>
              <a:t> Stop-Motion Filmtechnik</a:t>
            </a:r>
          </a:p>
          <a:p>
            <a:pPr marL="1036352" lvl="2" indent="-345451" algn="l">
              <a:lnSpc>
                <a:spcPts val="3360"/>
              </a:lnSpc>
              <a:buFont typeface="Arial"/>
              <a:buChar char="⚬"/>
            </a:pPr>
            <a:r>
              <a:rPr lang="en-US" sz="2400">
                <a:solidFill>
                  <a:srgbClr val="000000"/>
                </a:solidFill>
                <a:latin typeface="Poppins"/>
                <a:ea typeface="Poppins"/>
                <a:cs typeface="Poppins"/>
                <a:sym typeface="Poppins"/>
              </a:rPr>
              <a:t> Künstliche Intelligenz</a:t>
            </a:r>
          </a:p>
          <a:p>
            <a:pPr marL="518176" lvl="1" indent="-259088" algn="l">
              <a:lnSpc>
                <a:spcPts val="3360"/>
              </a:lnSpc>
              <a:buFont typeface="Arial"/>
              <a:buChar char="•"/>
            </a:pPr>
            <a:r>
              <a:rPr lang="en-US" sz="2400">
                <a:solidFill>
                  <a:srgbClr val="000000"/>
                </a:solidFill>
                <a:latin typeface="Poppins"/>
                <a:ea typeface="Poppins"/>
                <a:cs typeface="Poppins"/>
                <a:sym typeface="Poppins"/>
              </a:rPr>
              <a:t>Es kann mit Gruppen </a:t>
            </a:r>
            <a:r>
              <a:rPr lang="en-US" sz="2400" b="1">
                <a:solidFill>
                  <a:srgbClr val="000000"/>
                </a:solidFill>
                <a:latin typeface="Poppins Bold"/>
                <a:ea typeface="Poppins Bold"/>
                <a:cs typeface="Poppins Bold"/>
                <a:sym typeface="Poppins Bold"/>
              </a:rPr>
              <a:t>von 2 bis 5 Personen pro Station ab ca. 10 Jahren</a:t>
            </a:r>
            <a:r>
              <a:rPr lang="en-US" sz="2400">
                <a:solidFill>
                  <a:srgbClr val="000000"/>
                </a:solidFill>
                <a:latin typeface="Poppins"/>
                <a:ea typeface="Poppins"/>
                <a:cs typeface="Poppins"/>
                <a:sym typeface="Poppins"/>
              </a:rPr>
              <a:t> umgesetzt werden. </a:t>
            </a:r>
          </a:p>
          <a:p>
            <a:pPr marL="518176" lvl="1" indent="-259088" algn="l">
              <a:lnSpc>
                <a:spcPts val="3360"/>
              </a:lnSpc>
              <a:buFont typeface="Arial"/>
              <a:buChar char="•"/>
            </a:pPr>
            <a:r>
              <a:rPr lang="en-US" sz="2400" b="1">
                <a:solidFill>
                  <a:srgbClr val="000000"/>
                </a:solidFill>
                <a:latin typeface="Poppins Bold"/>
                <a:ea typeface="Poppins Bold"/>
                <a:cs typeface="Poppins Bold"/>
                <a:sym typeface="Poppins Bold"/>
              </a:rPr>
              <a:t>Dauer minimal 120 Minuten</a:t>
            </a:r>
          </a:p>
          <a:p>
            <a:pPr algn="l">
              <a:lnSpc>
                <a:spcPts val="3360"/>
              </a:lnSpc>
            </a:pPr>
            <a:endParaRPr lang="en-US" sz="2400" b="1">
              <a:solidFill>
                <a:srgbClr val="000000"/>
              </a:solidFill>
              <a:latin typeface="Poppins Bold"/>
              <a:ea typeface="Poppins Bold"/>
              <a:cs typeface="Poppins Bold"/>
              <a:sym typeface="Poppins Bo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6F6F1"/>
        </a:solidFill>
        <a:effectLst/>
      </p:bgPr>
    </p:bg>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a:ln w="200025" cap="sq">
            <a:solidFill>
              <a:srgbClr val="EB4210"/>
            </a:solidFill>
            <a:prstDash val="solid"/>
            <a:miter/>
          </a:ln>
        </p:spPr>
        <p:txBody>
          <a:bodyPr/>
          <a:lstStyle/>
          <a:p>
            <a:endParaRPr lang="de-DE"/>
          </a:p>
        </p:txBody>
      </p:sp>
      <p:sp>
        <p:nvSpPr>
          <p:cNvPr id="3" name="Freeform 3"/>
          <p:cNvSpPr/>
          <p:nvPr/>
        </p:nvSpPr>
        <p:spPr>
          <a:xfrm>
            <a:off x="15314140" y="9001800"/>
            <a:ext cx="2787410" cy="1134302"/>
          </a:xfrm>
          <a:custGeom>
            <a:avLst/>
            <a:gdLst/>
            <a:ahLst/>
            <a:cxnLst/>
            <a:rect l="l" t="t" r="r" b="b"/>
            <a:pathLst>
              <a:path w="2787410" h="1134302">
                <a:moveTo>
                  <a:pt x="0" y="0"/>
                </a:moveTo>
                <a:lnTo>
                  <a:pt x="2787411" y="0"/>
                </a:lnTo>
                <a:lnTo>
                  <a:pt x="2787411" y="1134301"/>
                </a:lnTo>
                <a:lnTo>
                  <a:pt x="0" y="1134301"/>
                </a:lnTo>
                <a:lnTo>
                  <a:pt x="0" y="0"/>
                </a:lnTo>
                <a:close/>
              </a:path>
            </a:pathLst>
          </a:custGeom>
          <a:blipFill>
            <a:blip r:embed="rId3"/>
            <a:stretch>
              <a:fillRect/>
            </a:stretch>
          </a:blipFill>
        </p:spPr>
        <p:txBody>
          <a:bodyPr/>
          <a:lstStyle/>
          <a:p>
            <a:endParaRPr lang="de-DE"/>
          </a:p>
        </p:txBody>
      </p:sp>
      <p:sp>
        <p:nvSpPr>
          <p:cNvPr id="4" name="TextBox 4"/>
          <p:cNvSpPr txBox="1"/>
          <p:nvPr/>
        </p:nvSpPr>
        <p:spPr>
          <a:xfrm>
            <a:off x="3824362" y="1573169"/>
            <a:ext cx="10639276" cy="977265"/>
          </a:xfrm>
          <a:prstGeom prst="rect">
            <a:avLst/>
          </a:prstGeom>
        </p:spPr>
        <p:txBody>
          <a:bodyPr lIns="0" tIns="0" rIns="0" bIns="0" rtlCol="0" anchor="t">
            <a:spAutoFit/>
          </a:bodyPr>
          <a:lstStyle/>
          <a:p>
            <a:pPr algn="ctr">
              <a:lnSpc>
                <a:spcPts val="7559"/>
              </a:lnSpc>
            </a:pPr>
            <a:r>
              <a:rPr lang="en-US" sz="5400" b="1">
                <a:solidFill>
                  <a:srgbClr val="E8440B"/>
                </a:solidFill>
                <a:latin typeface="Poppins Bold"/>
                <a:ea typeface="Poppins Bold"/>
                <a:cs typeface="Poppins Bold"/>
                <a:sym typeface="Poppins Bold"/>
              </a:rPr>
              <a:t>Konzept und Ziele</a:t>
            </a:r>
          </a:p>
        </p:txBody>
      </p:sp>
      <p:sp>
        <p:nvSpPr>
          <p:cNvPr id="5" name="TextBox 5"/>
          <p:cNvSpPr txBox="1"/>
          <p:nvPr/>
        </p:nvSpPr>
        <p:spPr>
          <a:xfrm>
            <a:off x="605767" y="2812788"/>
            <a:ext cx="17068632" cy="5873113"/>
          </a:xfrm>
          <a:prstGeom prst="rect">
            <a:avLst/>
          </a:prstGeom>
        </p:spPr>
        <p:txBody>
          <a:bodyPr lIns="0" tIns="0" rIns="0" bIns="0" rtlCol="0" anchor="t">
            <a:spAutoFit/>
          </a:bodyPr>
          <a:lstStyle/>
          <a:p>
            <a:pPr algn="l">
              <a:lnSpc>
                <a:spcPts val="3360"/>
              </a:lnSpc>
            </a:pPr>
            <a:r>
              <a:rPr lang="en-US" sz="2400" b="1">
                <a:solidFill>
                  <a:srgbClr val="000000"/>
                </a:solidFill>
                <a:latin typeface="Poppins Bold"/>
                <a:ea typeface="Poppins Bold"/>
                <a:cs typeface="Poppins Bold"/>
                <a:sym typeface="Poppins Bold"/>
              </a:rPr>
              <a:t>Erzählung und Ablauf: </a:t>
            </a:r>
          </a:p>
          <a:p>
            <a:pPr marL="518176" lvl="1" indent="-259088" algn="l">
              <a:lnSpc>
                <a:spcPts val="3360"/>
              </a:lnSpc>
              <a:buFont typeface="Arial"/>
              <a:buChar char="•"/>
            </a:pPr>
            <a:r>
              <a:rPr lang="en-US" sz="2400">
                <a:solidFill>
                  <a:srgbClr val="000000"/>
                </a:solidFill>
                <a:latin typeface="Poppins"/>
                <a:ea typeface="Poppins"/>
                <a:cs typeface="Poppins"/>
                <a:sym typeface="Poppins"/>
              </a:rPr>
              <a:t>Der Meisterdieb möchte seinen nächsten großen Coup vorbereiten und ist auf der Suche nach passenden Rekrut:innen, die durch die Teilnehmer:innen (TN) verkörpert werden. In einem Auswahlverfahren bestehend aus 7 Stationen, teste der Meisterdieb die digitalen Fähigkeiten der TN. </a:t>
            </a:r>
          </a:p>
          <a:p>
            <a:pPr marL="518176" lvl="1" indent="-259088" algn="l">
              <a:lnSpc>
                <a:spcPts val="3360"/>
              </a:lnSpc>
              <a:buFont typeface="Arial"/>
              <a:buChar char="•"/>
            </a:pPr>
            <a:r>
              <a:rPr lang="en-US" sz="2400">
                <a:solidFill>
                  <a:srgbClr val="000000"/>
                </a:solidFill>
                <a:latin typeface="Poppins"/>
                <a:ea typeface="Poppins"/>
                <a:cs typeface="Poppins"/>
                <a:sym typeface="Poppins"/>
              </a:rPr>
              <a:t>Für die Stationen sind max. 60 Min. eingeplant. Dort muss je ein Rätsel und eine Aufgabe gelöst werden, um dem Meisterdieb bei dem Coup zu helfen. </a:t>
            </a:r>
          </a:p>
          <a:p>
            <a:pPr marL="518176" lvl="1" indent="-259088" algn="l">
              <a:lnSpc>
                <a:spcPts val="3360"/>
              </a:lnSpc>
              <a:buFont typeface="Arial"/>
              <a:buChar char="•"/>
            </a:pPr>
            <a:r>
              <a:rPr lang="en-US" sz="2400">
                <a:solidFill>
                  <a:srgbClr val="000000"/>
                </a:solidFill>
                <a:latin typeface="Poppins"/>
                <a:ea typeface="Poppins"/>
                <a:cs typeface="Poppins"/>
                <a:sym typeface="Poppins"/>
              </a:rPr>
              <a:t>Bevor die Aufgabe mit Hilfe digitaler Werkzeuge umgesetzt werden kann, muss in jeder Station ein Rätsel gelöst werden, um genaue Angaben und Informationen zur jeweiligen Aufgabe zu bekommen. </a:t>
            </a:r>
          </a:p>
          <a:p>
            <a:pPr marL="518176" lvl="1" indent="-259088" algn="l">
              <a:lnSpc>
                <a:spcPts val="3360"/>
              </a:lnSpc>
              <a:buFont typeface="Arial"/>
              <a:buChar char="•"/>
            </a:pPr>
            <a:r>
              <a:rPr lang="en-US" sz="2400">
                <a:solidFill>
                  <a:srgbClr val="000000"/>
                </a:solidFill>
                <a:latin typeface="Poppins"/>
                <a:ea typeface="Poppins"/>
                <a:cs typeface="Poppins"/>
                <a:sym typeface="Poppins"/>
              </a:rPr>
              <a:t>Die Lösung jedes Rätsels muss zuerst verifiziert werden, bevor es an die Bewältigung der Aufgabe geht. </a:t>
            </a:r>
          </a:p>
          <a:p>
            <a:pPr marL="518176" lvl="1" indent="-259088" algn="l">
              <a:lnSpc>
                <a:spcPts val="3360"/>
              </a:lnSpc>
              <a:buFont typeface="Arial"/>
              <a:buChar char="•"/>
            </a:pPr>
            <a:r>
              <a:rPr lang="en-US" sz="2400">
                <a:solidFill>
                  <a:srgbClr val="000000"/>
                </a:solidFill>
                <a:latin typeface="Poppins"/>
                <a:ea typeface="Poppins"/>
                <a:cs typeface="Poppins"/>
                <a:sym typeface="Poppins"/>
              </a:rPr>
              <a:t>Da die Lösung der Aufgabe zeitlich eng begrenzt ist, wird der Gruppe geraten, sich aufzuteilen, da nicht alle Teilnehmer:innen alle Stationen absolvieren können. Am Ende werden die produzierten Komponenten gemeinsam präsentiert und es wird “getestet”, ob sich der Coup mit ihnen durchführen lässt. </a:t>
            </a:r>
          </a:p>
          <a:p>
            <a:pPr algn="l">
              <a:lnSpc>
                <a:spcPts val="3360"/>
              </a:lnSpc>
            </a:pPr>
            <a:endParaRPr lang="en-US" sz="2400">
              <a:solidFill>
                <a:srgbClr val="000000"/>
              </a:solidFill>
              <a:latin typeface="Poppins"/>
              <a:ea typeface="Poppins"/>
              <a:cs typeface="Poppins"/>
              <a:sym typeface="Poppins"/>
            </a:endParaRPr>
          </a:p>
          <a:p>
            <a:pPr algn="l">
              <a:lnSpc>
                <a:spcPts val="3360"/>
              </a:lnSpc>
            </a:pPr>
            <a:endParaRPr lang="en-US" sz="2400">
              <a:solidFill>
                <a:srgbClr val="000000"/>
              </a:solidFill>
              <a:latin typeface="Poppins"/>
              <a:ea typeface="Poppins"/>
              <a:cs typeface="Poppins"/>
              <a:sym typeface="Poppin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6F6F1"/>
        </a:solidFill>
        <a:effectLst/>
      </p:bgPr>
    </p:bg>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a:ln w="200025" cap="sq">
            <a:solidFill>
              <a:srgbClr val="EB4210"/>
            </a:solidFill>
            <a:prstDash val="solid"/>
            <a:miter/>
          </a:ln>
        </p:spPr>
        <p:txBody>
          <a:bodyPr/>
          <a:lstStyle/>
          <a:p>
            <a:endParaRPr lang="de-DE"/>
          </a:p>
        </p:txBody>
      </p:sp>
      <p:sp>
        <p:nvSpPr>
          <p:cNvPr id="3" name="Freeform 3"/>
          <p:cNvSpPr/>
          <p:nvPr/>
        </p:nvSpPr>
        <p:spPr>
          <a:xfrm>
            <a:off x="15314140" y="9001800"/>
            <a:ext cx="2787410" cy="1134302"/>
          </a:xfrm>
          <a:custGeom>
            <a:avLst/>
            <a:gdLst/>
            <a:ahLst/>
            <a:cxnLst/>
            <a:rect l="l" t="t" r="r" b="b"/>
            <a:pathLst>
              <a:path w="2787410" h="1134302">
                <a:moveTo>
                  <a:pt x="0" y="0"/>
                </a:moveTo>
                <a:lnTo>
                  <a:pt x="2787411" y="0"/>
                </a:lnTo>
                <a:lnTo>
                  <a:pt x="2787411" y="1134301"/>
                </a:lnTo>
                <a:lnTo>
                  <a:pt x="0" y="1134301"/>
                </a:lnTo>
                <a:lnTo>
                  <a:pt x="0" y="0"/>
                </a:lnTo>
                <a:close/>
              </a:path>
            </a:pathLst>
          </a:custGeom>
          <a:blipFill>
            <a:blip r:embed="rId3"/>
            <a:stretch>
              <a:fillRect/>
            </a:stretch>
          </a:blipFill>
        </p:spPr>
        <p:txBody>
          <a:bodyPr/>
          <a:lstStyle/>
          <a:p>
            <a:endParaRPr lang="de-DE"/>
          </a:p>
        </p:txBody>
      </p:sp>
      <p:sp>
        <p:nvSpPr>
          <p:cNvPr id="4" name="TextBox 4"/>
          <p:cNvSpPr txBox="1"/>
          <p:nvPr/>
        </p:nvSpPr>
        <p:spPr>
          <a:xfrm>
            <a:off x="3824362" y="1573169"/>
            <a:ext cx="10639276" cy="977265"/>
          </a:xfrm>
          <a:prstGeom prst="rect">
            <a:avLst/>
          </a:prstGeom>
        </p:spPr>
        <p:txBody>
          <a:bodyPr lIns="0" tIns="0" rIns="0" bIns="0" rtlCol="0" anchor="t">
            <a:spAutoFit/>
          </a:bodyPr>
          <a:lstStyle/>
          <a:p>
            <a:pPr algn="ctr">
              <a:lnSpc>
                <a:spcPts val="7559"/>
              </a:lnSpc>
            </a:pPr>
            <a:r>
              <a:rPr lang="en-US" sz="5400" b="1">
                <a:solidFill>
                  <a:srgbClr val="E8440B"/>
                </a:solidFill>
                <a:latin typeface="Poppins Bold"/>
                <a:ea typeface="Poppins Bold"/>
                <a:cs typeface="Poppins Bold"/>
                <a:sym typeface="Poppins Bold"/>
              </a:rPr>
              <a:t>Zeitplan</a:t>
            </a:r>
          </a:p>
        </p:txBody>
      </p:sp>
      <p:sp>
        <p:nvSpPr>
          <p:cNvPr id="5" name="TextBox 5"/>
          <p:cNvSpPr txBox="1"/>
          <p:nvPr/>
        </p:nvSpPr>
        <p:spPr>
          <a:xfrm>
            <a:off x="605767" y="2812788"/>
            <a:ext cx="17068632" cy="5034913"/>
          </a:xfrm>
          <a:prstGeom prst="rect">
            <a:avLst/>
          </a:prstGeom>
        </p:spPr>
        <p:txBody>
          <a:bodyPr lIns="0" tIns="0" rIns="0" bIns="0" rtlCol="0" anchor="t">
            <a:spAutoFit/>
          </a:bodyPr>
          <a:lstStyle/>
          <a:p>
            <a:pPr marL="518176" lvl="1" indent="-259088" algn="l">
              <a:lnSpc>
                <a:spcPts val="3360"/>
              </a:lnSpc>
              <a:buFont typeface="Arial"/>
              <a:buChar char="•"/>
            </a:pPr>
            <a:r>
              <a:rPr lang="en-US" sz="2400">
                <a:solidFill>
                  <a:srgbClr val="000000"/>
                </a:solidFill>
                <a:latin typeface="Poppins"/>
                <a:ea typeface="Poppins"/>
                <a:cs typeface="Poppins"/>
                <a:sym typeface="Poppins"/>
              </a:rPr>
              <a:t>Idealerweise habt ihr insgesamt </a:t>
            </a:r>
            <a:r>
              <a:rPr lang="en-US" sz="2400" b="1">
                <a:solidFill>
                  <a:srgbClr val="000000"/>
                </a:solidFill>
                <a:latin typeface="Poppins Bold"/>
                <a:ea typeface="Poppins Bold"/>
                <a:cs typeface="Poppins Bold"/>
                <a:sym typeface="Poppins Bold"/>
              </a:rPr>
              <a:t>180 Minuten Zeit für die Umsetzung</a:t>
            </a:r>
            <a:r>
              <a:rPr lang="en-US" sz="2400">
                <a:solidFill>
                  <a:srgbClr val="000000"/>
                </a:solidFill>
                <a:latin typeface="Poppins"/>
                <a:ea typeface="Poppins"/>
                <a:cs typeface="Poppins"/>
                <a:sym typeface="Poppins"/>
              </a:rPr>
              <a:t>.</a:t>
            </a:r>
          </a:p>
          <a:p>
            <a:pPr algn="l">
              <a:lnSpc>
                <a:spcPts val="3360"/>
              </a:lnSpc>
            </a:pPr>
            <a:endParaRPr lang="en-US" sz="2400">
              <a:solidFill>
                <a:srgbClr val="000000"/>
              </a:solidFill>
              <a:latin typeface="Poppins"/>
              <a:ea typeface="Poppins"/>
              <a:cs typeface="Poppins"/>
              <a:sym typeface="Poppins"/>
            </a:endParaRPr>
          </a:p>
          <a:p>
            <a:pPr marL="518176" lvl="1" indent="-259088" algn="l">
              <a:lnSpc>
                <a:spcPts val="3360"/>
              </a:lnSpc>
              <a:buFont typeface="Arial"/>
              <a:buChar char="•"/>
            </a:pPr>
            <a:r>
              <a:rPr lang="en-US" sz="2400">
                <a:solidFill>
                  <a:srgbClr val="000000"/>
                </a:solidFill>
                <a:latin typeface="Poppins"/>
                <a:ea typeface="Poppins"/>
                <a:cs typeface="Poppins"/>
                <a:sym typeface="Poppins"/>
              </a:rPr>
              <a:t>Für die Umsetzung des Escape &amp; Make werden insgesamt </a:t>
            </a:r>
            <a:r>
              <a:rPr lang="en-US" sz="2400" b="1">
                <a:solidFill>
                  <a:srgbClr val="000000"/>
                </a:solidFill>
                <a:latin typeface="Poppins Bold"/>
                <a:ea typeface="Poppins Bold"/>
                <a:cs typeface="Poppins Bold"/>
                <a:sym typeface="Poppins Bold"/>
              </a:rPr>
              <a:t>120 Minuten</a:t>
            </a:r>
            <a:r>
              <a:rPr lang="en-US" sz="2400">
                <a:solidFill>
                  <a:srgbClr val="000000"/>
                </a:solidFill>
                <a:latin typeface="Poppins"/>
                <a:ea typeface="Poppins"/>
                <a:cs typeface="Poppins"/>
                <a:sym typeface="Poppins"/>
              </a:rPr>
              <a:t> benötigt: </a:t>
            </a:r>
          </a:p>
          <a:p>
            <a:pPr marL="1036352" lvl="2" indent="-345451" algn="l">
              <a:lnSpc>
                <a:spcPts val="3360"/>
              </a:lnSpc>
              <a:buFont typeface="Arial"/>
              <a:buChar char="⚬"/>
            </a:pPr>
            <a:r>
              <a:rPr lang="en-US" sz="2400">
                <a:solidFill>
                  <a:srgbClr val="000000"/>
                </a:solidFill>
                <a:latin typeface="Poppins"/>
                <a:ea typeface="Poppins"/>
                <a:cs typeface="Poppins"/>
                <a:sym typeface="Poppins"/>
              </a:rPr>
              <a:t>30 Minuten für die Einführung, </a:t>
            </a:r>
          </a:p>
          <a:p>
            <a:pPr marL="1036352" lvl="2" indent="-345451" algn="l">
              <a:lnSpc>
                <a:spcPts val="3360"/>
              </a:lnSpc>
              <a:buFont typeface="Arial"/>
              <a:buChar char="⚬"/>
            </a:pPr>
            <a:r>
              <a:rPr lang="en-US" sz="2400">
                <a:solidFill>
                  <a:srgbClr val="000000"/>
                </a:solidFill>
                <a:latin typeface="Poppins"/>
                <a:ea typeface="Poppins"/>
                <a:cs typeface="Poppins"/>
                <a:sym typeface="Poppins"/>
              </a:rPr>
              <a:t>60 Minuten für die Stationen und </a:t>
            </a:r>
          </a:p>
          <a:p>
            <a:pPr marL="1036352" lvl="2" indent="-345451" algn="l">
              <a:lnSpc>
                <a:spcPts val="3360"/>
              </a:lnSpc>
              <a:buFont typeface="Arial"/>
              <a:buChar char="⚬"/>
            </a:pPr>
            <a:r>
              <a:rPr lang="en-US" sz="2400">
                <a:solidFill>
                  <a:srgbClr val="000000"/>
                </a:solidFill>
                <a:latin typeface="Poppins"/>
                <a:ea typeface="Poppins"/>
                <a:cs typeface="Poppins"/>
                <a:sym typeface="Poppins"/>
              </a:rPr>
              <a:t>30 für die Präsentation von Ergebnissen im Plenum inkl. Rückmeldung des Meisterdiebs. </a:t>
            </a:r>
          </a:p>
          <a:p>
            <a:pPr marL="518176" lvl="1" indent="-259088" algn="l">
              <a:lnSpc>
                <a:spcPts val="3360"/>
              </a:lnSpc>
              <a:buFont typeface="Arial"/>
              <a:buChar char="•"/>
            </a:pPr>
            <a:r>
              <a:rPr lang="en-US" sz="2400">
                <a:solidFill>
                  <a:srgbClr val="000000"/>
                </a:solidFill>
                <a:latin typeface="Poppins"/>
                <a:ea typeface="Poppins"/>
                <a:cs typeface="Poppins"/>
                <a:sym typeface="Poppins"/>
              </a:rPr>
              <a:t>Die verbleibende Zeit kann genutzt werden, um den Teilnehmenden zu ermöglich, andere Stationen zu erkunden, nach Interesse zu experimentieren oder mit pädagogischem Personal in den Austausch zu Einsatzszenarien im Bildungskontext zu gehen. </a:t>
            </a:r>
          </a:p>
          <a:p>
            <a:pPr algn="l">
              <a:lnSpc>
                <a:spcPts val="3360"/>
              </a:lnSpc>
            </a:pPr>
            <a:endParaRPr lang="en-US" sz="2400">
              <a:solidFill>
                <a:srgbClr val="000000"/>
              </a:solidFill>
              <a:latin typeface="Poppins"/>
              <a:ea typeface="Poppins"/>
              <a:cs typeface="Poppins"/>
              <a:sym typeface="Poppins"/>
            </a:endParaRPr>
          </a:p>
          <a:p>
            <a:pPr marL="518176" lvl="1" indent="-259088" algn="l">
              <a:lnSpc>
                <a:spcPts val="3360"/>
              </a:lnSpc>
              <a:buFont typeface="Arial"/>
              <a:buChar char="•"/>
            </a:pPr>
            <a:r>
              <a:rPr lang="en-US" sz="2400">
                <a:solidFill>
                  <a:srgbClr val="000000"/>
                </a:solidFill>
                <a:latin typeface="Poppins"/>
                <a:ea typeface="Poppins"/>
                <a:cs typeface="Poppins"/>
                <a:sym typeface="Poppins"/>
              </a:rPr>
              <a:t>Für die Vorbereitung und den Rückbau ist eine weitere Stunde einzuplanen, je nach Personalkapazitäten. </a:t>
            </a:r>
          </a:p>
          <a:p>
            <a:pPr algn="l">
              <a:lnSpc>
                <a:spcPts val="3360"/>
              </a:lnSpc>
            </a:pPr>
            <a:endParaRPr lang="en-US" sz="2400">
              <a:solidFill>
                <a:srgbClr val="000000"/>
              </a:solidFill>
              <a:latin typeface="Poppins"/>
              <a:ea typeface="Poppins"/>
              <a:cs typeface="Poppins"/>
              <a:sym typeface="Poppin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6F6F1"/>
        </a:solidFill>
        <a:effectLst/>
      </p:bgPr>
    </p:bg>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a:ln w="200025" cap="sq">
            <a:solidFill>
              <a:srgbClr val="EB4210"/>
            </a:solidFill>
            <a:prstDash val="solid"/>
            <a:miter/>
          </a:ln>
        </p:spPr>
        <p:txBody>
          <a:bodyPr/>
          <a:lstStyle/>
          <a:p>
            <a:endParaRPr lang="de-DE"/>
          </a:p>
        </p:txBody>
      </p:sp>
      <p:sp>
        <p:nvSpPr>
          <p:cNvPr id="3" name="Freeform 3"/>
          <p:cNvSpPr/>
          <p:nvPr/>
        </p:nvSpPr>
        <p:spPr>
          <a:xfrm>
            <a:off x="15314140" y="9001800"/>
            <a:ext cx="2787410" cy="1134302"/>
          </a:xfrm>
          <a:custGeom>
            <a:avLst/>
            <a:gdLst/>
            <a:ahLst/>
            <a:cxnLst/>
            <a:rect l="l" t="t" r="r" b="b"/>
            <a:pathLst>
              <a:path w="2787410" h="1134302">
                <a:moveTo>
                  <a:pt x="0" y="0"/>
                </a:moveTo>
                <a:lnTo>
                  <a:pt x="2787411" y="0"/>
                </a:lnTo>
                <a:lnTo>
                  <a:pt x="2787411" y="1134301"/>
                </a:lnTo>
                <a:lnTo>
                  <a:pt x="0" y="1134301"/>
                </a:lnTo>
                <a:lnTo>
                  <a:pt x="0" y="0"/>
                </a:lnTo>
                <a:close/>
              </a:path>
            </a:pathLst>
          </a:custGeom>
          <a:blipFill>
            <a:blip r:embed="rId3"/>
            <a:stretch>
              <a:fillRect/>
            </a:stretch>
          </a:blipFill>
        </p:spPr>
        <p:txBody>
          <a:bodyPr/>
          <a:lstStyle/>
          <a:p>
            <a:endParaRPr lang="de-DE"/>
          </a:p>
        </p:txBody>
      </p:sp>
      <p:sp>
        <p:nvSpPr>
          <p:cNvPr id="4" name="TextBox 4"/>
          <p:cNvSpPr txBox="1"/>
          <p:nvPr/>
        </p:nvSpPr>
        <p:spPr>
          <a:xfrm>
            <a:off x="3824362" y="1573169"/>
            <a:ext cx="10639276" cy="977265"/>
          </a:xfrm>
          <a:prstGeom prst="rect">
            <a:avLst/>
          </a:prstGeom>
        </p:spPr>
        <p:txBody>
          <a:bodyPr lIns="0" tIns="0" rIns="0" bIns="0" rtlCol="0" anchor="t">
            <a:spAutoFit/>
          </a:bodyPr>
          <a:lstStyle/>
          <a:p>
            <a:pPr algn="ctr">
              <a:lnSpc>
                <a:spcPts val="7559"/>
              </a:lnSpc>
            </a:pPr>
            <a:r>
              <a:rPr lang="en-US" sz="5400" b="1">
                <a:solidFill>
                  <a:srgbClr val="E8440B"/>
                </a:solidFill>
                <a:latin typeface="Poppins Bold"/>
                <a:ea typeface="Poppins Bold"/>
                <a:cs typeface="Poppins Bold"/>
                <a:sym typeface="Poppins Bold"/>
              </a:rPr>
              <a:t>Rahmenbedingungen</a:t>
            </a:r>
          </a:p>
        </p:txBody>
      </p:sp>
      <p:sp>
        <p:nvSpPr>
          <p:cNvPr id="5" name="TextBox 5"/>
          <p:cNvSpPr txBox="1"/>
          <p:nvPr/>
        </p:nvSpPr>
        <p:spPr>
          <a:xfrm>
            <a:off x="282222" y="9402580"/>
            <a:ext cx="15296444" cy="640080"/>
          </a:xfrm>
          <a:prstGeom prst="rect">
            <a:avLst/>
          </a:prstGeom>
        </p:spPr>
        <p:txBody>
          <a:bodyPr lIns="0" tIns="0" rIns="0" bIns="0" rtlCol="0" anchor="t">
            <a:spAutoFit/>
          </a:bodyPr>
          <a:lstStyle/>
          <a:p>
            <a:pPr algn="l">
              <a:lnSpc>
                <a:spcPts val="2520"/>
              </a:lnSpc>
              <a:spcBef>
                <a:spcPct val="0"/>
              </a:spcBef>
            </a:pPr>
            <a:r>
              <a:rPr lang="en-US" sz="1800">
                <a:solidFill>
                  <a:srgbClr val="000000"/>
                </a:solidFill>
                <a:latin typeface="Poppins"/>
                <a:ea typeface="Poppins"/>
                <a:cs typeface="Poppins"/>
                <a:sym typeface="Poppins"/>
              </a:rPr>
              <a:t>*Wir bieten einmal im Schulhalbjahr für interessierte Lehrkräfte Einführungen ins Escape &amp; Make an mit der Möglichkeit, im Nachgang einen Termin für die eigene Klasse zu buchen inkl. zweier Mitarbeiter:innen, die die Lehrkräfte unterstützen.</a:t>
            </a:r>
          </a:p>
        </p:txBody>
      </p:sp>
      <p:sp>
        <p:nvSpPr>
          <p:cNvPr id="6" name="TextBox 6"/>
          <p:cNvSpPr txBox="1"/>
          <p:nvPr/>
        </p:nvSpPr>
        <p:spPr>
          <a:xfrm>
            <a:off x="605767" y="2812788"/>
            <a:ext cx="17068632" cy="6292213"/>
          </a:xfrm>
          <a:prstGeom prst="rect">
            <a:avLst/>
          </a:prstGeom>
        </p:spPr>
        <p:txBody>
          <a:bodyPr lIns="0" tIns="0" rIns="0" bIns="0" rtlCol="0" anchor="t">
            <a:spAutoFit/>
          </a:bodyPr>
          <a:lstStyle/>
          <a:p>
            <a:pPr marL="518176" lvl="1" indent="-259088" algn="l">
              <a:lnSpc>
                <a:spcPts val="3360"/>
              </a:lnSpc>
              <a:buFont typeface="Arial"/>
              <a:buChar char="•"/>
            </a:pPr>
            <a:r>
              <a:rPr lang="en-US" sz="2400" b="1">
                <a:solidFill>
                  <a:srgbClr val="000000"/>
                </a:solidFill>
                <a:latin typeface="Poppins Bold"/>
                <a:ea typeface="Poppins Bold"/>
                <a:cs typeface="Poppins Bold"/>
                <a:sym typeface="Poppins Bold"/>
              </a:rPr>
              <a:t>Digitale Tools inkl. der ggf. notwendigen Software:</a:t>
            </a:r>
          </a:p>
          <a:p>
            <a:pPr marL="1036352" lvl="2" indent="-345451" algn="l">
              <a:lnSpc>
                <a:spcPts val="3360"/>
              </a:lnSpc>
              <a:buFont typeface="Arial"/>
              <a:buChar char="⚬"/>
            </a:pPr>
            <a:r>
              <a:rPr lang="en-US" sz="2400">
                <a:solidFill>
                  <a:srgbClr val="000000"/>
                </a:solidFill>
                <a:latin typeface="Poppins"/>
                <a:ea typeface="Poppins"/>
                <a:cs typeface="Poppins"/>
                <a:sym typeface="Poppins"/>
              </a:rPr>
              <a:t>Greenscreen Wand/Roll-up oder Tuch, Stativ fürs Tablet, Greenscreen by Doink App, Leuchten </a:t>
            </a:r>
          </a:p>
          <a:p>
            <a:pPr marL="1036352" lvl="2" indent="-345451" algn="l">
              <a:lnSpc>
                <a:spcPts val="3360"/>
              </a:lnSpc>
              <a:buFont typeface="Arial"/>
              <a:buChar char="⚬"/>
            </a:pPr>
            <a:r>
              <a:rPr lang="en-US" sz="2400">
                <a:solidFill>
                  <a:srgbClr val="000000"/>
                </a:solidFill>
                <a:latin typeface="Poppins"/>
                <a:ea typeface="Poppins"/>
                <a:cs typeface="Poppins"/>
                <a:sym typeface="Poppins"/>
              </a:rPr>
              <a:t>Lasercutter, Material fürs Lasercutting, Notebook</a:t>
            </a:r>
          </a:p>
          <a:p>
            <a:pPr marL="1036352" lvl="2" indent="-345451" algn="l">
              <a:lnSpc>
                <a:spcPts val="3360"/>
              </a:lnSpc>
              <a:buFont typeface="Arial"/>
              <a:buChar char="⚬"/>
            </a:pPr>
            <a:r>
              <a:rPr lang="en-US" sz="2400">
                <a:solidFill>
                  <a:srgbClr val="000000"/>
                </a:solidFill>
                <a:latin typeface="Poppins"/>
                <a:ea typeface="Poppins"/>
                <a:cs typeface="Poppins"/>
                <a:sym typeface="Poppins"/>
              </a:rPr>
              <a:t>3D-Drucker (Prusa, Bambu) inkl. Slicer, Tinkercad App, ggf. Stift fürs Tablet</a:t>
            </a:r>
          </a:p>
          <a:p>
            <a:pPr marL="1036352" lvl="2" indent="-345451" algn="l">
              <a:lnSpc>
                <a:spcPts val="3360"/>
              </a:lnSpc>
              <a:buFont typeface="Arial"/>
              <a:buChar char="⚬"/>
            </a:pPr>
            <a:r>
              <a:rPr lang="en-US" sz="2400">
                <a:solidFill>
                  <a:srgbClr val="000000"/>
                </a:solidFill>
                <a:latin typeface="Poppins"/>
                <a:ea typeface="Poppins"/>
                <a:cs typeface="Poppins"/>
                <a:sym typeface="Poppins"/>
              </a:rPr>
              <a:t>mBot 2 oder Calliope mini V3 mit Motionkit </a:t>
            </a:r>
          </a:p>
          <a:p>
            <a:pPr marL="1036352" lvl="2" indent="-345451" algn="l">
              <a:lnSpc>
                <a:spcPts val="3360"/>
              </a:lnSpc>
              <a:buFont typeface="Arial"/>
              <a:buChar char="⚬"/>
            </a:pPr>
            <a:r>
              <a:rPr lang="en-US" sz="2400">
                <a:solidFill>
                  <a:srgbClr val="000000"/>
                </a:solidFill>
                <a:latin typeface="Poppins"/>
                <a:ea typeface="Poppins"/>
                <a:cs typeface="Poppins"/>
                <a:sym typeface="Poppins"/>
              </a:rPr>
              <a:t>Tello Edu Minidrohnen (LiteBee Drohnen nur bedingt nutzbar)</a:t>
            </a:r>
          </a:p>
          <a:p>
            <a:pPr marL="1036352" lvl="2" indent="-345451" algn="l">
              <a:lnSpc>
                <a:spcPts val="3360"/>
              </a:lnSpc>
              <a:buFont typeface="Arial"/>
              <a:buChar char="⚬"/>
            </a:pPr>
            <a:r>
              <a:rPr lang="en-US" sz="2400">
                <a:solidFill>
                  <a:srgbClr val="000000"/>
                </a:solidFill>
                <a:latin typeface="Poppins"/>
                <a:ea typeface="Poppins"/>
                <a:cs typeface="Poppins"/>
                <a:sym typeface="Poppins"/>
              </a:rPr>
              <a:t>Studio Lichtboxen, Belkin Tabletständer (Legetechnik), Stop-Motion-App</a:t>
            </a:r>
          </a:p>
          <a:p>
            <a:pPr marL="1036352" lvl="2" indent="-345451" algn="l">
              <a:lnSpc>
                <a:spcPts val="3360"/>
              </a:lnSpc>
              <a:buFont typeface="Arial"/>
              <a:buChar char="⚬"/>
            </a:pPr>
            <a:r>
              <a:rPr lang="en-US" sz="2400">
                <a:solidFill>
                  <a:srgbClr val="000000"/>
                </a:solidFill>
                <a:latin typeface="Poppins"/>
                <a:ea typeface="Poppins"/>
                <a:cs typeface="Poppins"/>
                <a:sym typeface="Poppins"/>
              </a:rPr>
              <a:t>KI-Account und Notebook</a:t>
            </a:r>
          </a:p>
          <a:p>
            <a:pPr marL="1036352" lvl="2" indent="-345451" algn="l">
              <a:lnSpc>
                <a:spcPts val="3360"/>
              </a:lnSpc>
              <a:buFont typeface="Arial"/>
              <a:buChar char="⚬"/>
            </a:pPr>
            <a:r>
              <a:rPr lang="en-US" sz="2400">
                <a:solidFill>
                  <a:srgbClr val="000000"/>
                </a:solidFill>
                <a:latin typeface="Poppins"/>
                <a:ea typeface="Poppins"/>
                <a:cs typeface="Poppins"/>
                <a:sym typeface="Poppins"/>
              </a:rPr>
              <a:t>Mindestens 7 Tablets: Jeweils ein Ein- und Ausgabegerät pro Station</a:t>
            </a:r>
          </a:p>
          <a:p>
            <a:pPr marL="1036352" lvl="2" indent="-345451" algn="l">
              <a:lnSpc>
                <a:spcPts val="3360"/>
              </a:lnSpc>
              <a:buFont typeface="Arial"/>
              <a:buChar char="⚬"/>
            </a:pPr>
            <a:r>
              <a:rPr lang="en-US" sz="2400">
                <a:solidFill>
                  <a:srgbClr val="000000"/>
                </a:solidFill>
                <a:latin typeface="Poppins"/>
                <a:ea typeface="Poppins"/>
                <a:cs typeface="Poppins"/>
                <a:sym typeface="Poppins"/>
              </a:rPr>
              <a:t>Präsentationstechnik: Möglichkeit im Plenum einen Präsentation zu zeigen</a:t>
            </a:r>
          </a:p>
          <a:p>
            <a:pPr algn="l">
              <a:lnSpc>
                <a:spcPts val="3360"/>
              </a:lnSpc>
            </a:pPr>
            <a:endParaRPr lang="en-US" sz="2400">
              <a:solidFill>
                <a:srgbClr val="000000"/>
              </a:solidFill>
              <a:latin typeface="Poppins"/>
              <a:ea typeface="Poppins"/>
              <a:cs typeface="Poppins"/>
              <a:sym typeface="Poppins"/>
            </a:endParaRPr>
          </a:p>
          <a:p>
            <a:pPr marL="518176" lvl="1" indent="-259088" algn="l">
              <a:lnSpc>
                <a:spcPts val="3360"/>
              </a:lnSpc>
              <a:buFont typeface="Arial"/>
              <a:buChar char="•"/>
            </a:pPr>
            <a:r>
              <a:rPr lang="en-US" sz="2400">
                <a:solidFill>
                  <a:srgbClr val="000000"/>
                </a:solidFill>
                <a:latin typeface="Poppins"/>
                <a:ea typeface="Poppins"/>
                <a:cs typeface="Poppins"/>
                <a:sym typeface="Poppins"/>
              </a:rPr>
              <a:t>Hinreichende </a:t>
            </a:r>
            <a:r>
              <a:rPr lang="en-US" sz="2400" b="1">
                <a:solidFill>
                  <a:srgbClr val="000000"/>
                </a:solidFill>
                <a:latin typeface="Poppins Bold"/>
                <a:ea typeface="Poppins Bold"/>
                <a:cs typeface="Poppins Bold"/>
                <a:sym typeface="Poppins Bold"/>
              </a:rPr>
              <a:t>Räume</a:t>
            </a:r>
            <a:r>
              <a:rPr lang="en-US" sz="2400">
                <a:solidFill>
                  <a:srgbClr val="000000"/>
                </a:solidFill>
                <a:latin typeface="Poppins"/>
                <a:ea typeface="Poppins"/>
                <a:cs typeface="Poppins"/>
                <a:sym typeface="Poppins"/>
              </a:rPr>
              <a:t> für die zeitgleiche Umsetzung von 7 Stationen</a:t>
            </a:r>
          </a:p>
          <a:p>
            <a:pPr algn="l">
              <a:lnSpc>
                <a:spcPts val="3360"/>
              </a:lnSpc>
            </a:pPr>
            <a:endParaRPr lang="en-US" sz="2400">
              <a:solidFill>
                <a:srgbClr val="000000"/>
              </a:solidFill>
              <a:latin typeface="Poppins"/>
              <a:ea typeface="Poppins"/>
              <a:cs typeface="Poppins"/>
              <a:sym typeface="Poppins"/>
            </a:endParaRPr>
          </a:p>
          <a:p>
            <a:pPr marL="518176" lvl="1" indent="-259088" algn="l">
              <a:lnSpc>
                <a:spcPts val="3360"/>
              </a:lnSpc>
              <a:buFont typeface="Arial"/>
              <a:buChar char="•"/>
            </a:pPr>
            <a:r>
              <a:rPr lang="en-US" sz="2400">
                <a:solidFill>
                  <a:srgbClr val="000000"/>
                </a:solidFill>
                <a:latin typeface="Poppins"/>
                <a:ea typeface="Poppins"/>
                <a:cs typeface="Poppins"/>
                <a:sym typeface="Poppins"/>
              </a:rPr>
              <a:t>Hinreichend viele </a:t>
            </a:r>
            <a:r>
              <a:rPr lang="en-US" sz="2400" b="1">
                <a:solidFill>
                  <a:srgbClr val="000000"/>
                </a:solidFill>
                <a:latin typeface="Poppins Bold"/>
                <a:ea typeface="Poppins Bold"/>
                <a:cs typeface="Poppins Bold"/>
                <a:sym typeface="Poppins Bold"/>
              </a:rPr>
              <a:t>Betreuungspersonen</a:t>
            </a:r>
            <a:r>
              <a:rPr lang="en-US" sz="2400">
                <a:solidFill>
                  <a:srgbClr val="000000"/>
                </a:solidFill>
                <a:latin typeface="Poppins"/>
                <a:ea typeface="Poppins"/>
                <a:cs typeface="Poppins"/>
                <a:sym typeface="Poppins"/>
              </a:rPr>
              <a:t>, ein Person für zwei Station realistisch*</a:t>
            </a:r>
          </a:p>
          <a:p>
            <a:pPr algn="l">
              <a:lnSpc>
                <a:spcPts val="3360"/>
              </a:lnSpc>
            </a:pPr>
            <a:endParaRPr lang="en-US" sz="2400">
              <a:solidFill>
                <a:srgbClr val="000000"/>
              </a:solidFill>
              <a:latin typeface="Poppins"/>
              <a:ea typeface="Poppins"/>
              <a:cs typeface="Poppins"/>
              <a:sym typeface="Poppin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6F6F1"/>
        </a:solidFill>
        <a:effectLst/>
      </p:bgPr>
    </p:bg>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a:ln w="200025" cap="sq">
            <a:solidFill>
              <a:srgbClr val="EB4210"/>
            </a:solidFill>
            <a:prstDash val="solid"/>
            <a:miter/>
          </a:ln>
        </p:spPr>
        <p:txBody>
          <a:bodyPr/>
          <a:lstStyle/>
          <a:p>
            <a:endParaRPr lang="de-DE"/>
          </a:p>
        </p:txBody>
      </p:sp>
      <p:sp>
        <p:nvSpPr>
          <p:cNvPr id="3" name="Freeform 3"/>
          <p:cNvSpPr/>
          <p:nvPr/>
        </p:nvSpPr>
        <p:spPr>
          <a:xfrm>
            <a:off x="15314140" y="9001800"/>
            <a:ext cx="2787410" cy="1134302"/>
          </a:xfrm>
          <a:custGeom>
            <a:avLst/>
            <a:gdLst/>
            <a:ahLst/>
            <a:cxnLst/>
            <a:rect l="l" t="t" r="r" b="b"/>
            <a:pathLst>
              <a:path w="2787410" h="1134302">
                <a:moveTo>
                  <a:pt x="0" y="0"/>
                </a:moveTo>
                <a:lnTo>
                  <a:pt x="2787411" y="0"/>
                </a:lnTo>
                <a:lnTo>
                  <a:pt x="2787411" y="1134301"/>
                </a:lnTo>
                <a:lnTo>
                  <a:pt x="0" y="1134301"/>
                </a:lnTo>
                <a:lnTo>
                  <a:pt x="0" y="0"/>
                </a:lnTo>
                <a:close/>
              </a:path>
            </a:pathLst>
          </a:custGeom>
          <a:blipFill>
            <a:blip r:embed="rId3"/>
            <a:stretch>
              <a:fillRect/>
            </a:stretch>
          </a:blipFill>
        </p:spPr>
        <p:txBody>
          <a:bodyPr/>
          <a:lstStyle/>
          <a:p>
            <a:endParaRPr lang="de-DE"/>
          </a:p>
        </p:txBody>
      </p:sp>
      <p:sp>
        <p:nvSpPr>
          <p:cNvPr id="4" name="TextBox 4"/>
          <p:cNvSpPr txBox="1"/>
          <p:nvPr/>
        </p:nvSpPr>
        <p:spPr>
          <a:xfrm>
            <a:off x="3824362" y="1573169"/>
            <a:ext cx="10639276" cy="977265"/>
          </a:xfrm>
          <a:prstGeom prst="rect">
            <a:avLst/>
          </a:prstGeom>
        </p:spPr>
        <p:txBody>
          <a:bodyPr lIns="0" tIns="0" rIns="0" bIns="0" rtlCol="0" anchor="t">
            <a:spAutoFit/>
          </a:bodyPr>
          <a:lstStyle/>
          <a:p>
            <a:pPr algn="ctr">
              <a:lnSpc>
                <a:spcPts val="7559"/>
              </a:lnSpc>
            </a:pPr>
            <a:r>
              <a:rPr lang="en-US" sz="5400" b="1">
                <a:solidFill>
                  <a:srgbClr val="E8440B"/>
                </a:solidFill>
                <a:latin typeface="Poppins Bold"/>
                <a:ea typeface="Poppins Bold"/>
                <a:cs typeface="Poppins Bold"/>
                <a:sym typeface="Poppins Bold"/>
              </a:rPr>
              <a:t>Vorbereitung Stationen</a:t>
            </a:r>
          </a:p>
        </p:txBody>
      </p:sp>
      <p:sp>
        <p:nvSpPr>
          <p:cNvPr id="5" name="Freeform 5"/>
          <p:cNvSpPr/>
          <p:nvPr/>
        </p:nvSpPr>
        <p:spPr>
          <a:xfrm>
            <a:off x="772737" y="4954500"/>
            <a:ext cx="9549066" cy="4614451"/>
          </a:xfrm>
          <a:custGeom>
            <a:avLst/>
            <a:gdLst/>
            <a:ahLst/>
            <a:cxnLst/>
            <a:rect l="l" t="t" r="r" b="b"/>
            <a:pathLst>
              <a:path w="9549066" h="4614451">
                <a:moveTo>
                  <a:pt x="0" y="0"/>
                </a:moveTo>
                <a:lnTo>
                  <a:pt x="9549066" y="0"/>
                </a:lnTo>
                <a:lnTo>
                  <a:pt x="9549066" y="4614450"/>
                </a:lnTo>
                <a:lnTo>
                  <a:pt x="0" y="4614450"/>
                </a:lnTo>
                <a:lnTo>
                  <a:pt x="0" y="0"/>
                </a:lnTo>
                <a:close/>
              </a:path>
            </a:pathLst>
          </a:custGeom>
          <a:blipFill>
            <a:blip r:embed="rId4"/>
            <a:stretch>
              <a:fillRect b="-12091"/>
            </a:stretch>
          </a:blipFill>
        </p:spPr>
        <p:txBody>
          <a:bodyPr/>
          <a:lstStyle/>
          <a:p>
            <a:endParaRPr lang="de-DE"/>
          </a:p>
        </p:txBody>
      </p:sp>
      <p:sp>
        <p:nvSpPr>
          <p:cNvPr id="6" name="TextBox 6"/>
          <p:cNvSpPr txBox="1"/>
          <p:nvPr/>
        </p:nvSpPr>
        <p:spPr>
          <a:xfrm>
            <a:off x="605767" y="2812788"/>
            <a:ext cx="17068632" cy="2939413"/>
          </a:xfrm>
          <a:prstGeom prst="rect">
            <a:avLst/>
          </a:prstGeom>
        </p:spPr>
        <p:txBody>
          <a:bodyPr lIns="0" tIns="0" rIns="0" bIns="0" rtlCol="0" anchor="t">
            <a:spAutoFit/>
          </a:bodyPr>
          <a:lstStyle/>
          <a:p>
            <a:pPr marL="518176" lvl="1" indent="-259088" algn="l">
              <a:lnSpc>
                <a:spcPts val="3360"/>
              </a:lnSpc>
              <a:buFont typeface="Arial"/>
              <a:buChar char="•"/>
            </a:pPr>
            <a:r>
              <a:rPr lang="en-US" sz="2400">
                <a:solidFill>
                  <a:srgbClr val="000000"/>
                </a:solidFill>
                <a:latin typeface="Poppins"/>
                <a:ea typeface="Poppins"/>
                <a:cs typeface="Poppins"/>
                <a:sym typeface="Poppins"/>
              </a:rPr>
              <a:t>Checkliste für Druck- und Arbeitsmaterial sowie digitale Werkzeuge durchgehen, Station aufbauen. </a:t>
            </a:r>
          </a:p>
          <a:p>
            <a:pPr marL="518176" lvl="1" indent="-259088" algn="l">
              <a:lnSpc>
                <a:spcPts val="3360"/>
              </a:lnSpc>
              <a:buFont typeface="Arial"/>
              <a:buChar char="•"/>
            </a:pPr>
            <a:r>
              <a:rPr lang="en-US" sz="2400">
                <a:solidFill>
                  <a:srgbClr val="000000"/>
                </a:solidFill>
                <a:latin typeface="Poppins"/>
                <a:ea typeface="Poppins"/>
                <a:cs typeface="Poppins"/>
                <a:sym typeface="Poppins"/>
              </a:rPr>
              <a:t>Es bietet sich an, eine Materialkiste pro Station zu packen, die immer wieder verwendet werden kann. Druckmaterial kann laminiert werden, um es wiederverwendbar zu machen. </a:t>
            </a:r>
          </a:p>
          <a:p>
            <a:pPr marL="518176" lvl="1" indent="-259088" algn="l">
              <a:lnSpc>
                <a:spcPts val="3360"/>
              </a:lnSpc>
              <a:buFont typeface="Arial"/>
              <a:buChar char="•"/>
            </a:pPr>
            <a:r>
              <a:rPr lang="en-US" sz="2400">
                <a:solidFill>
                  <a:srgbClr val="000000"/>
                </a:solidFill>
                <a:latin typeface="Poppins"/>
                <a:ea typeface="Poppins"/>
                <a:cs typeface="Poppins"/>
                <a:sym typeface="Poppins"/>
              </a:rPr>
              <a:t>Alle Geräte vorher laden, testen.</a:t>
            </a:r>
          </a:p>
          <a:p>
            <a:pPr marL="518176" lvl="1" indent="-259088" algn="l">
              <a:lnSpc>
                <a:spcPts val="3360"/>
              </a:lnSpc>
              <a:buFont typeface="Arial"/>
              <a:buChar char="•"/>
            </a:pPr>
            <a:r>
              <a:rPr lang="en-US" sz="2400">
                <a:solidFill>
                  <a:srgbClr val="000000"/>
                </a:solidFill>
                <a:latin typeface="Poppins"/>
                <a:ea typeface="Poppins"/>
                <a:cs typeface="Poppins"/>
                <a:sym typeface="Poppins"/>
              </a:rPr>
              <a:t>Lösungen für die Rätsel Griff bereit haben. </a:t>
            </a:r>
          </a:p>
          <a:p>
            <a:pPr algn="l">
              <a:lnSpc>
                <a:spcPts val="3360"/>
              </a:lnSpc>
            </a:pPr>
            <a:endParaRPr lang="en-US" sz="2400">
              <a:solidFill>
                <a:srgbClr val="000000"/>
              </a:solidFill>
              <a:latin typeface="Poppins"/>
              <a:ea typeface="Poppins"/>
              <a:cs typeface="Poppins"/>
              <a:sym typeface="Poppins"/>
            </a:endParaRPr>
          </a:p>
          <a:p>
            <a:pPr algn="l">
              <a:lnSpc>
                <a:spcPts val="3360"/>
              </a:lnSpc>
            </a:pPr>
            <a:endParaRPr lang="en-US" sz="2400">
              <a:solidFill>
                <a:srgbClr val="000000"/>
              </a:solidFill>
              <a:latin typeface="Poppins"/>
              <a:ea typeface="Poppins"/>
              <a:cs typeface="Poppins"/>
              <a:sym typeface="Poppin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6F6F1"/>
        </a:solidFill>
        <a:effectLst/>
      </p:bgPr>
    </p:bg>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a:ln w="200025" cap="sq">
            <a:solidFill>
              <a:srgbClr val="EB4210"/>
            </a:solidFill>
            <a:prstDash val="solid"/>
            <a:miter/>
          </a:ln>
        </p:spPr>
        <p:txBody>
          <a:bodyPr/>
          <a:lstStyle/>
          <a:p>
            <a:endParaRPr lang="de-DE"/>
          </a:p>
        </p:txBody>
      </p:sp>
      <p:sp>
        <p:nvSpPr>
          <p:cNvPr id="3" name="Freeform 3"/>
          <p:cNvSpPr/>
          <p:nvPr/>
        </p:nvSpPr>
        <p:spPr>
          <a:xfrm>
            <a:off x="15314140" y="9001800"/>
            <a:ext cx="2787410" cy="1134302"/>
          </a:xfrm>
          <a:custGeom>
            <a:avLst/>
            <a:gdLst/>
            <a:ahLst/>
            <a:cxnLst/>
            <a:rect l="l" t="t" r="r" b="b"/>
            <a:pathLst>
              <a:path w="2787410" h="1134302">
                <a:moveTo>
                  <a:pt x="0" y="0"/>
                </a:moveTo>
                <a:lnTo>
                  <a:pt x="2787411" y="0"/>
                </a:lnTo>
                <a:lnTo>
                  <a:pt x="2787411" y="1134301"/>
                </a:lnTo>
                <a:lnTo>
                  <a:pt x="0" y="1134301"/>
                </a:lnTo>
                <a:lnTo>
                  <a:pt x="0" y="0"/>
                </a:lnTo>
                <a:close/>
              </a:path>
            </a:pathLst>
          </a:custGeom>
          <a:blipFill>
            <a:blip r:embed="rId3"/>
            <a:stretch>
              <a:fillRect/>
            </a:stretch>
          </a:blipFill>
        </p:spPr>
        <p:txBody>
          <a:bodyPr/>
          <a:lstStyle/>
          <a:p>
            <a:endParaRPr lang="de-DE"/>
          </a:p>
        </p:txBody>
      </p:sp>
      <p:sp>
        <p:nvSpPr>
          <p:cNvPr id="4" name="Freeform 4"/>
          <p:cNvSpPr/>
          <p:nvPr/>
        </p:nvSpPr>
        <p:spPr>
          <a:xfrm>
            <a:off x="1028700" y="1901873"/>
            <a:ext cx="5783222" cy="6578504"/>
          </a:xfrm>
          <a:custGeom>
            <a:avLst/>
            <a:gdLst/>
            <a:ahLst/>
            <a:cxnLst/>
            <a:rect l="l" t="t" r="r" b="b"/>
            <a:pathLst>
              <a:path w="5783222" h="6578504">
                <a:moveTo>
                  <a:pt x="0" y="0"/>
                </a:moveTo>
                <a:lnTo>
                  <a:pt x="5783222" y="0"/>
                </a:lnTo>
                <a:lnTo>
                  <a:pt x="5783222" y="6578504"/>
                </a:lnTo>
                <a:lnTo>
                  <a:pt x="0" y="6578504"/>
                </a:lnTo>
                <a:lnTo>
                  <a:pt x="0" y="0"/>
                </a:lnTo>
                <a:close/>
              </a:path>
            </a:pathLst>
          </a:custGeom>
          <a:blipFill>
            <a:blip r:embed="rId4"/>
            <a:stretch>
              <a:fillRect b="-17214"/>
            </a:stretch>
          </a:blipFill>
        </p:spPr>
        <p:txBody>
          <a:bodyPr/>
          <a:lstStyle/>
          <a:p>
            <a:endParaRPr lang="de-DE"/>
          </a:p>
        </p:txBody>
      </p:sp>
      <p:sp>
        <p:nvSpPr>
          <p:cNvPr id="5" name="TextBox 5"/>
          <p:cNvSpPr txBox="1"/>
          <p:nvPr/>
        </p:nvSpPr>
        <p:spPr>
          <a:xfrm>
            <a:off x="6975744" y="2600231"/>
            <a:ext cx="10829253" cy="6711315"/>
          </a:xfrm>
          <a:prstGeom prst="rect">
            <a:avLst/>
          </a:prstGeom>
        </p:spPr>
        <p:txBody>
          <a:bodyPr lIns="0" tIns="0" rIns="0" bIns="0" rtlCol="0" anchor="t">
            <a:spAutoFit/>
          </a:bodyPr>
          <a:lstStyle/>
          <a:p>
            <a:pPr marL="518160" lvl="1" indent="-259080" algn="l">
              <a:lnSpc>
                <a:spcPts val="3359"/>
              </a:lnSpc>
              <a:buFont typeface="Arial"/>
              <a:buChar char="•"/>
            </a:pPr>
            <a:r>
              <a:rPr lang="en-US" sz="2400">
                <a:solidFill>
                  <a:srgbClr val="000000"/>
                </a:solidFill>
                <a:latin typeface="Poppins"/>
                <a:ea typeface="Poppins"/>
                <a:cs typeface="Poppins"/>
                <a:sym typeface="Poppins"/>
              </a:rPr>
              <a:t>Präsentation auf einem Gerät herunterladen, damit diese ohne Probleme im Plenum abgespielt werden kann.</a:t>
            </a:r>
          </a:p>
          <a:p>
            <a:pPr marL="518160" lvl="1" indent="-259080" algn="l">
              <a:lnSpc>
                <a:spcPts val="3359"/>
              </a:lnSpc>
              <a:buFont typeface="Arial"/>
              <a:buChar char="•"/>
            </a:pPr>
            <a:r>
              <a:rPr lang="en-US" sz="2400">
                <a:solidFill>
                  <a:srgbClr val="000000"/>
                </a:solidFill>
                <a:latin typeface="Poppins"/>
                <a:ea typeface="Poppins"/>
                <a:cs typeface="Poppins"/>
                <a:sym typeface="Poppins"/>
              </a:rPr>
              <a:t>Beide Audiodateien fürs Ende vorbereiten.</a:t>
            </a:r>
          </a:p>
          <a:p>
            <a:pPr marL="518160" lvl="1" indent="-259080" algn="l">
              <a:lnSpc>
                <a:spcPts val="3359"/>
              </a:lnSpc>
              <a:buFont typeface="Arial"/>
              <a:buChar char="•"/>
            </a:pPr>
            <a:r>
              <a:rPr lang="en-US" sz="2400">
                <a:solidFill>
                  <a:srgbClr val="000000"/>
                </a:solidFill>
                <a:latin typeface="Poppins"/>
                <a:ea typeface="Poppins"/>
                <a:cs typeface="Poppins"/>
                <a:sym typeface="Poppins"/>
              </a:rPr>
              <a:t>Idealerweise kann der Raum etwas abgedunkelt werden, wenn der Meisterdieb zu den Teilnehmenden spricht.</a:t>
            </a:r>
          </a:p>
          <a:p>
            <a:pPr marL="518160" lvl="1" indent="-259080" algn="l">
              <a:lnSpc>
                <a:spcPts val="3359"/>
              </a:lnSpc>
              <a:buFont typeface="Arial"/>
              <a:buChar char="•"/>
            </a:pPr>
            <a:r>
              <a:rPr lang="en-US" sz="2400">
                <a:solidFill>
                  <a:srgbClr val="000000"/>
                </a:solidFill>
                <a:latin typeface="Poppins"/>
                <a:ea typeface="Poppins"/>
                <a:cs typeface="Poppins"/>
                <a:sym typeface="Poppins"/>
              </a:rPr>
              <a:t>Alle Tablets inkl. der Stationsschilder mit QR-Code im Raum auslegen, damit die Gruppenzuordnung erfolgen kann. </a:t>
            </a:r>
          </a:p>
          <a:p>
            <a:pPr marL="518160" lvl="1" indent="-259080" algn="l">
              <a:lnSpc>
                <a:spcPts val="3359"/>
              </a:lnSpc>
              <a:buFont typeface="Arial"/>
              <a:buChar char="•"/>
            </a:pPr>
            <a:r>
              <a:rPr lang="en-US" sz="2400">
                <a:solidFill>
                  <a:srgbClr val="000000"/>
                </a:solidFill>
                <a:latin typeface="Poppins"/>
                <a:ea typeface="Poppins"/>
                <a:cs typeface="Poppins"/>
                <a:sym typeface="Poppins"/>
              </a:rPr>
              <a:t>Der 60 Minuten-Countdown startet, wenn alle Gruppen an ihren Stationen sind.</a:t>
            </a:r>
          </a:p>
          <a:p>
            <a:pPr marL="518160" lvl="1" indent="-259080" algn="l">
              <a:lnSpc>
                <a:spcPts val="3359"/>
              </a:lnSpc>
              <a:buFont typeface="Arial"/>
              <a:buChar char="•"/>
            </a:pPr>
            <a:r>
              <a:rPr lang="en-US" sz="2400">
                <a:solidFill>
                  <a:srgbClr val="000000"/>
                </a:solidFill>
                <a:latin typeface="Poppins"/>
                <a:ea typeface="Poppins"/>
                <a:cs typeface="Poppins"/>
                <a:sym typeface="Poppins"/>
              </a:rPr>
              <a:t>Tablets mit Apps, die nicht der Standard-App-Ausstattung entsprechen und an einer bestimmten Station zum Einsatz kommen, entsprechend kennzeichnen (Stationen Lasercutting und 3D-Druck: Shaper Trace Account und Local Send)</a:t>
            </a:r>
          </a:p>
          <a:p>
            <a:pPr algn="l">
              <a:lnSpc>
                <a:spcPts val="3359"/>
              </a:lnSpc>
            </a:pPr>
            <a:endParaRPr lang="en-US" sz="2400">
              <a:solidFill>
                <a:srgbClr val="000000"/>
              </a:solidFill>
              <a:latin typeface="Poppins"/>
              <a:ea typeface="Poppins"/>
              <a:cs typeface="Poppins"/>
              <a:sym typeface="Poppins"/>
            </a:endParaRPr>
          </a:p>
          <a:p>
            <a:pPr algn="l">
              <a:lnSpc>
                <a:spcPts val="3359"/>
              </a:lnSpc>
            </a:pPr>
            <a:endParaRPr lang="en-US" sz="2400">
              <a:solidFill>
                <a:srgbClr val="000000"/>
              </a:solidFill>
              <a:latin typeface="Poppins"/>
              <a:ea typeface="Poppins"/>
              <a:cs typeface="Poppins"/>
              <a:sym typeface="Poppins"/>
            </a:endParaRPr>
          </a:p>
          <a:p>
            <a:pPr algn="l">
              <a:lnSpc>
                <a:spcPts val="3359"/>
              </a:lnSpc>
            </a:pPr>
            <a:endParaRPr lang="en-US" sz="2400">
              <a:solidFill>
                <a:srgbClr val="000000"/>
              </a:solidFill>
              <a:latin typeface="Poppins"/>
              <a:ea typeface="Poppins"/>
              <a:cs typeface="Poppins"/>
              <a:sym typeface="Poppins"/>
            </a:endParaRPr>
          </a:p>
        </p:txBody>
      </p:sp>
      <p:sp>
        <p:nvSpPr>
          <p:cNvPr id="6" name="TextBox 6"/>
          <p:cNvSpPr txBox="1"/>
          <p:nvPr/>
        </p:nvSpPr>
        <p:spPr>
          <a:xfrm>
            <a:off x="6975744" y="1573169"/>
            <a:ext cx="10639276" cy="977265"/>
          </a:xfrm>
          <a:prstGeom prst="rect">
            <a:avLst/>
          </a:prstGeom>
        </p:spPr>
        <p:txBody>
          <a:bodyPr lIns="0" tIns="0" rIns="0" bIns="0" rtlCol="0" anchor="t">
            <a:spAutoFit/>
          </a:bodyPr>
          <a:lstStyle/>
          <a:p>
            <a:pPr algn="l">
              <a:lnSpc>
                <a:spcPts val="7559"/>
              </a:lnSpc>
            </a:pPr>
            <a:r>
              <a:rPr lang="en-US" sz="5400" b="1">
                <a:solidFill>
                  <a:srgbClr val="E8440B"/>
                </a:solidFill>
                <a:latin typeface="Poppins Bold"/>
                <a:ea typeface="Poppins Bold"/>
                <a:cs typeface="Poppins Bold"/>
                <a:sym typeface="Poppins Bold"/>
              </a:rPr>
              <a:t>Vorbereitung fürs Plenum</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6F6F1"/>
        </a:solidFill>
        <a:effectLst/>
      </p:bgPr>
    </p:bg>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a:ln w="200025" cap="sq">
            <a:solidFill>
              <a:srgbClr val="E8440B"/>
            </a:solidFill>
            <a:prstDash val="solid"/>
            <a:miter/>
          </a:ln>
        </p:spPr>
        <p:txBody>
          <a:bodyPr/>
          <a:lstStyle/>
          <a:p>
            <a:endParaRPr lang="de-DE"/>
          </a:p>
        </p:txBody>
      </p:sp>
      <p:sp>
        <p:nvSpPr>
          <p:cNvPr id="3" name="Freeform 3"/>
          <p:cNvSpPr/>
          <p:nvPr/>
        </p:nvSpPr>
        <p:spPr>
          <a:xfrm>
            <a:off x="15314140" y="9001800"/>
            <a:ext cx="2787410" cy="1134302"/>
          </a:xfrm>
          <a:custGeom>
            <a:avLst/>
            <a:gdLst/>
            <a:ahLst/>
            <a:cxnLst/>
            <a:rect l="l" t="t" r="r" b="b"/>
            <a:pathLst>
              <a:path w="2787410" h="1134302">
                <a:moveTo>
                  <a:pt x="0" y="0"/>
                </a:moveTo>
                <a:lnTo>
                  <a:pt x="2787411" y="0"/>
                </a:lnTo>
                <a:lnTo>
                  <a:pt x="2787411" y="1134301"/>
                </a:lnTo>
                <a:lnTo>
                  <a:pt x="0" y="1134301"/>
                </a:lnTo>
                <a:lnTo>
                  <a:pt x="0" y="0"/>
                </a:lnTo>
                <a:close/>
              </a:path>
            </a:pathLst>
          </a:custGeom>
          <a:blipFill>
            <a:blip r:embed="rId3"/>
            <a:stretch>
              <a:fillRect/>
            </a:stretch>
          </a:blipFill>
        </p:spPr>
        <p:txBody>
          <a:bodyPr/>
          <a:lstStyle/>
          <a:p>
            <a:endParaRPr lang="de-DE"/>
          </a:p>
        </p:txBody>
      </p:sp>
      <p:grpSp>
        <p:nvGrpSpPr>
          <p:cNvPr id="4" name="Group 4"/>
          <p:cNvGrpSpPr/>
          <p:nvPr/>
        </p:nvGrpSpPr>
        <p:grpSpPr>
          <a:xfrm>
            <a:off x="123279" y="594614"/>
            <a:ext cx="9546914" cy="9154922"/>
            <a:chOff x="0" y="0"/>
            <a:chExt cx="12729219" cy="12206562"/>
          </a:xfrm>
        </p:grpSpPr>
        <p:sp>
          <p:nvSpPr>
            <p:cNvPr id="5" name="Freeform 5"/>
            <p:cNvSpPr/>
            <p:nvPr/>
          </p:nvSpPr>
          <p:spPr>
            <a:xfrm>
              <a:off x="522657" y="0"/>
              <a:ext cx="12206562" cy="12206562"/>
            </a:xfrm>
            <a:custGeom>
              <a:avLst/>
              <a:gdLst/>
              <a:ahLst/>
              <a:cxnLst/>
              <a:rect l="l" t="t" r="r" b="b"/>
              <a:pathLst>
                <a:path w="12206562" h="12206562">
                  <a:moveTo>
                    <a:pt x="0" y="0"/>
                  </a:moveTo>
                  <a:lnTo>
                    <a:pt x="12206562" y="0"/>
                  </a:lnTo>
                  <a:lnTo>
                    <a:pt x="12206562" y="12206562"/>
                  </a:lnTo>
                  <a:lnTo>
                    <a:pt x="0" y="12206562"/>
                  </a:lnTo>
                  <a:lnTo>
                    <a:pt x="0" y="0"/>
                  </a:lnTo>
                  <a:close/>
                </a:path>
              </a:pathLst>
            </a:custGeom>
            <a:blipFill>
              <a:blip r:embed="rId4"/>
              <a:stretch>
                <a:fillRect/>
              </a:stretch>
            </a:blipFill>
          </p:spPr>
          <p:txBody>
            <a:bodyPr/>
            <a:lstStyle/>
            <a:p>
              <a:endParaRPr lang="de-DE"/>
            </a:p>
          </p:txBody>
        </p:sp>
        <p:sp>
          <p:nvSpPr>
            <p:cNvPr id="6" name="TextBox 6"/>
            <p:cNvSpPr txBox="1"/>
            <p:nvPr/>
          </p:nvSpPr>
          <p:spPr>
            <a:xfrm>
              <a:off x="5624469" y="2659861"/>
              <a:ext cx="3536497" cy="1570994"/>
            </a:xfrm>
            <a:prstGeom prst="rect">
              <a:avLst/>
            </a:prstGeom>
          </p:spPr>
          <p:txBody>
            <a:bodyPr lIns="0" tIns="0" rIns="0" bIns="0" rtlCol="0" anchor="t">
              <a:spAutoFit/>
            </a:bodyPr>
            <a:lstStyle/>
            <a:p>
              <a:pPr algn="ctr">
                <a:lnSpc>
                  <a:spcPts val="4710"/>
                </a:lnSpc>
              </a:pPr>
              <a:r>
                <a:rPr lang="en-US" sz="3364" b="1">
                  <a:solidFill>
                    <a:srgbClr val="000000"/>
                  </a:solidFill>
                  <a:latin typeface="Poppins Bold"/>
                  <a:ea typeface="Poppins Bold"/>
                  <a:cs typeface="Poppins Bold"/>
                  <a:sym typeface="Poppins Bold"/>
                </a:rPr>
                <a:t>Hallo</a:t>
              </a:r>
            </a:p>
            <a:p>
              <a:pPr algn="ctr">
                <a:lnSpc>
                  <a:spcPts val="4710"/>
                </a:lnSpc>
                <a:spcBef>
                  <a:spcPct val="0"/>
                </a:spcBef>
              </a:pPr>
              <a:r>
                <a:rPr lang="en-US" sz="3364" b="1">
                  <a:solidFill>
                    <a:srgbClr val="000000"/>
                  </a:solidFill>
                  <a:latin typeface="Poppins Bold"/>
                  <a:ea typeface="Poppins Bold"/>
                  <a:cs typeface="Poppins Bold"/>
                  <a:sym typeface="Poppins Bold"/>
                </a:rPr>
                <a:t>zusammen!</a:t>
              </a:r>
            </a:p>
          </p:txBody>
        </p:sp>
        <p:sp>
          <p:nvSpPr>
            <p:cNvPr id="7" name="Freeform 7"/>
            <p:cNvSpPr/>
            <p:nvPr/>
          </p:nvSpPr>
          <p:spPr>
            <a:xfrm>
              <a:off x="0" y="2053309"/>
              <a:ext cx="6625938" cy="10153254"/>
            </a:xfrm>
            <a:custGeom>
              <a:avLst/>
              <a:gdLst/>
              <a:ahLst/>
              <a:cxnLst/>
              <a:rect l="l" t="t" r="r" b="b"/>
              <a:pathLst>
                <a:path w="6625938" h="10153254">
                  <a:moveTo>
                    <a:pt x="0" y="0"/>
                  </a:moveTo>
                  <a:lnTo>
                    <a:pt x="6625938" y="0"/>
                  </a:lnTo>
                  <a:lnTo>
                    <a:pt x="6625938" y="10153253"/>
                  </a:lnTo>
                  <a:lnTo>
                    <a:pt x="0" y="10153253"/>
                  </a:lnTo>
                  <a:lnTo>
                    <a:pt x="0" y="0"/>
                  </a:lnTo>
                  <a:close/>
                </a:path>
              </a:pathLst>
            </a:custGeom>
            <a:blipFill>
              <a:blip r:embed="rId5"/>
              <a:stretch>
                <a:fillRect t="-31785" r="-101941"/>
              </a:stretch>
            </a:blipFill>
          </p:spPr>
          <p:txBody>
            <a:bodyPr/>
            <a:lstStyle/>
            <a:p>
              <a:endParaRPr lang="de-DE"/>
            </a:p>
          </p:txBody>
        </p:sp>
      </p:grpSp>
      <p:sp>
        <p:nvSpPr>
          <p:cNvPr id="8" name="Freeform 8"/>
          <p:cNvSpPr/>
          <p:nvPr/>
        </p:nvSpPr>
        <p:spPr>
          <a:xfrm>
            <a:off x="7225380" y="8766219"/>
            <a:ext cx="2260002" cy="964267"/>
          </a:xfrm>
          <a:custGeom>
            <a:avLst/>
            <a:gdLst/>
            <a:ahLst/>
            <a:cxnLst/>
            <a:rect l="l" t="t" r="r" b="b"/>
            <a:pathLst>
              <a:path w="2260002" h="964267">
                <a:moveTo>
                  <a:pt x="0" y="0"/>
                </a:moveTo>
                <a:lnTo>
                  <a:pt x="2260002" y="0"/>
                </a:lnTo>
                <a:lnTo>
                  <a:pt x="2260002" y="964267"/>
                </a:lnTo>
                <a:lnTo>
                  <a:pt x="0" y="964267"/>
                </a:lnTo>
                <a:lnTo>
                  <a:pt x="0" y="0"/>
                </a:lnTo>
                <a:close/>
              </a:path>
            </a:pathLst>
          </a:custGeom>
          <a:blipFill>
            <a:blip r:embed="rId6"/>
            <a:stretch>
              <a:fillRect/>
            </a:stretch>
          </a:blipFill>
        </p:spPr>
        <p:txBody>
          <a:bodyPr/>
          <a:lstStyle/>
          <a:p>
            <a:endParaRPr lang="de-DE"/>
          </a:p>
        </p:txBody>
      </p:sp>
      <p:sp>
        <p:nvSpPr>
          <p:cNvPr id="9" name="TextBox 9"/>
          <p:cNvSpPr txBox="1"/>
          <p:nvPr/>
        </p:nvSpPr>
        <p:spPr>
          <a:xfrm>
            <a:off x="10854718" y="6770902"/>
            <a:ext cx="6105344" cy="977265"/>
          </a:xfrm>
          <a:prstGeom prst="rect">
            <a:avLst/>
          </a:prstGeom>
        </p:spPr>
        <p:txBody>
          <a:bodyPr lIns="0" tIns="0" rIns="0" bIns="0" rtlCol="0" anchor="t">
            <a:spAutoFit/>
          </a:bodyPr>
          <a:lstStyle/>
          <a:p>
            <a:pPr algn="ctr">
              <a:lnSpc>
                <a:spcPts val="7559"/>
              </a:lnSpc>
            </a:pPr>
            <a:r>
              <a:rPr lang="en-US" sz="5400" b="1">
                <a:solidFill>
                  <a:srgbClr val="E8440B"/>
                </a:solidFill>
                <a:latin typeface="Poppins Bold"/>
                <a:ea typeface="Poppins Bold"/>
                <a:cs typeface="Poppins Bold"/>
                <a:sym typeface="Poppins Bold"/>
              </a:rPr>
              <a:t>Viel Spaß!</a:t>
            </a:r>
          </a:p>
        </p:txBody>
      </p:sp>
      <p:sp>
        <p:nvSpPr>
          <p:cNvPr id="10" name="TextBox 10"/>
          <p:cNvSpPr txBox="1"/>
          <p:nvPr/>
        </p:nvSpPr>
        <p:spPr>
          <a:xfrm>
            <a:off x="10033731" y="1572381"/>
            <a:ext cx="7747318" cy="3834765"/>
          </a:xfrm>
          <a:prstGeom prst="rect">
            <a:avLst/>
          </a:prstGeom>
        </p:spPr>
        <p:txBody>
          <a:bodyPr lIns="0" tIns="0" rIns="0" bIns="0" rtlCol="0" anchor="t">
            <a:spAutoFit/>
          </a:bodyPr>
          <a:lstStyle/>
          <a:p>
            <a:pPr algn="ctr">
              <a:lnSpc>
                <a:spcPts val="7559"/>
              </a:lnSpc>
            </a:pPr>
            <a:r>
              <a:rPr lang="en-US" sz="5400" b="1">
                <a:solidFill>
                  <a:srgbClr val="E8440B"/>
                </a:solidFill>
                <a:latin typeface="Poppins Bold"/>
                <a:ea typeface="Poppins Bold"/>
                <a:cs typeface="Poppins Bold"/>
                <a:sym typeface="Poppins Bold"/>
              </a:rPr>
              <a:t>Der große Coup </a:t>
            </a:r>
          </a:p>
          <a:p>
            <a:pPr algn="ctr">
              <a:lnSpc>
                <a:spcPts val="7559"/>
              </a:lnSpc>
            </a:pPr>
            <a:endParaRPr lang="en-US" sz="5400" b="1">
              <a:solidFill>
                <a:srgbClr val="E8440B"/>
              </a:solidFill>
              <a:latin typeface="Poppins Bold"/>
              <a:ea typeface="Poppins Bold"/>
              <a:cs typeface="Poppins Bold"/>
              <a:sym typeface="Poppins Bold"/>
            </a:endParaRPr>
          </a:p>
          <a:p>
            <a:pPr algn="ctr">
              <a:lnSpc>
                <a:spcPts val="7559"/>
              </a:lnSpc>
            </a:pPr>
            <a:r>
              <a:rPr lang="en-US" sz="5400" b="1">
                <a:solidFill>
                  <a:srgbClr val="E8440B"/>
                </a:solidFill>
                <a:latin typeface="Poppins Bold"/>
                <a:ea typeface="Poppins Bold"/>
                <a:cs typeface="Poppins Bold"/>
                <a:sym typeface="Poppins Bold"/>
              </a:rPr>
              <a:t>Stationen vorbereiten und begleiten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6F6F1"/>
        </a:solidFill>
        <a:effectLst/>
      </p:bgPr>
    </p:bg>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a:ln w="200025" cap="sq">
            <a:solidFill>
              <a:srgbClr val="EB4210"/>
            </a:solidFill>
            <a:prstDash val="solid"/>
            <a:miter/>
          </a:ln>
        </p:spPr>
        <p:txBody>
          <a:bodyPr/>
          <a:lstStyle/>
          <a:p>
            <a:endParaRPr lang="de-DE"/>
          </a:p>
        </p:txBody>
      </p:sp>
      <p:sp>
        <p:nvSpPr>
          <p:cNvPr id="3" name="Freeform 3"/>
          <p:cNvSpPr/>
          <p:nvPr/>
        </p:nvSpPr>
        <p:spPr>
          <a:xfrm>
            <a:off x="15314140" y="9001800"/>
            <a:ext cx="2787410" cy="1134302"/>
          </a:xfrm>
          <a:custGeom>
            <a:avLst/>
            <a:gdLst/>
            <a:ahLst/>
            <a:cxnLst/>
            <a:rect l="l" t="t" r="r" b="b"/>
            <a:pathLst>
              <a:path w="2787410" h="1134302">
                <a:moveTo>
                  <a:pt x="0" y="0"/>
                </a:moveTo>
                <a:lnTo>
                  <a:pt x="2787411" y="0"/>
                </a:lnTo>
                <a:lnTo>
                  <a:pt x="2787411" y="1134301"/>
                </a:lnTo>
                <a:lnTo>
                  <a:pt x="0" y="1134301"/>
                </a:lnTo>
                <a:lnTo>
                  <a:pt x="0" y="0"/>
                </a:lnTo>
                <a:close/>
              </a:path>
            </a:pathLst>
          </a:custGeom>
          <a:blipFill>
            <a:blip r:embed="rId3"/>
            <a:stretch>
              <a:fillRect/>
            </a:stretch>
          </a:blipFill>
        </p:spPr>
        <p:txBody>
          <a:bodyPr/>
          <a:lstStyle/>
          <a:p>
            <a:endParaRPr lang="de-DE"/>
          </a:p>
        </p:txBody>
      </p:sp>
      <p:sp>
        <p:nvSpPr>
          <p:cNvPr id="4" name="TextBox 4"/>
          <p:cNvSpPr txBox="1"/>
          <p:nvPr/>
        </p:nvSpPr>
        <p:spPr>
          <a:xfrm>
            <a:off x="1390898" y="1567064"/>
            <a:ext cx="15506205" cy="976052"/>
          </a:xfrm>
          <a:prstGeom prst="rect">
            <a:avLst/>
          </a:prstGeom>
        </p:spPr>
        <p:txBody>
          <a:bodyPr lIns="0" tIns="0" rIns="0" bIns="0" rtlCol="0" anchor="t">
            <a:spAutoFit/>
          </a:bodyPr>
          <a:lstStyle/>
          <a:p>
            <a:pPr algn="ctr">
              <a:lnSpc>
                <a:spcPts val="7626"/>
              </a:lnSpc>
            </a:pPr>
            <a:r>
              <a:rPr lang="en-US" sz="5447" b="1">
                <a:solidFill>
                  <a:srgbClr val="E8440B"/>
                </a:solidFill>
                <a:latin typeface="Poppins Bold"/>
                <a:ea typeface="Poppins Bold"/>
                <a:cs typeface="Poppins Bold"/>
                <a:sym typeface="Poppins Bold"/>
              </a:rPr>
              <a:t>Greenscreen Filmtechnik: Checkliste </a:t>
            </a:r>
          </a:p>
        </p:txBody>
      </p:sp>
      <p:sp>
        <p:nvSpPr>
          <p:cNvPr id="5" name="TextBox 5"/>
          <p:cNvSpPr txBox="1"/>
          <p:nvPr/>
        </p:nvSpPr>
        <p:spPr>
          <a:xfrm>
            <a:off x="605767" y="2812788"/>
            <a:ext cx="17068632" cy="7549513"/>
          </a:xfrm>
          <a:prstGeom prst="rect">
            <a:avLst/>
          </a:prstGeom>
        </p:spPr>
        <p:txBody>
          <a:bodyPr lIns="0" tIns="0" rIns="0" bIns="0" rtlCol="0" anchor="t">
            <a:spAutoFit/>
          </a:bodyPr>
          <a:lstStyle/>
          <a:p>
            <a:pPr marL="518176" lvl="1" indent="-259088" algn="l">
              <a:lnSpc>
                <a:spcPts val="3360"/>
              </a:lnSpc>
              <a:buFont typeface="Arial"/>
              <a:buChar char="•"/>
            </a:pPr>
            <a:r>
              <a:rPr lang="en-US" sz="2400" b="1">
                <a:solidFill>
                  <a:srgbClr val="000000"/>
                </a:solidFill>
                <a:latin typeface="Poppins Bold"/>
                <a:ea typeface="Poppins Bold"/>
                <a:cs typeface="Poppins Bold"/>
                <a:sym typeface="Poppins Bold"/>
              </a:rPr>
              <a:t>Digitale Tools inkl. der ggf. notwendigen Software &amp; weitere Geräte/Hilfsmittel:</a:t>
            </a:r>
          </a:p>
          <a:p>
            <a:pPr marL="1036352" lvl="2" indent="-345451" algn="l">
              <a:lnSpc>
                <a:spcPts val="3360"/>
              </a:lnSpc>
              <a:buFont typeface="Arial"/>
              <a:buChar char="⚬"/>
            </a:pPr>
            <a:r>
              <a:rPr lang="en-US" sz="2400">
                <a:solidFill>
                  <a:srgbClr val="000000"/>
                </a:solidFill>
                <a:latin typeface="Poppins"/>
                <a:ea typeface="Poppins"/>
                <a:cs typeface="Poppins"/>
                <a:sym typeface="Poppins"/>
              </a:rPr>
              <a:t>Greenscreen Wand/Roll-up oder Tuch</a:t>
            </a:r>
          </a:p>
          <a:p>
            <a:pPr marL="1036352" lvl="2" indent="-345451" algn="l">
              <a:lnSpc>
                <a:spcPts val="3360"/>
              </a:lnSpc>
              <a:buFont typeface="Arial"/>
              <a:buChar char="⚬"/>
            </a:pPr>
            <a:r>
              <a:rPr lang="en-US" sz="2400">
                <a:solidFill>
                  <a:srgbClr val="000000"/>
                </a:solidFill>
                <a:latin typeface="Poppins"/>
                <a:ea typeface="Poppins"/>
                <a:cs typeface="Poppins"/>
                <a:sym typeface="Poppins"/>
              </a:rPr>
              <a:t>Stativ fürs Tablet, Lichtstative mit Softboxen</a:t>
            </a:r>
          </a:p>
          <a:p>
            <a:pPr marL="1036352" lvl="2" indent="-345451" algn="l">
              <a:lnSpc>
                <a:spcPts val="3360"/>
              </a:lnSpc>
              <a:buFont typeface="Arial"/>
              <a:buChar char="⚬"/>
            </a:pPr>
            <a:r>
              <a:rPr lang="en-US" sz="2400">
                <a:solidFill>
                  <a:srgbClr val="000000"/>
                </a:solidFill>
                <a:latin typeface="Poppins"/>
                <a:ea typeface="Poppins"/>
                <a:cs typeface="Poppins"/>
                <a:sym typeface="Poppins"/>
              </a:rPr>
              <a:t>Greenscreen by Doink App, Stop-Motion-App</a:t>
            </a:r>
          </a:p>
          <a:p>
            <a:pPr algn="l">
              <a:lnSpc>
                <a:spcPts val="3360"/>
              </a:lnSpc>
            </a:pPr>
            <a:endParaRPr lang="en-US" sz="2400">
              <a:solidFill>
                <a:srgbClr val="000000"/>
              </a:solidFill>
              <a:latin typeface="Poppins"/>
              <a:ea typeface="Poppins"/>
              <a:cs typeface="Poppins"/>
              <a:sym typeface="Poppins"/>
            </a:endParaRPr>
          </a:p>
          <a:p>
            <a:pPr marL="518176" lvl="1" indent="-259088" algn="l">
              <a:lnSpc>
                <a:spcPts val="3360"/>
              </a:lnSpc>
              <a:buFont typeface="Arial"/>
              <a:buChar char="•"/>
            </a:pPr>
            <a:r>
              <a:rPr lang="en-US" sz="2400" b="1">
                <a:solidFill>
                  <a:srgbClr val="000000"/>
                </a:solidFill>
                <a:latin typeface="Poppins Bold"/>
                <a:ea typeface="Poppins Bold"/>
                <a:cs typeface="Poppins Bold"/>
                <a:sym typeface="Poppins Bold"/>
              </a:rPr>
              <a:t>Druckmaterial:</a:t>
            </a:r>
          </a:p>
          <a:p>
            <a:pPr marL="1036352" lvl="2" indent="-345451" algn="l">
              <a:lnSpc>
                <a:spcPts val="3360"/>
              </a:lnSpc>
              <a:buFont typeface="Arial"/>
              <a:buChar char="⚬"/>
            </a:pPr>
            <a:r>
              <a:rPr lang="en-US" sz="2400">
                <a:solidFill>
                  <a:srgbClr val="000000"/>
                </a:solidFill>
                <a:latin typeface="Poppins"/>
                <a:ea typeface="Poppins"/>
                <a:cs typeface="Poppins"/>
                <a:sym typeface="Poppins"/>
              </a:rPr>
              <a:t>Stationsschild</a:t>
            </a:r>
          </a:p>
          <a:p>
            <a:pPr marL="1036352" lvl="2" indent="-345451" algn="l">
              <a:lnSpc>
                <a:spcPts val="3360"/>
              </a:lnSpc>
              <a:buFont typeface="Arial"/>
              <a:buChar char="⚬"/>
            </a:pPr>
            <a:r>
              <a:rPr lang="en-US" sz="2400">
                <a:solidFill>
                  <a:srgbClr val="000000"/>
                </a:solidFill>
                <a:latin typeface="Poppins"/>
                <a:ea typeface="Poppins"/>
                <a:cs typeface="Poppins"/>
                <a:sym typeface="Poppins"/>
              </a:rPr>
              <a:t>Aufgabentext des Meisterdiebs zum analogen Nachlesen (optional, da in TaskCard vorhanden) </a:t>
            </a:r>
          </a:p>
          <a:p>
            <a:pPr marL="1036352" lvl="2" indent="-345451" algn="l">
              <a:lnSpc>
                <a:spcPts val="3360"/>
              </a:lnSpc>
              <a:buFont typeface="Arial"/>
              <a:buChar char="⚬"/>
            </a:pPr>
            <a:r>
              <a:rPr lang="en-US" sz="2400">
                <a:solidFill>
                  <a:srgbClr val="000000"/>
                </a:solidFill>
                <a:latin typeface="Poppins"/>
                <a:ea typeface="Poppins"/>
                <a:cs typeface="Poppins"/>
                <a:sym typeface="Poppins"/>
              </a:rPr>
              <a:t>Rätsel als Papierausdruck, damit die Teilnehmenden darauf schreiben können </a:t>
            </a:r>
          </a:p>
          <a:p>
            <a:pPr marL="1036352" lvl="2" indent="-345451" algn="l">
              <a:lnSpc>
                <a:spcPts val="3360"/>
              </a:lnSpc>
              <a:buFont typeface="Arial"/>
              <a:buChar char="⚬"/>
            </a:pPr>
            <a:r>
              <a:rPr lang="en-US" sz="2400">
                <a:solidFill>
                  <a:srgbClr val="000000"/>
                </a:solidFill>
                <a:latin typeface="Poppins"/>
                <a:ea typeface="Poppins"/>
                <a:cs typeface="Poppins"/>
                <a:sym typeface="Poppins"/>
              </a:rPr>
              <a:t>Placemets zur selbstständigen Nutzung der Stop-Motion und Greenscreen-App ausgelegt werden</a:t>
            </a:r>
          </a:p>
          <a:p>
            <a:pPr marL="1036352" lvl="2" indent="-345451" algn="l">
              <a:lnSpc>
                <a:spcPts val="3360"/>
              </a:lnSpc>
              <a:buFont typeface="Arial"/>
              <a:buChar char="⚬"/>
            </a:pPr>
            <a:r>
              <a:rPr lang="en-US" sz="2400">
                <a:solidFill>
                  <a:srgbClr val="000000"/>
                </a:solidFill>
                <a:latin typeface="Poppins"/>
                <a:ea typeface="Poppins"/>
                <a:cs typeface="Poppins"/>
                <a:sym typeface="Poppins"/>
              </a:rPr>
              <a:t>QR-Code, der zur  Ergebnis-TaskCard mit Schreibrecht für die Teilnehmenden führt</a:t>
            </a:r>
          </a:p>
          <a:p>
            <a:pPr algn="l">
              <a:lnSpc>
                <a:spcPts val="3360"/>
              </a:lnSpc>
            </a:pPr>
            <a:endParaRPr lang="en-US" sz="2400">
              <a:solidFill>
                <a:srgbClr val="000000"/>
              </a:solidFill>
              <a:latin typeface="Poppins"/>
              <a:ea typeface="Poppins"/>
              <a:cs typeface="Poppins"/>
              <a:sym typeface="Poppins"/>
            </a:endParaRPr>
          </a:p>
          <a:p>
            <a:pPr marL="518176" lvl="1" indent="-259088" algn="l">
              <a:lnSpc>
                <a:spcPts val="3360"/>
              </a:lnSpc>
              <a:buFont typeface="Arial"/>
              <a:buChar char="•"/>
            </a:pPr>
            <a:r>
              <a:rPr lang="en-US" sz="2400" b="1">
                <a:solidFill>
                  <a:srgbClr val="000000"/>
                </a:solidFill>
                <a:latin typeface="Poppins Bold"/>
                <a:ea typeface="Poppins Bold"/>
                <a:cs typeface="Poppins Bold"/>
                <a:sym typeface="Poppins Bold"/>
              </a:rPr>
              <a:t> Arbeitsmaterial:</a:t>
            </a:r>
          </a:p>
          <a:p>
            <a:pPr marL="1036352" lvl="2" indent="-345451" algn="l">
              <a:lnSpc>
                <a:spcPts val="3360"/>
              </a:lnSpc>
              <a:buFont typeface="Arial"/>
              <a:buChar char="⚬"/>
            </a:pPr>
            <a:r>
              <a:rPr lang="en-US" sz="2400">
                <a:solidFill>
                  <a:srgbClr val="000000"/>
                </a:solidFill>
                <a:latin typeface="Poppins"/>
                <a:ea typeface="Poppins"/>
                <a:cs typeface="Poppins"/>
                <a:sym typeface="Poppins"/>
              </a:rPr>
              <a:t>Stift und Papier </a:t>
            </a:r>
          </a:p>
          <a:p>
            <a:pPr marL="1036352" lvl="2" indent="-345451" algn="l">
              <a:lnSpc>
                <a:spcPts val="3360"/>
              </a:lnSpc>
              <a:buFont typeface="Arial"/>
              <a:buChar char="⚬"/>
            </a:pPr>
            <a:r>
              <a:rPr lang="en-US" sz="2400">
                <a:solidFill>
                  <a:srgbClr val="000000"/>
                </a:solidFill>
                <a:latin typeface="Poppins"/>
                <a:ea typeface="Poppins"/>
                <a:cs typeface="Poppins"/>
                <a:sym typeface="Poppins"/>
              </a:rPr>
              <a:t>Dekodierscheibe (stl-Datei für 3D-Druck liegt im Repository ab)</a:t>
            </a:r>
          </a:p>
          <a:p>
            <a:pPr marL="1036352" lvl="2" indent="-345451" algn="l">
              <a:lnSpc>
                <a:spcPts val="3360"/>
              </a:lnSpc>
              <a:buFont typeface="Arial"/>
              <a:buChar char="⚬"/>
            </a:pPr>
            <a:r>
              <a:rPr lang="en-US" sz="2400">
                <a:solidFill>
                  <a:srgbClr val="000000"/>
                </a:solidFill>
                <a:latin typeface="Poppins"/>
                <a:ea typeface="Poppins"/>
                <a:cs typeface="Poppins"/>
                <a:sym typeface="Poppins"/>
              </a:rPr>
              <a:t>Filmrequisiten, inkl. Markenzeichen bereitstellen</a:t>
            </a:r>
          </a:p>
          <a:p>
            <a:pPr marL="1036352" lvl="2" indent="-345451" algn="l">
              <a:lnSpc>
                <a:spcPts val="3360"/>
              </a:lnSpc>
              <a:buFont typeface="Arial"/>
              <a:buChar char="⚬"/>
            </a:pPr>
            <a:r>
              <a:rPr lang="en-US" sz="2400">
                <a:solidFill>
                  <a:srgbClr val="000000"/>
                </a:solidFill>
                <a:latin typeface="Poppins"/>
                <a:ea typeface="Poppins"/>
                <a:cs typeface="Poppins"/>
                <a:sym typeface="Poppins"/>
              </a:rPr>
              <a:t>ggf. grüner Teppich, grüne Handschuhe (Gummi- oder Gartenhandschuhe) </a:t>
            </a:r>
          </a:p>
          <a:p>
            <a:pPr algn="l">
              <a:lnSpc>
                <a:spcPts val="3360"/>
              </a:lnSpc>
            </a:pPr>
            <a:endParaRPr lang="en-US" sz="2400">
              <a:solidFill>
                <a:srgbClr val="000000"/>
              </a:solidFill>
              <a:latin typeface="Poppins"/>
              <a:ea typeface="Poppins"/>
              <a:cs typeface="Poppins"/>
              <a:sym typeface="Poppins"/>
            </a:endParaRPr>
          </a:p>
        </p:txBody>
      </p:sp>
      <p:sp>
        <p:nvSpPr>
          <p:cNvPr id="6" name="Freeform 6"/>
          <p:cNvSpPr/>
          <p:nvPr/>
        </p:nvSpPr>
        <p:spPr>
          <a:xfrm flipH="1">
            <a:off x="15957434" y="360105"/>
            <a:ext cx="1931470" cy="1965873"/>
          </a:xfrm>
          <a:custGeom>
            <a:avLst/>
            <a:gdLst/>
            <a:ahLst/>
            <a:cxnLst/>
            <a:rect l="l" t="t" r="r" b="b"/>
            <a:pathLst>
              <a:path w="1931470" h="1965873">
                <a:moveTo>
                  <a:pt x="1931470" y="0"/>
                </a:moveTo>
                <a:lnTo>
                  <a:pt x="0" y="0"/>
                </a:lnTo>
                <a:lnTo>
                  <a:pt x="0" y="1965872"/>
                </a:lnTo>
                <a:lnTo>
                  <a:pt x="1931470" y="1965872"/>
                </a:lnTo>
                <a:lnTo>
                  <a:pt x="193147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6F6F1"/>
        </a:solidFill>
        <a:effectLst/>
      </p:bgPr>
    </p:bg>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a:ln w="200025" cap="sq">
            <a:solidFill>
              <a:srgbClr val="EB4210"/>
            </a:solidFill>
            <a:prstDash val="solid"/>
            <a:miter/>
          </a:ln>
        </p:spPr>
        <p:txBody>
          <a:bodyPr/>
          <a:lstStyle/>
          <a:p>
            <a:endParaRPr lang="de-DE"/>
          </a:p>
        </p:txBody>
      </p:sp>
      <p:sp>
        <p:nvSpPr>
          <p:cNvPr id="3" name="Freeform 3"/>
          <p:cNvSpPr/>
          <p:nvPr/>
        </p:nvSpPr>
        <p:spPr>
          <a:xfrm>
            <a:off x="15314140" y="9001800"/>
            <a:ext cx="2787410" cy="1134302"/>
          </a:xfrm>
          <a:custGeom>
            <a:avLst/>
            <a:gdLst/>
            <a:ahLst/>
            <a:cxnLst/>
            <a:rect l="l" t="t" r="r" b="b"/>
            <a:pathLst>
              <a:path w="2787410" h="1134302">
                <a:moveTo>
                  <a:pt x="0" y="0"/>
                </a:moveTo>
                <a:lnTo>
                  <a:pt x="2787411" y="0"/>
                </a:lnTo>
                <a:lnTo>
                  <a:pt x="2787411" y="1134301"/>
                </a:lnTo>
                <a:lnTo>
                  <a:pt x="0" y="1134301"/>
                </a:lnTo>
                <a:lnTo>
                  <a:pt x="0" y="0"/>
                </a:lnTo>
                <a:close/>
              </a:path>
            </a:pathLst>
          </a:custGeom>
          <a:blipFill>
            <a:blip r:embed="rId3"/>
            <a:stretch>
              <a:fillRect/>
            </a:stretch>
          </a:blipFill>
        </p:spPr>
        <p:txBody>
          <a:bodyPr/>
          <a:lstStyle/>
          <a:p>
            <a:endParaRPr lang="de-DE"/>
          </a:p>
        </p:txBody>
      </p:sp>
      <p:sp>
        <p:nvSpPr>
          <p:cNvPr id="4" name="TextBox 4"/>
          <p:cNvSpPr txBox="1"/>
          <p:nvPr/>
        </p:nvSpPr>
        <p:spPr>
          <a:xfrm>
            <a:off x="1390898" y="1567064"/>
            <a:ext cx="15506205" cy="976052"/>
          </a:xfrm>
          <a:prstGeom prst="rect">
            <a:avLst/>
          </a:prstGeom>
        </p:spPr>
        <p:txBody>
          <a:bodyPr lIns="0" tIns="0" rIns="0" bIns="0" rtlCol="0" anchor="t">
            <a:spAutoFit/>
          </a:bodyPr>
          <a:lstStyle/>
          <a:p>
            <a:pPr algn="ctr">
              <a:lnSpc>
                <a:spcPts val="7626"/>
              </a:lnSpc>
            </a:pPr>
            <a:r>
              <a:rPr lang="en-US" sz="5447" b="1">
                <a:solidFill>
                  <a:srgbClr val="E8440B"/>
                </a:solidFill>
                <a:latin typeface="Poppins Bold"/>
                <a:ea typeface="Poppins Bold"/>
                <a:cs typeface="Poppins Bold"/>
                <a:sym typeface="Poppins Bold"/>
              </a:rPr>
              <a:t>Greenscreen Filmtechnik: Umsetzung </a:t>
            </a:r>
          </a:p>
        </p:txBody>
      </p:sp>
      <p:sp>
        <p:nvSpPr>
          <p:cNvPr id="5" name="Freeform 5"/>
          <p:cNvSpPr/>
          <p:nvPr/>
        </p:nvSpPr>
        <p:spPr>
          <a:xfrm flipH="1">
            <a:off x="15957434" y="360105"/>
            <a:ext cx="1931470" cy="1965873"/>
          </a:xfrm>
          <a:custGeom>
            <a:avLst/>
            <a:gdLst/>
            <a:ahLst/>
            <a:cxnLst/>
            <a:rect l="l" t="t" r="r" b="b"/>
            <a:pathLst>
              <a:path w="1931470" h="1965873">
                <a:moveTo>
                  <a:pt x="1931470" y="0"/>
                </a:moveTo>
                <a:lnTo>
                  <a:pt x="0" y="0"/>
                </a:lnTo>
                <a:lnTo>
                  <a:pt x="0" y="1965872"/>
                </a:lnTo>
                <a:lnTo>
                  <a:pt x="1931470" y="1965872"/>
                </a:lnTo>
                <a:lnTo>
                  <a:pt x="193147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6" name="TextBox 6"/>
          <p:cNvSpPr txBox="1"/>
          <p:nvPr/>
        </p:nvSpPr>
        <p:spPr>
          <a:xfrm>
            <a:off x="605767" y="2812788"/>
            <a:ext cx="17068632" cy="4196713"/>
          </a:xfrm>
          <a:prstGeom prst="rect">
            <a:avLst/>
          </a:prstGeom>
        </p:spPr>
        <p:txBody>
          <a:bodyPr lIns="0" tIns="0" rIns="0" bIns="0" rtlCol="0" anchor="t">
            <a:spAutoFit/>
          </a:bodyPr>
          <a:lstStyle/>
          <a:p>
            <a:pPr marL="518176" lvl="1" indent="-259088" algn="l">
              <a:lnSpc>
                <a:spcPts val="3360"/>
              </a:lnSpc>
              <a:buFont typeface="Arial"/>
              <a:buChar char="•"/>
            </a:pPr>
            <a:r>
              <a:rPr lang="en-US" sz="2400" b="1">
                <a:solidFill>
                  <a:srgbClr val="000000"/>
                </a:solidFill>
                <a:latin typeface="Poppins Bold"/>
                <a:ea typeface="Poppins Bold"/>
                <a:cs typeface="Poppins Bold"/>
                <a:sym typeface="Poppins Bold"/>
              </a:rPr>
              <a:t>Rätsel &amp; Aufgabe: </a:t>
            </a:r>
            <a:r>
              <a:rPr lang="en-US" sz="2400">
                <a:solidFill>
                  <a:srgbClr val="000000"/>
                </a:solidFill>
                <a:latin typeface="Poppins"/>
                <a:ea typeface="Poppins"/>
                <a:cs typeface="Poppins"/>
                <a:sym typeface="Poppins"/>
              </a:rPr>
              <a:t>Findet heraus, was mein Markenzeichen ist und dreht ein Austauschvideo, um die Überwachungskamera auszutricksen.  </a:t>
            </a:r>
          </a:p>
          <a:p>
            <a:pPr marL="1036352" lvl="2" indent="-345451" algn="l">
              <a:lnSpc>
                <a:spcPts val="3360"/>
              </a:lnSpc>
              <a:buFont typeface="Arial"/>
              <a:buChar char="⚬"/>
            </a:pPr>
            <a:r>
              <a:rPr lang="en-US" sz="2400">
                <a:solidFill>
                  <a:srgbClr val="000000"/>
                </a:solidFill>
                <a:latin typeface="Poppins"/>
                <a:ea typeface="Poppins"/>
                <a:cs typeface="Poppins"/>
                <a:sym typeface="Poppins"/>
              </a:rPr>
              <a:t>Damit die Teilnehmenden das Markenzeichen herausfinden, müssen sie den Text dechiffrieren. </a:t>
            </a:r>
          </a:p>
          <a:p>
            <a:pPr marL="1036352" lvl="2" indent="-345451" algn="l">
              <a:lnSpc>
                <a:spcPts val="3360"/>
              </a:lnSpc>
              <a:buFont typeface="Arial"/>
              <a:buChar char="⚬"/>
            </a:pPr>
            <a:r>
              <a:rPr lang="en-US" sz="2400">
                <a:solidFill>
                  <a:srgbClr val="000000"/>
                </a:solidFill>
                <a:latin typeface="Poppins"/>
                <a:ea typeface="Poppins"/>
                <a:cs typeface="Poppins"/>
                <a:sym typeface="Poppins"/>
              </a:rPr>
              <a:t>Hinweise im Bild: Abbildung von Caeser mit der Zahl 13 in rot → Caeser-Code um 13 Stellen rotieren</a:t>
            </a:r>
          </a:p>
          <a:p>
            <a:pPr marL="1036352" lvl="2" indent="-345451" algn="l">
              <a:lnSpc>
                <a:spcPts val="3360"/>
              </a:lnSpc>
              <a:buFont typeface="Arial"/>
              <a:buChar char="⚬"/>
            </a:pPr>
            <a:r>
              <a:rPr lang="en-US" sz="2400">
                <a:solidFill>
                  <a:srgbClr val="000000"/>
                </a:solidFill>
                <a:latin typeface="Poppins"/>
                <a:ea typeface="Poppins"/>
                <a:cs typeface="Poppins"/>
                <a:sym typeface="Poppins"/>
              </a:rPr>
              <a:t>Hinweise im Text: Unterschrift des Meisterdiebs ist chiffriert, wer aufgepasst hat, weiß wie er sich nennt oder kann es im Begrüßungstext nachlesen - auf jeder Stations-TaskCard ganz unten. </a:t>
            </a:r>
          </a:p>
          <a:p>
            <a:pPr algn="l">
              <a:lnSpc>
                <a:spcPts val="3360"/>
              </a:lnSpc>
            </a:pPr>
            <a:endParaRPr lang="en-US" sz="2400">
              <a:solidFill>
                <a:srgbClr val="000000"/>
              </a:solidFill>
              <a:latin typeface="Poppins"/>
              <a:ea typeface="Poppins"/>
              <a:cs typeface="Poppins"/>
              <a:sym typeface="Poppins"/>
            </a:endParaRPr>
          </a:p>
          <a:p>
            <a:pPr marL="518176" lvl="1" indent="-259088" algn="l">
              <a:lnSpc>
                <a:spcPts val="3360"/>
              </a:lnSpc>
              <a:buFont typeface="Arial"/>
              <a:buChar char="•"/>
            </a:pPr>
            <a:r>
              <a:rPr lang="en-US" sz="2400" b="1">
                <a:solidFill>
                  <a:srgbClr val="000000"/>
                </a:solidFill>
                <a:latin typeface="Poppins Bold"/>
                <a:ea typeface="Poppins Bold"/>
                <a:cs typeface="Poppins Bold"/>
                <a:sym typeface="Poppins Bold"/>
              </a:rPr>
              <a:t>Lösung: </a:t>
            </a:r>
            <a:r>
              <a:rPr lang="en-US" sz="2400">
                <a:solidFill>
                  <a:srgbClr val="000000"/>
                </a:solidFill>
                <a:latin typeface="Poppins"/>
                <a:ea typeface="Poppins"/>
                <a:cs typeface="Poppins"/>
                <a:sym typeface="Poppins"/>
              </a:rPr>
              <a:t>Findet mein Markenzeichen: das Alpaka! Lasst es auf dem Video den Gang entlang tanzen! </a:t>
            </a:r>
          </a:p>
          <a:p>
            <a:pPr algn="l">
              <a:lnSpc>
                <a:spcPts val="3360"/>
              </a:lnSpc>
            </a:pPr>
            <a:endParaRPr lang="en-US" sz="2400">
              <a:solidFill>
                <a:srgbClr val="000000"/>
              </a:solidFill>
              <a:latin typeface="Poppins"/>
              <a:ea typeface="Poppins"/>
              <a:cs typeface="Poppins"/>
              <a:sym typeface="Poppins"/>
            </a:endParaRPr>
          </a:p>
          <a:p>
            <a:pPr marL="518176" lvl="1" indent="-259088" algn="l">
              <a:lnSpc>
                <a:spcPts val="3360"/>
              </a:lnSpc>
              <a:buFont typeface="Arial"/>
              <a:buChar char="•"/>
            </a:pPr>
            <a:r>
              <a:rPr lang="en-US" sz="2400" b="1">
                <a:solidFill>
                  <a:srgbClr val="000000"/>
                </a:solidFill>
                <a:latin typeface="Poppins Bold"/>
                <a:ea typeface="Poppins Bold"/>
                <a:cs typeface="Poppins Bold"/>
                <a:sym typeface="Poppins Bold"/>
              </a:rPr>
              <a:t>Learningapps Lösungswort: </a:t>
            </a:r>
            <a:r>
              <a:rPr lang="en-US" sz="2400">
                <a:solidFill>
                  <a:srgbClr val="000000"/>
                </a:solidFill>
                <a:latin typeface="Poppins"/>
                <a:ea typeface="Poppins"/>
                <a:cs typeface="Poppins"/>
                <a:sym typeface="Poppins"/>
              </a:rPr>
              <a:t>Alpaka</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6F6F1"/>
        </a:solidFill>
        <a:effectLst/>
      </p:bgPr>
    </p:bg>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a:ln w="200025" cap="sq">
            <a:solidFill>
              <a:srgbClr val="EB4210"/>
            </a:solidFill>
            <a:prstDash val="solid"/>
            <a:miter/>
          </a:ln>
        </p:spPr>
        <p:txBody>
          <a:bodyPr/>
          <a:lstStyle/>
          <a:p>
            <a:endParaRPr lang="de-DE"/>
          </a:p>
        </p:txBody>
      </p:sp>
      <p:sp>
        <p:nvSpPr>
          <p:cNvPr id="3" name="Freeform 3"/>
          <p:cNvSpPr/>
          <p:nvPr/>
        </p:nvSpPr>
        <p:spPr>
          <a:xfrm>
            <a:off x="15314140" y="9001800"/>
            <a:ext cx="2787410" cy="1134302"/>
          </a:xfrm>
          <a:custGeom>
            <a:avLst/>
            <a:gdLst/>
            <a:ahLst/>
            <a:cxnLst/>
            <a:rect l="l" t="t" r="r" b="b"/>
            <a:pathLst>
              <a:path w="2787410" h="1134302">
                <a:moveTo>
                  <a:pt x="0" y="0"/>
                </a:moveTo>
                <a:lnTo>
                  <a:pt x="2787411" y="0"/>
                </a:lnTo>
                <a:lnTo>
                  <a:pt x="2787411" y="1134301"/>
                </a:lnTo>
                <a:lnTo>
                  <a:pt x="0" y="1134301"/>
                </a:lnTo>
                <a:lnTo>
                  <a:pt x="0" y="0"/>
                </a:lnTo>
                <a:close/>
              </a:path>
            </a:pathLst>
          </a:custGeom>
          <a:blipFill>
            <a:blip r:embed="rId3"/>
            <a:stretch>
              <a:fillRect/>
            </a:stretch>
          </a:blipFill>
        </p:spPr>
        <p:txBody>
          <a:bodyPr/>
          <a:lstStyle/>
          <a:p>
            <a:endParaRPr lang="de-DE"/>
          </a:p>
        </p:txBody>
      </p:sp>
      <p:sp>
        <p:nvSpPr>
          <p:cNvPr id="4" name="TextBox 4"/>
          <p:cNvSpPr txBox="1"/>
          <p:nvPr/>
        </p:nvSpPr>
        <p:spPr>
          <a:xfrm>
            <a:off x="1390898" y="1567064"/>
            <a:ext cx="15506205" cy="976052"/>
          </a:xfrm>
          <a:prstGeom prst="rect">
            <a:avLst/>
          </a:prstGeom>
        </p:spPr>
        <p:txBody>
          <a:bodyPr lIns="0" tIns="0" rIns="0" bIns="0" rtlCol="0" anchor="t">
            <a:spAutoFit/>
          </a:bodyPr>
          <a:lstStyle/>
          <a:p>
            <a:pPr algn="ctr">
              <a:lnSpc>
                <a:spcPts val="7626"/>
              </a:lnSpc>
            </a:pPr>
            <a:r>
              <a:rPr lang="en-US" sz="5447" b="1">
                <a:solidFill>
                  <a:srgbClr val="E8440B"/>
                </a:solidFill>
                <a:latin typeface="Poppins Bold"/>
                <a:ea typeface="Poppins Bold"/>
                <a:cs typeface="Poppins Bold"/>
                <a:sym typeface="Poppins Bold"/>
              </a:rPr>
              <a:t>Lasercutting: Checkliste</a:t>
            </a:r>
          </a:p>
        </p:txBody>
      </p:sp>
      <p:sp>
        <p:nvSpPr>
          <p:cNvPr id="5" name="Freeform 5"/>
          <p:cNvSpPr/>
          <p:nvPr/>
        </p:nvSpPr>
        <p:spPr>
          <a:xfrm>
            <a:off x="15498584" y="392977"/>
            <a:ext cx="2418522" cy="1738313"/>
          </a:xfrm>
          <a:custGeom>
            <a:avLst/>
            <a:gdLst/>
            <a:ahLst/>
            <a:cxnLst/>
            <a:rect l="l" t="t" r="r" b="b"/>
            <a:pathLst>
              <a:path w="2418522" h="1738313">
                <a:moveTo>
                  <a:pt x="0" y="0"/>
                </a:moveTo>
                <a:lnTo>
                  <a:pt x="2418522" y="0"/>
                </a:lnTo>
                <a:lnTo>
                  <a:pt x="2418522" y="1738313"/>
                </a:lnTo>
                <a:lnTo>
                  <a:pt x="0" y="173831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6" name="TextBox 6"/>
          <p:cNvSpPr txBox="1"/>
          <p:nvPr/>
        </p:nvSpPr>
        <p:spPr>
          <a:xfrm>
            <a:off x="605767" y="2812788"/>
            <a:ext cx="17068632" cy="7130413"/>
          </a:xfrm>
          <a:prstGeom prst="rect">
            <a:avLst/>
          </a:prstGeom>
        </p:spPr>
        <p:txBody>
          <a:bodyPr lIns="0" tIns="0" rIns="0" bIns="0" rtlCol="0" anchor="t">
            <a:spAutoFit/>
          </a:bodyPr>
          <a:lstStyle/>
          <a:p>
            <a:pPr marL="518176" lvl="1" indent="-259088" algn="l">
              <a:lnSpc>
                <a:spcPts val="3360"/>
              </a:lnSpc>
              <a:buFont typeface="Arial"/>
              <a:buChar char="•"/>
            </a:pPr>
            <a:r>
              <a:rPr lang="en-US" sz="2400" b="1">
                <a:solidFill>
                  <a:srgbClr val="000000"/>
                </a:solidFill>
                <a:latin typeface="Poppins Bold"/>
                <a:ea typeface="Poppins Bold"/>
                <a:cs typeface="Poppins Bold"/>
                <a:sym typeface="Poppins Bold"/>
              </a:rPr>
              <a:t>Digitale Tools inkl. der ggf. notwendigen Software &amp; weitere Geräte/Hilfsmittel:</a:t>
            </a:r>
          </a:p>
          <a:p>
            <a:pPr marL="1036352" lvl="2" indent="-345451" algn="l">
              <a:lnSpc>
                <a:spcPts val="3360"/>
              </a:lnSpc>
              <a:buFont typeface="Arial"/>
              <a:buChar char="⚬"/>
            </a:pPr>
            <a:r>
              <a:rPr lang="en-US" sz="2400">
                <a:solidFill>
                  <a:srgbClr val="000000"/>
                </a:solidFill>
                <a:latin typeface="Poppins"/>
                <a:ea typeface="Poppins"/>
                <a:cs typeface="Poppins"/>
                <a:sym typeface="Poppins"/>
              </a:rPr>
              <a:t>Lasercutter inkl. geeignetes Material (am besten Sperrholz) </a:t>
            </a:r>
          </a:p>
          <a:p>
            <a:pPr marL="1036352" lvl="2" indent="-345451" algn="l">
              <a:lnSpc>
                <a:spcPts val="3360"/>
              </a:lnSpc>
              <a:buFont typeface="Arial"/>
              <a:buChar char="⚬"/>
            </a:pPr>
            <a:r>
              <a:rPr lang="en-US" sz="2400">
                <a:solidFill>
                  <a:srgbClr val="000000"/>
                </a:solidFill>
                <a:latin typeface="Poppins"/>
                <a:ea typeface="Poppins"/>
                <a:cs typeface="Poppins"/>
                <a:sym typeface="Poppins"/>
              </a:rPr>
              <a:t>Notebook, um Lasercutter anzusteuern</a:t>
            </a:r>
          </a:p>
          <a:p>
            <a:pPr marL="1036352" lvl="2" indent="-345451" algn="l">
              <a:lnSpc>
                <a:spcPts val="3360"/>
              </a:lnSpc>
              <a:buFont typeface="Arial"/>
              <a:buChar char="⚬"/>
            </a:pPr>
            <a:r>
              <a:rPr lang="en-US" sz="2400">
                <a:solidFill>
                  <a:srgbClr val="000000"/>
                </a:solidFill>
                <a:latin typeface="Poppins"/>
                <a:ea typeface="Poppins"/>
                <a:cs typeface="Poppins"/>
                <a:sym typeface="Poppins"/>
              </a:rPr>
              <a:t>Shaper Trace und App bzw. Account (erstellt svg-Datei von Handzeichnung)</a:t>
            </a:r>
          </a:p>
          <a:p>
            <a:pPr marL="1036352" lvl="2" indent="-345451" algn="l">
              <a:lnSpc>
                <a:spcPts val="3360"/>
              </a:lnSpc>
              <a:buFont typeface="Arial"/>
              <a:buChar char="⚬"/>
            </a:pPr>
            <a:r>
              <a:rPr lang="en-US" sz="2400">
                <a:solidFill>
                  <a:srgbClr val="000000"/>
                </a:solidFill>
                <a:latin typeface="Poppins"/>
                <a:ea typeface="Poppins"/>
                <a:cs typeface="Poppins"/>
                <a:sym typeface="Poppins"/>
              </a:rPr>
              <a:t>Tablet mit Shaper Trace App und Möglichkeit, die Datei mit Notebook zu teilen, bspw. Local Send auf Geräten installieren </a:t>
            </a:r>
          </a:p>
          <a:p>
            <a:pPr algn="l">
              <a:lnSpc>
                <a:spcPts val="3360"/>
              </a:lnSpc>
            </a:pPr>
            <a:endParaRPr lang="en-US" sz="2400">
              <a:solidFill>
                <a:srgbClr val="000000"/>
              </a:solidFill>
              <a:latin typeface="Poppins"/>
              <a:ea typeface="Poppins"/>
              <a:cs typeface="Poppins"/>
              <a:sym typeface="Poppins"/>
            </a:endParaRPr>
          </a:p>
          <a:p>
            <a:pPr marL="518176" lvl="1" indent="-259088" algn="l">
              <a:lnSpc>
                <a:spcPts val="3360"/>
              </a:lnSpc>
              <a:buFont typeface="Arial"/>
              <a:buChar char="•"/>
            </a:pPr>
            <a:r>
              <a:rPr lang="en-US" sz="2400" b="1">
                <a:solidFill>
                  <a:srgbClr val="000000"/>
                </a:solidFill>
                <a:latin typeface="Poppins Bold"/>
                <a:ea typeface="Poppins Bold"/>
                <a:cs typeface="Poppins Bold"/>
                <a:sym typeface="Poppins Bold"/>
              </a:rPr>
              <a:t>Druckmaterial:</a:t>
            </a:r>
          </a:p>
          <a:p>
            <a:pPr marL="1036352" lvl="2" indent="-345451" algn="l">
              <a:lnSpc>
                <a:spcPts val="3360"/>
              </a:lnSpc>
              <a:buFont typeface="Arial"/>
              <a:buChar char="⚬"/>
            </a:pPr>
            <a:r>
              <a:rPr lang="en-US" sz="2400">
                <a:solidFill>
                  <a:srgbClr val="000000"/>
                </a:solidFill>
                <a:latin typeface="Poppins"/>
                <a:ea typeface="Poppins"/>
                <a:cs typeface="Poppins"/>
                <a:sym typeface="Poppins"/>
              </a:rPr>
              <a:t>Stationsschild</a:t>
            </a:r>
          </a:p>
          <a:p>
            <a:pPr marL="1036352" lvl="2" indent="-345451" algn="l">
              <a:lnSpc>
                <a:spcPts val="3360"/>
              </a:lnSpc>
              <a:buFont typeface="Arial"/>
              <a:buChar char="⚬"/>
            </a:pPr>
            <a:r>
              <a:rPr lang="en-US" sz="2400">
                <a:solidFill>
                  <a:srgbClr val="000000"/>
                </a:solidFill>
                <a:latin typeface="Poppins"/>
                <a:ea typeface="Poppins"/>
                <a:cs typeface="Poppins"/>
                <a:sym typeface="Poppins"/>
              </a:rPr>
              <a:t>Aufgabentext des Meisterdiebs zum analogen Nachlesen (optional) </a:t>
            </a:r>
          </a:p>
          <a:p>
            <a:pPr marL="1036352" lvl="2" indent="-345451" algn="l">
              <a:lnSpc>
                <a:spcPts val="3360"/>
              </a:lnSpc>
              <a:buFont typeface="Arial"/>
              <a:buChar char="⚬"/>
            </a:pPr>
            <a:r>
              <a:rPr lang="en-US" sz="2400">
                <a:solidFill>
                  <a:srgbClr val="000000"/>
                </a:solidFill>
                <a:latin typeface="Poppins"/>
                <a:ea typeface="Poppins"/>
                <a:cs typeface="Poppins"/>
                <a:sym typeface="Poppins"/>
              </a:rPr>
              <a:t>Rätsel als Papierausdruck, beschreibbar</a:t>
            </a:r>
          </a:p>
          <a:p>
            <a:pPr marL="1036352" lvl="2" indent="-345451" algn="l">
              <a:lnSpc>
                <a:spcPts val="3360"/>
              </a:lnSpc>
              <a:buFont typeface="Arial"/>
              <a:buChar char="⚬"/>
            </a:pPr>
            <a:r>
              <a:rPr lang="en-US" sz="2400">
                <a:solidFill>
                  <a:srgbClr val="000000"/>
                </a:solidFill>
                <a:latin typeface="Poppins"/>
                <a:ea typeface="Poppins"/>
                <a:cs typeface="Poppins"/>
                <a:sym typeface="Poppins"/>
              </a:rPr>
              <a:t>QR-Code, der zur Ergebnis-TaskCard mit Schreibrecht für die Teilnehmenden führt</a:t>
            </a:r>
          </a:p>
          <a:p>
            <a:pPr algn="l">
              <a:lnSpc>
                <a:spcPts val="3360"/>
              </a:lnSpc>
            </a:pPr>
            <a:endParaRPr lang="en-US" sz="2400">
              <a:solidFill>
                <a:srgbClr val="000000"/>
              </a:solidFill>
              <a:latin typeface="Poppins"/>
              <a:ea typeface="Poppins"/>
              <a:cs typeface="Poppins"/>
              <a:sym typeface="Poppins"/>
            </a:endParaRPr>
          </a:p>
          <a:p>
            <a:pPr marL="518176" lvl="1" indent="-259088" algn="l">
              <a:lnSpc>
                <a:spcPts val="3360"/>
              </a:lnSpc>
              <a:buFont typeface="Arial"/>
              <a:buChar char="•"/>
            </a:pPr>
            <a:r>
              <a:rPr lang="en-US" sz="2400" b="1">
                <a:solidFill>
                  <a:srgbClr val="000000"/>
                </a:solidFill>
                <a:latin typeface="Poppins Bold"/>
                <a:ea typeface="Poppins Bold"/>
                <a:cs typeface="Poppins Bold"/>
                <a:sym typeface="Poppins Bold"/>
              </a:rPr>
              <a:t> Arbeitsmaterial:</a:t>
            </a:r>
          </a:p>
          <a:p>
            <a:pPr marL="1036352" lvl="2" indent="-345451" algn="l">
              <a:lnSpc>
                <a:spcPts val="3360"/>
              </a:lnSpc>
              <a:buFont typeface="Arial"/>
              <a:buChar char="⚬"/>
            </a:pPr>
            <a:r>
              <a:rPr lang="en-US" sz="2400">
                <a:solidFill>
                  <a:srgbClr val="000000"/>
                </a:solidFill>
                <a:latin typeface="Poppins"/>
                <a:ea typeface="Poppins"/>
                <a:cs typeface="Poppins"/>
                <a:sym typeface="Poppins"/>
              </a:rPr>
              <a:t>Stift, Papier und Schere</a:t>
            </a:r>
          </a:p>
          <a:p>
            <a:pPr marL="1036352" lvl="2" indent="-345451" algn="l">
              <a:lnSpc>
                <a:spcPts val="3360"/>
              </a:lnSpc>
              <a:buFont typeface="Arial"/>
              <a:buChar char="⚬"/>
            </a:pPr>
            <a:r>
              <a:rPr lang="en-US" sz="2400">
                <a:solidFill>
                  <a:srgbClr val="000000"/>
                </a:solidFill>
                <a:latin typeface="Poppins"/>
                <a:ea typeface="Poppins"/>
                <a:cs typeface="Poppins"/>
                <a:sym typeface="Poppins"/>
              </a:rPr>
              <a:t>Kartenlesegerät mit Lichtsignal: Bauanleitung im Respository, 3D-Modell + mbit + Batterie</a:t>
            </a:r>
          </a:p>
          <a:p>
            <a:pPr algn="l">
              <a:lnSpc>
                <a:spcPts val="3360"/>
              </a:lnSpc>
            </a:pPr>
            <a:endParaRPr lang="en-US" sz="2400">
              <a:solidFill>
                <a:srgbClr val="000000"/>
              </a:solidFill>
              <a:latin typeface="Poppins"/>
              <a:ea typeface="Poppins"/>
              <a:cs typeface="Poppins"/>
              <a:sym typeface="Poppin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6F6F1"/>
        </a:solidFill>
        <a:effectLst/>
      </p:bgPr>
    </p:bg>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a:ln w="200025" cap="sq">
            <a:solidFill>
              <a:srgbClr val="EB4210"/>
            </a:solidFill>
            <a:prstDash val="solid"/>
            <a:miter/>
          </a:ln>
        </p:spPr>
        <p:txBody>
          <a:bodyPr/>
          <a:lstStyle/>
          <a:p>
            <a:endParaRPr lang="de-DE"/>
          </a:p>
        </p:txBody>
      </p:sp>
      <p:sp>
        <p:nvSpPr>
          <p:cNvPr id="3" name="Freeform 3"/>
          <p:cNvSpPr/>
          <p:nvPr/>
        </p:nvSpPr>
        <p:spPr>
          <a:xfrm>
            <a:off x="15314140" y="9001800"/>
            <a:ext cx="2787410" cy="1134302"/>
          </a:xfrm>
          <a:custGeom>
            <a:avLst/>
            <a:gdLst/>
            <a:ahLst/>
            <a:cxnLst/>
            <a:rect l="l" t="t" r="r" b="b"/>
            <a:pathLst>
              <a:path w="2787410" h="1134302">
                <a:moveTo>
                  <a:pt x="0" y="0"/>
                </a:moveTo>
                <a:lnTo>
                  <a:pt x="2787411" y="0"/>
                </a:lnTo>
                <a:lnTo>
                  <a:pt x="2787411" y="1134301"/>
                </a:lnTo>
                <a:lnTo>
                  <a:pt x="0" y="1134301"/>
                </a:lnTo>
                <a:lnTo>
                  <a:pt x="0" y="0"/>
                </a:lnTo>
                <a:close/>
              </a:path>
            </a:pathLst>
          </a:custGeom>
          <a:blipFill>
            <a:blip r:embed="rId3"/>
            <a:stretch>
              <a:fillRect/>
            </a:stretch>
          </a:blipFill>
        </p:spPr>
        <p:txBody>
          <a:bodyPr/>
          <a:lstStyle/>
          <a:p>
            <a:endParaRPr lang="de-DE"/>
          </a:p>
        </p:txBody>
      </p:sp>
      <p:sp>
        <p:nvSpPr>
          <p:cNvPr id="4" name="TextBox 4"/>
          <p:cNvSpPr txBox="1"/>
          <p:nvPr/>
        </p:nvSpPr>
        <p:spPr>
          <a:xfrm>
            <a:off x="1390898" y="1567064"/>
            <a:ext cx="15506205" cy="976052"/>
          </a:xfrm>
          <a:prstGeom prst="rect">
            <a:avLst/>
          </a:prstGeom>
        </p:spPr>
        <p:txBody>
          <a:bodyPr lIns="0" tIns="0" rIns="0" bIns="0" rtlCol="0" anchor="t">
            <a:spAutoFit/>
          </a:bodyPr>
          <a:lstStyle/>
          <a:p>
            <a:pPr algn="ctr">
              <a:lnSpc>
                <a:spcPts val="7626"/>
              </a:lnSpc>
            </a:pPr>
            <a:r>
              <a:rPr lang="en-US" sz="5447" b="1">
                <a:solidFill>
                  <a:srgbClr val="E8440B"/>
                </a:solidFill>
                <a:latin typeface="Poppins Bold"/>
                <a:ea typeface="Poppins Bold"/>
                <a:cs typeface="Poppins Bold"/>
                <a:sym typeface="Poppins Bold"/>
              </a:rPr>
              <a:t>Lasercutting: Umsetzung 1</a:t>
            </a:r>
          </a:p>
        </p:txBody>
      </p:sp>
      <p:sp>
        <p:nvSpPr>
          <p:cNvPr id="5" name="Freeform 5"/>
          <p:cNvSpPr/>
          <p:nvPr/>
        </p:nvSpPr>
        <p:spPr>
          <a:xfrm>
            <a:off x="15498584" y="392977"/>
            <a:ext cx="2418522" cy="1738313"/>
          </a:xfrm>
          <a:custGeom>
            <a:avLst/>
            <a:gdLst/>
            <a:ahLst/>
            <a:cxnLst/>
            <a:rect l="l" t="t" r="r" b="b"/>
            <a:pathLst>
              <a:path w="2418522" h="1738313">
                <a:moveTo>
                  <a:pt x="0" y="0"/>
                </a:moveTo>
                <a:lnTo>
                  <a:pt x="2418522" y="0"/>
                </a:lnTo>
                <a:lnTo>
                  <a:pt x="2418522" y="1738313"/>
                </a:lnTo>
                <a:lnTo>
                  <a:pt x="0" y="173831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grpSp>
        <p:nvGrpSpPr>
          <p:cNvPr id="6" name="Group 6"/>
          <p:cNvGrpSpPr/>
          <p:nvPr/>
        </p:nvGrpSpPr>
        <p:grpSpPr>
          <a:xfrm>
            <a:off x="11539056" y="6223985"/>
            <a:ext cx="6562494" cy="3129332"/>
            <a:chOff x="0" y="0"/>
            <a:chExt cx="10065512" cy="4799749"/>
          </a:xfrm>
        </p:grpSpPr>
        <p:sp>
          <p:nvSpPr>
            <p:cNvPr id="7" name="Freeform 7"/>
            <p:cNvSpPr/>
            <p:nvPr/>
          </p:nvSpPr>
          <p:spPr>
            <a:xfrm>
              <a:off x="0" y="0"/>
              <a:ext cx="10065512" cy="4799711"/>
            </a:xfrm>
            <a:custGeom>
              <a:avLst/>
              <a:gdLst/>
              <a:ahLst/>
              <a:cxnLst/>
              <a:rect l="l" t="t" r="r" b="b"/>
              <a:pathLst>
                <a:path w="10065512" h="4799711">
                  <a:moveTo>
                    <a:pt x="0" y="0"/>
                  </a:moveTo>
                  <a:lnTo>
                    <a:pt x="10065512" y="0"/>
                  </a:lnTo>
                  <a:lnTo>
                    <a:pt x="10065512" y="4799711"/>
                  </a:lnTo>
                  <a:lnTo>
                    <a:pt x="0" y="4799711"/>
                  </a:lnTo>
                  <a:lnTo>
                    <a:pt x="0" y="0"/>
                  </a:lnTo>
                  <a:close/>
                </a:path>
              </a:pathLst>
            </a:custGeom>
            <a:blipFill>
              <a:blip r:embed="rId5"/>
              <a:stretch>
                <a:fillRect/>
              </a:stretch>
            </a:blipFill>
          </p:spPr>
          <p:txBody>
            <a:bodyPr/>
            <a:lstStyle/>
            <a:p>
              <a:endParaRPr lang="de-DE"/>
            </a:p>
          </p:txBody>
        </p:sp>
      </p:grpSp>
      <p:sp>
        <p:nvSpPr>
          <p:cNvPr id="8" name="TextBox 8"/>
          <p:cNvSpPr txBox="1"/>
          <p:nvPr/>
        </p:nvSpPr>
        <p:spPr>
          <a:xfrm>
            <a:off x="11814696" y="9061483"/>
            <a:ext cx="2349079" cy="507467"/>
          </a:xfrm>
          <a:prstGeom prst="rect">
            <a:avLst/>
          </a:prstGeom>
        </p:spPr>
        <p:txBody>
          <a:bodyPr lIns="0" tIns="0" rIns="0" bIns="0" rtlCol="0" anchor="t">
            <a:spAutoFit/>
          </a:bodyPr>
          <a:lstStyle/>
          <a:p>
            <a:pPr algn="ctr">
              <a:lnSpc>
                <a:spcPts val="4046"/>
              </a:lnSpc>
              <a:spcBef>
                <a:spcPct val="0"/>
              </a:spcBef>
            </a:pPr>
            <a:r>
              <a:rPr lang="en-US" sz="2890" b="1">
                <a:solidFill>
                  <a:srgbClr val="000000"/>
                </a:solidFill>
                <a:latin typeface="Poppins Bold"/>
                <a:ea typeface="Poppins Bold"/>
                <a:cs typeface="Poppins Bold"/>
                <a:sym typeface="Poppins Bold"/>
              </a:rPr>
              <a:t>1   2  3  4  5  6</a:t>
            </a:r>
          </a:p>
        </p:txBody>
      </p:sp>
      <p:sp>
        <p:nvSpPr>
          <p:cNvPr id="9" name="TextBox 9"/>
          <p:cNvSpPr txBox="1"/>
          <p:nvPr/>
        </p:nvSpPr>
        <p:spPr>
          <a:xfrm>
            <a:off x="605767" y="2812788"/>
            <a:ext cx="17068632" cy="5034913"/>
          </a:xfrm>
          <a:prstGeom prst="rect">
            <a:avLst/>
          </a:prstGeom>
        </p:spPr>
        <p:txBody>
          <a:bodyPr lIns="0" tIns="0" rIns="0" bIns="0" rtlCol="0" anchor="t">
            <a:spAutoFit/>
          </a:bodyPr>
          <a:lstStyle/>
          <a:p>
            <a:pPr marL="518176" lvl="1" indent="-259088" algn="l">
              <a:lnSpc>
                <a:spcPts val="3360"/>
              </a:lnSpc>
              <a:buFont typeface="Arial"/>
              <a:buChar char="•"/>
            </a:pPr>
            <a:r>
              <a:rPr lang="en-US" sz="2400" b="1">
                <a:solidFill>
                  <a:srgbClr val="000000"/>
                </a:solidFill>
                <a:latin typeface="Poppins Bold"/>
                <a:ea typeface="Poppins Bold"/>
                <a:cs typeface="Poppins Bold"/>
                <a:sym typeface="Poppins Bold"/>
              </a:rPr>
              <a:t>Rätsel &amp; Aufgabe: </a:t>
            </a:r>
            <a:r>
              <a:rPr lang="en-US" sz="2400">
                <a:solidFill>
                  <a:srgbClr val="000000"/>
                </a:solidFill>
                <a:latin typeface="Poppins"/>
                <a:ea typeface="Poppins"/>
                <a:cs typeface="Poppins"/>
                <a:sym typeface="Poppins"/>
              </a:rPr>
              <a:t>Findet heraus, wie die Schlüsselkarte aussehen muss, die ihr fälschen müsst, um durch die Sicherheitsschleuse zu gelangen, ohne den Alarm auszulösen. </a:t>
            </a:r>
          </a:p>
          <a:p>
            <a:pPr marL="1036352" lvl="2" indent="-345451" algn="l">
              <a:lnSpc>
                <a:spcPts val="3360"/>
              </a:lnSpc>
              <a:buFont typeface="Arial"/>
              <a:buChar char="⚬"/>
            </a:pPr>
            <a:r>
              <a:rPr lang="en-US" sz="2400">
                <a:solidFill>
                  <a:srgbClr val="000000"/>
                </a:solidFill>
                <a:latin typeface="Poppins"/>
                <a:ea typeface="Poppins"/>
                <a:cs typeface="Poppins"/>
                <a:sym typeface="Poppins"/>
              </a:rPr>
              <a:t>Damit die Form ermittelt wird, müssen die Teilnehmenden die Farben auf dem Schlüsselkartengrundriss in Rasterform mit den Farben auf dem Regenbogen im Bild verknüpfen. Entfernt man rechts jeweils so viele Kästchen des Rasters, wie es der Anzahl der Scheren auf der jeweiligen Farbe des Regenbogens entspricht, bleibt das übrig, was der Form der geforderten Schlüsselkarte entspricht.</a:t>
            </a:r>
          </a:p>
          <a:p>
            <a:pPr algn="l">
              <a:lnSpc>
                <a:spcPts val="3360"/>
              </a:lnSpc>
            </a:pPr>
            <a:endParaRPr lang="en-US" sz="2400">
              <a:solidFill>
                <a:srgbClr val="000000"/>
              </a:solidFill>
              <a:latin typeface="Poppins"/>
              <a:ea typeface="Poppins"/>
              <a:cs typeface="Poppins"/>
              <a:sym typeface="Poppins"/>
            </a:endParaRPr>
          </a:p>
          <a:p>
            <a:pPr marL="518176" lvl="1" indent="-259088" algn="l">
              <a:lnSpc>
                <a:spcPts val="3360"/>
              </a:lnSpc>
              <a:buFont typeface="Arial"/>
              <a:buChar char="•"/>
            </a:pPr>
            <a:r>
              <a:rPr lang="en-US" sz="2400" b="1">
                <a:solidFill>
                  <a:srgbClr val="000000"/>
                </a:solidFill>
                <a:latin typeface="Poppins Bold"/>
                <a:ea typeface="Poppins Bold"/>
                <a:cs typeface="Poppins Bold"/>
                <a:sym typeface="Poppins Bold"/>
              </a:rPr>
              <a:t>Lösung: </a:t>
            </a:r>
            <a:r>
              <a:rPr lang="en-US" sz="2400">
                <a:solidFill>
                  <a:srgbClr val="000000"/>
                </a:solidFill>
                <a:latin typeface="Poppins"/>
                <a:ea typeface="Poppins"/>
                <a:cs typeface="Poppins"/>
                <a:sym typeface="Poppins"/>
              </a:rPr>
              <a:t>Es müssen am rechten Rand von oben nach unten 2, 5, 4, 6, 5, 1, 4, 6, 3, 2 Kästchen entfernt werden. </a:t>
            </a:r>
          </a:p>
          <a:p>
            <a:pPr algn="l">
              <a:lnSpc>
                <a:spcPts val="3360"/>
              </a:lnSpc>
            </a:pPr>
            <a:endParaRPr lang="en-US" sz="2400">
              <a:solidFill>
                <a:srgbClr val="000000"/>
              </a:solidFill>
              <a:latin typeface="Poppins"/>
              <a:ea typeface="Poppins"/>
              <a:cs typeface="Poppins"/>
              <a:sym typeface="Poppins"/>
            </a:endParaRPr>
          </a:p>
          <a:p>
            <a:pPr marL="518176" lvl="1" indent="-259088" algn="l">
              <a:lnSpc>
                <a:spcPts val="3360"/>
              </a:lnSpc>
              <a:buFont typeface="Arial"/>
              <a:buChar char="•"/>
            </a:pPr>
            <a:r>
              <a:rPr lang="en-US" sz="2400" b="1">
                <a:solidFill>
                  <a:srgbClr val="000000"/>
                </a:solidFill>
                <a:latin typeface="Poppins Bold"/>
                <a:ea typeface="Poppins Bold"/>
                <a:cs typeface="Poppins Bold"/>
                <a:sym typeface="Poppins Bold"/>
              </a:rPr>
              <a:t>Learningapps Lösungswort:</a:t>
            </a:r>
            <a:r>
              <a:rPr lang="en-US" sz="2400">
                <a:solidFill>
                  <a:srgbClr val="000000"/>
                </a:solidFill>
                <a:latin typeface="Poppins"/>
                <a:ea typeface="Poppins"/>
                <a:cs typeface="Poppins"/>
                <a:sym typeface="Poppins"/>
              </a:rPr>
              <a:t> 2546514632</a:t>
            </a:r>
          </a:p>
          <a:p>
            <a:pPr algn="l">
              <a:lnSpc>
                <a:spcPts val="3360"/>
              </a:lnSpc>
            </a:pPr>
            <a:endParaRPr lang="en-US" sz="2400">
              <a:solidFill>
                <a:srgbClr val="000000"/>
              </a:solidFill>
              <a:latin typeface="Poppins"/>
              <a:ea typeface="Poppins"/>
              <a:cs typeface="Poppins"/>
              <a:sym typeface="Poppins"/>
            </a:endParaRPr>
          </a:p>
          <a:p>
            <a:pPr algn="l">
              <a:lnSpc>
                <a:spcPts val="3360"/>
              </a:lnSpc>
            </a:pPr>
            <a:endParaRPr lang="en-US" sz="2400">
              <a:solidFill>
                <a:srgbClr val="000000"/>
              </a:solidFill>
              <a:latin typeface="Poppins"/>
              <a:ea typeface="Poppins"/>
              <a:cs typeface="Poppins"/>
              <a:sym typeface="Poppin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6F6F1"/>
        </a:solidFill>
        <a:effectLst/>
      </p:bgPr>
    </p:bg>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a:ln w="200025" cap="sq">
            <a:solidFill>
              <a:srgbClr val="EB4210"/>
            </a:solidFill>
            <a:prstDash val="solid"/>
            <a:miter/>
          </a:ln>
        </p:spPr>
        <p:txBody>
          <a:bodyPr/>
          <a:lstStyle/>
          <a:p>
            <a:endParaRPr lang="de-DE"/>
          </a:p>
        </p:txBody>
      </p:sp>
      <p:sp>
        <p:nvSpPr>
          <p:cNvPr id="3" name="Freeform 3"/>
          <p:cNvSpPr/>
          <p:nvPr/>
        </p:nvSpPr>
        <p:spPr>
          <a:xfrm>
            <a:off x="15314140" y="9001800"/>
            <a:ext cx="2787410" cy="1134302"/>
          </a:xfrm>
          <a:custGeom>
            <a:avLst/>
            <a:gdLst/>
            <a:ahLst/>
            <a:cxnLst/>
            <a:rect l="l" t="t" r="r" b="b"/>
            <a:pathLst>
              <a:path w="2787410" h="1134302">
                <a:moveTo>
                  <a:pt x="0" y="0"/>
                </a:moveTo>
                <a:lnTo>
                  <a:pt x="2787411" y="0"/>
                </a:lnTo>
                <a:lnTo>
                  <a:pt x="2787411" y="1134301"/>
                </a:lnTo>
                <a:lnTo>
                  <a:pt x="0" y="1134301"/>
                </a:lnTo>
                <a:lnTo>
                  <a:pt x="0" y="0"/>
                </a:lnTo>
                <a:close/>
              </a:path>
            </a:pathLst>
          </a:custGeom>
          <a:blipFill>
            <a:blip r:embed="rId3"/>
            <a:stretch>
              <a:fillRect/>
            </a:stretch>
          </a:blipFill>
        </p:spPr>
        <p:txBody>
          <a:bodyPr/>
          <a:lstStyle/>
          <a:p>
            <a:endParaRPr lang="de-DE"/>
          </a:p>
        </p:txBody>
      </p:sp>
      <p:sp>
        <p:nvSpPr>
          <p:cNvPr id="4" name="TextBox 4"/>
          <p:cNvSpPr txBox="1"/>
          <p:nvPr/>
        </p:nvSpPr>
        <p:spPr>
          <a:xfrm>
            <a:off x="1390898" y="1567064"/>
            <a:ext cx="15506205" cy="976052"/>
          </a:xfrm>
          <a:prstGeom prst="rect">
            <a:avLst/>
          </a:prstGeom>
        </p:spPr>
        <p:txBody>
          <a:bodyPr lIns="0" tIns="0" rIns="0" bIns="0" rtlCol="0" anchor="t">
            <a:spAutoFit/>
          </a:bodyPr>
          <a:lstStyle/>
          <a:p>
            <a:pPr algn="ctr">
              <a:lnSpc>
                <a:spcPts val="7626"/>
              </a:lnSpc>
            </a:pPr>
            <a:r>
              <a:rPr lang="en-US" sz="5447" b="1">
                <a:solidFill>
                  <a:srgbClr val="E8440B"/>
                </a:solidFill>
                <a:latin typeface="Poppins Bold"/>
                <a:ea typeface="Poppins Bold"/>
                <a:cs typeface="Poppins Bold"/>
                <a:sym typeface="Poppins Bold"/>
              </a:rPr>
              <a:t>Lasercutting: Umsetzung 2</a:t>
            </a:r>
          </a:p>
        </p:txBody>
      </p:sp>
      <p:sp>
        <p:nvSpPr>
          <p:cNvPr id="5" name="Freeform 5"/>
          <p:cNvSpPr/>
          <p:nvPr/>
        </p:nvSpPr>
        <p:spPr>
          <a:xfrm>
            <a:off x="15498584" y="392977"/>
            <a:ext cx="2418522" cy="1738313"/>
          </a:xfrm>
          <a:custGeom>
            <a:avLst/>
            <a:gdLst/>
            <a:ahLst/>
            <a:cxnLst/>
            <a:rect l="l" t="t" r="r" b="b"/>
            <a:pathLst>
              <a:path w="2418522" h="1738313">
                <a:moveTo>
                  <a:pt x="0" y="0"/>
                </a:moveTo>
                <a:lnTo>
                  <a:pt x="2418522" y="0"/>
                </a:lnTo>
                <a:lnTo>
                  <a:pt x="2418522" y="1738313"/>
                </a:lnTo>
                <a:lnTo>
                  <a:pt x="0" y="173831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6" name="TextBox 6"/>
          <p:cNvSpPr txBox="1"/>
          <p:nvPr/>
        </p:nvSpPr>
        <p:spPr>
          <a:xfrm>
            <a:off x="605767" y="2812788"/>
            <a:ext cx="17068632" cy="7549513"/>
          </a:xfrm>
          <a:prstGeom prst="rect">
            <a:avLst/>
          </a:prstGeom>
        </p:spPr>
        <p:txBody>
          <a:bodyPr lIns="0" tIns="0" rIns="0" bIns="0" rtlCol="0" anchor="t">
            <a:spAutoFit/>
          </a:bodyPr>
          <a:lstStyle/>
          <a:p>
            <a:pPr marL="518176" lvl="1" indent="-259088" algn="l">
              <a:lnSpc>
                <a:spcPts val="3360"/>
              </a:lnSpc>
              <a:buFont typeface="Arial"/>
              <a:buChar char="•"/>
            </a:pPr>
            <a:r>
              <a:rPr lang="en-US" sz="2400" b="1">
                <a:solidFill>
                  <a:srgbClr val="000000"/>
                </a:solidFill>
                <a:latin typeface="Poppins Bold"/>
                <a:ea typeface="Poppins Bold"/>
                <a:cs typeface="Poppins Bold"/>
                <a:sym typeface="Poppins Bold"/>
              </a:rPr>
              <a:t>Hinweise zur Umsetzung für die Zeichnung: </a:t>
            </a:r>
          </a:p>
          <a:p>
            <a:pPr marL="1036352" lvl="2" indent="-345451" algn="l">
              <a:lnSpc>
                <a:spcPts val="3360"/>
              </a:lnSpc>
              <a:buFont typeface="Arial"/>
              <a:buChar char="⚬"/>
            </a:pPr>
            <a:r>
              <a:rPr lang="en-US" sz="2400">
                <a:solidFill>
                  <a:srgbClr val="000000"/>
                </a:solidFill>
                <a:latin typeface="Poppins"/>
                <a:ea typeface="Poppins"/>
                <a:cs typeface="Poppins"/>
                <a:sym typeface="Poppins"/>
              </a:rPr>
              <a:t>Bei der Zeichnung sollte ein gut lesbarer schwarzer Stift verwenden werden. Dünne Bleistiftlinien werden schlecht von der Anwendung Shaper Trace erkannt. </a:t>
            </a:r>
          </a:p>
          <a:p>
            <a:pPr marL="1036352" lvl="2" indent="-345451" algn="l">
              <a:lnSpc>
                <a:spcPts val="3360"/>
              </a:lnSpc>
              <a:buFont typeface="Arial"/>
              <a:buChar char="⚬"/>
            </a:pPr>
            <a:r>
              <a:rPr lang="en-US" sz="2400">
                <a:solidFill>
                  <a:srgbClr val="000000"/>
                </a:solidFill>
                <a:latin typeface="Poppins"/>
                <a:ea typeface="Poppins"/>
                <a:cs typeface="Poppins"/>
                <a:sym typeface="Poppins"/>
              </a:rPr>
              <a:t>Die Linie muss durchgehend sein (keine Lücken), sonst kann der Lasercutter die Form nicht sauber ausschneiden</a:t>
            </a:r>
          </a:p>
          <a:p>
            <a:pPr marL="1036352" lvl="2" indent="-345451" algn="l">
              <a:lnSpc>
                <a:spcPts val="3360"/>
              </a:lnSpc>
              <a:buFont typeface="Arial"/>
              <a:buChar char="⚬"/>
            </a:pPr>
            <a:r>
              <a:rPr lang="en-US" sz="2400">
                <a:solidFill>
                  <a:srgbClr val="000000"/>
                </a:solidFill>
                <a:latin typeface="Poppins"/>
                <a:ea typeface="Poppins"/>
                <a:cs typeface="Poppins"/>
                <a:sym typeface="Poppins"/>
              </a:rPr>
              <a:t>Gleichmäßiger Druck beim Zeichnen sorgt für bessere Ergebnisse</a:t>
            </a:r>
          </a:p>
          <a:p>
            <a:pPr marL="1036352" lvl="2" indent="-345451" algn="l">
              <a:lnSpc>
                <a:spcPts val="3360"/>
              </a:lnSpc>
              <a:buFont typeface="Arial"/>
              <a:buChar char="⚬"/>
            </a:pPr>
            <a:r>
              <a:rPr lang="en-US" sz="2400">
                <a:solidFill>
                  <a:srgbClr val="000000"/>
                </a:solidFill>
                <a:latin typeface="Poppins"/>
                <a:ea typeface="Poppins"/>
                <a:cs typeface="Poppins"/>
                <a:sym typeface="Poppins"/>
              </a:rPr>
              <a:t>Die Zeichnung muss innerhalb des Erfassungsbereichs des Rahmens liegen</a:t>
            </a:r>
          </a:p>
          <a:p>
            <a:pPr algn="l">
              <a:lnSpc>
                <a:spcPts val="3360"/>
              </a:lnSpc>
            </a:pPr>
            <a:endParaRPr lang="en-US" sz="2400">
              <a:solidFill>
                <a:srgbClr val="000000"/>
              </a:solidFill>
              <a:latin typeface="Poppins"/>
              <a:ea typeface="Poppins"/>
              <a:cs typeface="Poppins"/>
              <a:sym typeface="Poppins"/>
            </a:endParaRPr>
          </a:p>
          <a:p>
            <a:pPr marL="518176" lvl="1" indent="-259088" algn="l">
              <a:lnSpc>
                <a:spcPts val="3360"/>
              </a:lnSpc>
              <a:buFont typeface="Arial"/>
              <a:buChar char="•"/>
            </a:pPr>
            <a:r>
              <a:rPr lang="en-US" sz="2400" b="1">
                <a:solidFill>
                  <a:srgbClr val="000000"/>
                </a:solidFill>
                <a:latin typeface="Poppins Bold"/>
                <a:ea typeface="Poppins Bold"/>
                <a:cs typeface="Poppins Bold"/>
                <a:sym typeface="Poppins Bold"/>
              </a:rPr>
              <a:t>Hinweise zur Umsetzung beim Fotografieren:</a:t>
            </a:r>
          </a:p>
          <a:p>
            <a:pPr marL="1036352" lvl="2" indent="-345451" algn="l">
              <a:lnSpc>
                <a:spcPts val="3360"/>
              </a:lnSpc>
              <a:buFont typeface="Arial"/>
              <a:buChar char="⚬"/>
            </a:pPr>
            <a:r>
              <a:rPr lang="en-US" sz="2400">
                <a:solidFill>
                  <a:srgbClr val="000000"/>
                </a:solidFill>
                <a:latin typeface="Poppins"/>
                <a:ea typeface="Poppins"/>
                <a:cs typeface="Poppins"/>
                <a:sym typeface="Poppins"/>
              </a:rPr>
              <a:t>Gute, gleichmäßige Beleuchtung ohne Schatten auf dem Papier</a:t>
            </a:r>
          </a:p>
          <a:p>
            <a:pPr marL="1036352" lvl="2" indent="-345451" algn="l">
              <a:lnSpc>
                <a:spcPts val="3360"/>
              </a:lnSpc>
              <a:buFont typeface="Arial"/>
              <a:buChar char="⚬"/>
            </a:pPr>
            <a:r>
              <a:rPr lang="en-US" sz="2400">
                <a:solidFill>
                  <a:srgbClr val="000000"/>
                </a:solidFill>
                <a:latin typeface="Poppins"/>
                <a:ea typeface="Poppins"/>
                <a:cs typeface="Poppins"/>
                <a:sym typeface="Poppins"/>
              </a:rPr>
              <a:t>Der Rahmen muss vollständig im Bild sein</a:t>
            </a:r>
          </a:p>
          <a:p>
            <a:pPr marL="1036352" lvl="2" indent="-345451" algn="l">
              <a:lnSpc>
                <a:spcPts val="3360"/>
              </a:lnSpc>
              <a:buFont typeface="Arial"/>
              <a:buChar char="⚬"/>
            </a:pPr>
            <a:r>
              <a:rPr lang="en-US" sz="2400">
                <a:solidFill>
                  <a:srgbClr val="000000"/>
                </a:solidFill>
                <a:latin typeface="Poppins"/>
                <a:ea typeface="Poppins"/>
                <a:cs typeface="Poppins"/>
                <a:sym typeface="Poppins"/>
              </a:rPr>
              <a:t>Leichter Winkel ist okay – Shaper Trace korrigiert die Perspektive automatisch</a:t>
            </a:r>
          </a:p>
          <a:p>
            <a:pPr algn="l">
              <a:lnSpc>
                <a:spcPts val="3360"/>
              </a:lnSpc>
            </a:pPr>
            <a:endParaRPr lang="en-US" sz="2400">
              <a:solidFill>
                <a:srgbClr val="000000"/>
              </a:solidFill>
              <a:latin typeface="Poppins"/>
              <a:ea typeface="Poppins"/>
              <a:cs typeface="Poppins"/>
              <a:sym typeface="Poppins"/>
            </a:endParaRPr>
          </a:p>
          <a:p>
            <a:pPr marL="518176" lvl="1" indent="-259088" algn="l">
              <a:lnSpc>
                <a:spcPts val="3360"/>
              </a:lnSpc>
              <a:buFont typeface="Arial"/>
              <a:buChar char="•"/>
            </a:pPr>
            <a:r>
              <a:rPr lang="en-US" sz="2400" b="1">
                <a:solidFill>
                  <a:srgbClr val="000000"/>
                </a:solidFill>
                <a:latin typeface="Poppins Bold"/>
                <a:ea typeface="Poppins Bold"/>
                <a:cs typeface="Poppins Bold"/>
                <a:sym typeface="Poppins Bold"/>
              </a:rPr>
              <a:t>Hinweise zur Bearbeitung der Vorlage auf der Arbeitsoberfläche des Lasercutters:</a:t>
            </a:r>
          </a:p>
          <a:p>
            <a:pPr marL="1036352" lvl="2" indent="-345451" algn="l">
              <a:lnSpc>
                <a:spcPts val="3360"/>
              </a:lnSpc>
              <a:buFont typeface="Arial"/>
              <a:buChar char="⚬"/>
            </a:pPr>
            <a:r>
              <a:rPr lang="en-US" sz="2400">
                <a:solidFill>
                  <a:srgbClr val="000000"/>
                </a:solidFill>
                <a:latin typeface="Poppins"/>
                <a:ea typeface="Poppins"/>
                <a:cs typeface="Poppins"/>
                <a:sym typeface="Poppins"/>
              </a:rPr>
              <a:t>Damit die Maße korrekt übernommen werden, bitte die Maße der ausgeschnittenen Schlüsselkarte übernehmen.</a:t>
            </a:r>
          </a:p>
          <a:p>
            <a:pPr algn="l">
              <a:lnSpc>
                <a:spcPts val="3360"/>
              </a:lnSpc>
            </a:pPr>
            <a:endParaRPr lang="en-US" sz="2400">
              <a:solidFill>
                <a:srgbClr val="000000"/>
              </a:solidFill>
              <a:latin typeface="Poppins"/>
              <a:ea typeface="Poppins"/>
              <a:cs typeface="Poppins"/>
              <a:sym typeface="Poppins"/>
            </a:endParaRPr>
          </a:p>
          <a:p>
            <a:pPr algn="l">
              <a:lnSpc>
                <a:spcPts val="3360"/>
              </a:lnSpc>
            </a:pPr>
            <a:endParaRPr lang="en-US" sz="2400">
              <a:solidFill>
                <a:srgbClr val="000000"/>
              </a:solidFill>
              <a:latin typeface="Poppins"/>
              <a:ea typeface="Poppins"/>
              <a:cs typeface="Poppins"/>
              <a:sym typeface="Poppin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6F6F1"/>
        </a:solidFill>
        <a:effectLst/>
      </p:bgPr>
    </p:bg>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a:ln w="200025" cap="sq">
            <a:solidFill>
              <a:srgbClr val="EB4210"/>
            </a:solidFill>
            <a:prstDash val="solid"/>
            <a:miter/>
          </a:ln>
        </p:spPr>
        <p:txBody>
          <a:bodyPr/>
          <a:lstStyle/>
          <a:p>
            <a:endParaRPr lang="de-DE"/>
          </a:p>
        </p:txBody>
      </p:sp>
      <p:sp>
        <p:nvSpPr>
          <p:cNvPr id="3" name="Freeform 3"/>
          <p:cNvSpPr/>
          <p:nvPr/>
        </p:nvSpPr>
        <p:spPr>
          <a:xfrm>
            <a:off x="15314140" y="9001800"/>
            <a:ext cx="2787410" cy="1134302"/>
          </a:xfrm>
          <a:custGeom>
            <a:avLst/>
            <a:gdLst/>
            <a:ahLst/>
            <a:cxnLst/>
            <a:rect l="l" t="t" r="r" b="b"/>
            <a:pathLst>
              <a:path w="2787410" h="1134302">
                <a:moveTo>
                  <a:pt x="0" y="0"/>
                </a:moveTo>
                <a:lnTo>
                  <a:pt x="2787411" y="0"/>
                </a:lnTo>
                <a:lnTo>
                  <a:pt x="2787411" y="1134301"/>
                </a:lnTo>
                <a:lnTo>
                  <a:pt x="0" y="1134301"/>
                </a:lnTo>
                <a:lnTo>
                  <a:pt x="0" y="0"/>
                </a:lnTo>
                <a:close/>
              </a:path>
            </a:pathLst>
          </a:custGeom>
          <a:blipFill>
            <a:blip r:embed="rId3"/>
            <a:stretch>
              <a:fillRect/>
            </a:stretch>
          </a:blipFill>
        </p:spPr>
        <p:txBody>
          <a:bodyPr/>
          <a:lstStyle/>
          <a:p>
            <a:endParaRPr lang="de-DE"/>
          </a:p>
        </p:txBody>
      </p:sp>
      <p:sp>
        <p:nvSpPr>
          <p:cNvPr id="4" name="TextBox 4"/>
          <p:cNvSpPr txBox="1"/>
          <p:nvPr/>
        </p:nvSpPr>
        <p:spPr>
          <a:xfrm>
            <a:off x="1390898" y="1567064"/>
            <a:ext cx="15506205" cy="976052"/>
          </a:xfrm>
          <a:prstGeom prst="rect">
            <a:avLst/>
          </a:prstGeom>
        </p:spPr>
        <p:txBody>
          <a:bodyPr lIns="0" tIns="0" rIns="0" bIns="0" rtlCol="0" anchor="t">
            <a:spAutoFit/>
          </a:bodyPr>
          <a:lstStyle/>
          <a:p>
            <a:pPr algn="ctr">
              <a:lnSpc>
                <a:spcPts val="7626"/>
              </a:lnSpc>
            </a:pPr>
            <a:r>
              <a:rPr lang="en-US" sz="5447" b="1">
                <a:solidFill>
                  <a:srgbClr val="E8440B"/>
                </a:solidFill>
                <a:latin typeface="Poppins Bold"/>
                <a:ea typeface="Poppins Bold"/>
                <a:cs typeface="Poppins Bold"/>
                <a:sym typeface="Poppins Bold"/>
              </a:rPr>
              <a:t>3D-Druck: Checkliste </a:t>
            </a:r>
          </a:p>
        </p:txBody>
      </p:sp>
      <p:sp>
        <p:nvSpPr>
          <p:cNvPr id="5" name="Freeform 5"/>
          <p:cNvSpPr/>
          <p:nvPr/>
        </p:nvSpPr>
        <p:spPr>
          <a:xfrm rot="-5400000">
            <a:off x="15408372" y="311379"/>
            <a:ext cx="2598946" cy="2537221"/>
          </a:xfrm>
          <a:custGeom>
            <a:avLst/>
            <a:gdLst/>
            <a:ahLst/>
            <a:cxnLst/>
            <a:rect l="l" t="t" r="r" b="b"/>
            <a:pathLst>
              <a:path w="2598946" h="2537221">
                <a:moveTo>
                  <a:pt x="0" y="0"/>
                </a:moveTo>
                <a:lnTo>
                  <a:pt x="2598946" y="0"/>
                </a:lnTo>
                <a:lnTo>
                  <a:pt x="2598946" y="2537221"/>
                </a:lnTo>
                <a:lnTo>
                  <a:pt x="0" y="253722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6" name="TextBox 6"/>
          <p:cNvSpPr txBox="1"/>
          <p:nvPr/>
        </p:nvSpPr>
        <p:spPr>
          <a:xfrm>
            <a:off x="605767" y="2812788"/>
            <a:ext cx="17068632" cy="6292213"/>
          </a:xfrm>
          <a:prstGeom prst="rect">
            <a:avLst/>
          </a:prstGeom>
        </p:spPr>
        <p:txBody>
          <a:bodyPr lIns="0" tIns="0" rIns="0" bIns="0" rtlCol="0" anchor="t">
            <a:spAutoFit/>
          </a:bodyPr>
          <a:lstStyle/>
          <a:p>
            <a:pPr marL="518176" lvl="1" indent="-259088" algn="l">
              <a:lnSpc>
                <a:spcPts val="3360"/>
              </a:lnSpc>
              <a:buFont typeface="Arial"/>
              <a:buChar char="•"/>
            </a:pPr>
            <a:r>
              <a:rPr lang="en-US" sz="2400" b="1">
                <a:solidFill>
                  <a:srgbClr val="000000"/>
                </a:solidFill>
                <a:latin typeface="Poppins Bold"/>
                <a:ea typeface="Poppins Bold"/>
                <a:cs typeface="Poppins Bold"/>
                <a:sym typeface="Poppins Bold"/>
              </a:rPr>
              <a:t>Digitale Tools inkl. der ggf. notwendigen Software:</a:t>
            </a:r>
          </a:p>
          <a:p>
            <a:pPr marL="1036352" lvl="2" indent="-345451" algn="l">
              <a:lnSpc>
                <a:spcPts val="3360"/>
              </a:lnSpc>
              <a:buFont typeface="Arial"/>
              <a:buChar char="⚬"/>
            </a:pPr>
            <a:r>
              <a:rPr lang="en-US" sz="2400">
                <a:solidFill>
                  <a:srgbClr val="000000"/>
                </a:solidFill>
                <a:latin typeface="Poppins"/>
                <a:ea typeface="Poppins"/>
                <a:cs typeface="Poppins"/>
                <a:sym typeface="Poppins"/>
              </a:rPr>
              <a:t>3D-Drucker, Slicing-App und PLA </a:t>
            </a:r>
          </a:p>
          <a:p>
            <a:pPr marL="1036352" lvl="2" indent="-345451" algn="l">
              <a:lnSpc>
                <a:spcPts val="3360"/>
              </a:lnSpc>
              <a:buFont typeface="Arial"/>
              <a:buChar char="⚬"/>
            </a:pPr>
            <a:r>
              <a:rPr lang="en-US" sz="2400">
                <a:solidFill>
                  <a:srgbClr val="000000"/>
                </a:solidFill>
                <a:latin typeface="Poppins"/>
                <a:ea typeface="Poppins"/>
                <a:cs typeface="Poppins"/>
                <a:sym typeface="Poppins"/>
              </a:rPr>
              <a:t>TinkerCad Account, idealerweise mit einem eingerichteten Lehrkräfte-Zugang, um Teilnehmenden über QR-Code in ein Klassenzimmer mit USB-Vorlage einzuladen</a:t>
            </a:r>
          </a:p>
          <a:p>
            <a:pPr marL="1036352" lvl="2" indent="-345451" algn="l">
              <a:lnSpc>
                <a:spcPts val="3360"/>
              </a:lnSpc>
              <a:buFont typeface="Arial"/>
              <a:buChar char="⚬"/>
            </a:pPr>
            <a:r>
              <a:rPr lang="en-US" sz="2400">
                <a:solidFill>
                  <a:srgbClr val="000000"/>
                </a:solidFill>
                <a:latin typeface="Poppins"/>
                <a:ea typeface="Poppins"/>
                <a:cs typeface="Poppins"/>
                <a:sym typeface="Poppins"/>
              </a:rPr>
              <a:t>Tablet oder Notebook zur Gestaltung in TinkerCad </a:t>
            </a:r>
          </a:p>
          <a:p>
            <a:pPr algn="l">
              <a:lnSpc>
                <a:spcPts val="3360"/>
              </a:lnSpc>
            </a:pPr>
            <a:r>
              <a:rPr lang="en-US" sz="2400">
                <a:solidFill>
                  <a:srgbClr val="000000"/>
                </a:solidFill>
                <a:latin typeface="Poppins"/>
                <a:ea typeface="Poppins"/>
                <a:cs typeface="Poppins"/>
                <a:sym typeface="Poppins"/>
              </a:rPr>
              <a:t> </a:t>
            </a:r>
          </a:p>
          <a:p>
            <a:pPr marL="518176" lvl="1" indent="-259088" algn="l">
              <a:lnSpc>
                <a:spcPts val="3360"/>
              </a:lnSpc>
              <a:buFont typeface="Arial"/>
              <a:buChar char="•"/>
            </a:pPr>
            <a:r>
              <a:rPr lang="en-US" sz="2400" b="1">
                <a:solidFill>
                  <a:srgbClr val="000000"/>
                </a:solidFill>
                <a:latin typeface="Poppins Bold"/>
                <a:ea typeface="Poppins Bold"/>
                <a:cs typeface="Poppins Bold"/>
                <a:sym typeface="Poppins Bold"/>
              </a:rPr>
              <a:t>Druckmaterial:</a:t>
            </a:r>
          </a:p>
          <a:p>
            <a:pPr marL="1036352" lvl="2" indent="-345451" algn="l">
              <a:lnSpc>
                <a:spcPts val="3360"/>
              </a:lnSpc>
              <a:buFont typeface="Arial"/>
              <a:buChar char="⚬"/>
            </a:pPr>
            <a:r>
              <a:rPr lang="en-US" sz="2400">
                <a:solidFill>
                  <a:srgbClr val="000000"/>
                </a:solidFill>
                <a:latin typeface="Poppins"/>
                <a:ea typeface="Poppins"/>
                <a:cs typeface="Poppins"/>
                <a:sym typeface="Poppins"/>
              </a:rPr>
              <a:t>Stationsschild</a:t>
            </a:r>
          </a:p>
          <a:p>
            <a:pPr marL="1036352" lvl="2" indent="-345451" algn="l">
              <a:lnSpc>
                <a:spcPts val="3360"/>
              </a:lnSpc>
              <a:buFont typeface="Arial"/>
              <a:buChar char="⚬"/>
            </a:pPr>
            <a:r>
              <a:rPr lang="en-US" sz="2400">
                <a:solidFill>
                  <a:srgbClr val="000000"/>
                </a:solidFill>
                <a:latin typeface="Poppins"/>
                <a:ea typeface="Poppins"/>
                <a:cs typeface="Poppins"/>
                <a:sym typeface="Poppins"/>
              </a:rPr>
              <a:t>Aufgabentext des Meisterdiebs zum analogen Nachlesen (optional) </a:t>
            </a:r>
          </a:p>
          <a:p>
            <a:pPr marL="1036352" lvl="2" indent="-345451" algn="l">
              <a:lnSpc>
                <a:spcPts val="3360"/>
              </a:lnSpc>
              <a:buFont typeface="Arial"/>
              <a:buChar char="⚬"/>
            </a:pPr>
            <a:r>
              <a:rPr lang="en-US" sz="2400">
                <a:solidFill>
                  <a:srgbClr val="000000"/>
                </a:solidFill>
                <a:latin typeface="Poppins"/>
                <a:ea typeface="Poppins"/>
                <a:cs typeface="Poppins"/>
                <a:sym typeface="Poppins"/>
              </a:rPr>
              <a:t>Bilder laminieren für Wiederverwendung</a:t>
            </a:r>
          </a:p>
          <a:p>
            <a:pPr marL="1036352" lvl="2" indent="-345451" algn="l">
              <a:lnSpc>
                <a:spcPts val="3360"/>
              </a:lnSpc>
              <a:buFont typeface="Arial"/>
              <a:buChar char="⚬"/>
            </a:pPr>
            <a:r>
              <a:rPr lang="en-US" sz="2400">
                <a:solidFill>
                  <a:srgbClr val="000000"/>
                </a:solidFill>
                <a:latin typeface="Poppins"/>
                <a:ea typeface="Poppins"/>
                <a:cs typeface="Poppins"/>
                <a:sym typeface="Poppins"/>
              </a:rPr>
              <a:t>QR-Code, der zur Ergebnis-TaskCard mit Schreibrecht für die Teilnehmenden führt</a:t>
            </a:r>
          </a:p>
          <a:p>
            <a:pPr algn="l">
              <a:lnSpc>
                <a:spcPts val="3360"/>
              </a:lnSpc>
            </a:pPr>
            <a:endParaRPr lang="en-US" sz="2400">
              <a:solidFill>
                <a:srgbClr val="000000"/>
              </a:solidFill>
              <a:latin typeface="Poppins"/>
              <a:ea typeface="Poppins"/>
              <a:cs typeface="Poppins"/>
              <a:sym typeface="Poppins"/>
            </a:endParaRPr>
          </a:p>
          <a:p>
            <a:pPr marL="518176" lvl="1" indent="-259088" algn="l">
              <a:lnSpc>
                <a:spcPts val="3360"/>
              </a:lnSpc>
              <a:buFont typeface="Arial"/>
              <a:buChar char="•"/>
            </a:pPr>
            <a:r>
              <a:rPr lang="en-US" sz="2400" b="1">
                <a:solidFill>
                  <a:srgbClr val="000000"/>
                </a:solidFill>
                <a:latin typeface="Poppins Bold"/>
                <a:ea typeface="Poppins Bold"/>
                <a:cs typeface="Poppins Bold"/>
                <a:sym typeface="Poppins Bold"/>
              </a:rPr>
              <a:t> Arbeitsmaterial:</a:t>
            </a:r>
          </a:p>
          <a:p>
            <a:pPr marL="1036352" lvl="2" indent="-345451" algn="l">
              <a:lnSpc>
                <a:spcPts val="3360"/>
              </a:lnSpc>
              <a:buFont typeface="Arial"/>
              <a:buChar char="⚬"/>
            </a:pPr>
            <a:r>
              <a:rPr lang="en-US" sz="2400">
                <a:solidFill>
                  <a:srgbClr val="000000"/>
                </a:solidFill>
                <a:latin typeface="Poppins"/>
                <a:ea typeface="Poppins"/>
                <a:cs typeface="Poppins"/>
                <a:sym typeface="Poppins"/>
              </a:rPr>
              <a:t>ggf. Stift zu Tablet</a:t>
            </a:r>
          </a:p>
          <a:p>
            <a:pPr algn="l">
              <a:lnSpc>
                <a:spcPts val="3360"/>
              </a:lnSpc>
            </a:pPr>
            <a:endParaRPr lang="en-US" sz="2400">
              <a:solidFill>
                <a:srgbClr val="000000"/>
              </a:solidFill>
              <a:latin typeface="Poppins"/>
              <a:ea typeface="Poppins"/>
              <a:cs typeface="Poppins"/>
              <a:sym typeface="Poppin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6F6F1"/>
        </a:solidFill>
        <a:effectLst/>
      </p:bgPr>
    </p:bg>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a:ln w="200025" cap="sq">
            <a:solidFill>
              <a:srgbClr val="EB4210"/>
            </a:solidFill>
            <a:prstDash val="solid"/>
            <a:miter/>
          </a:ln>
        </p:spPr>
        <p:txBody>
          <a:bodyPr/>
          <a:lstStyle/>
          <a:p>
            <a:endParaRPr lang="de-DE"/>
          </a:p>
        </p:txBody>
      </p:sp>
      <p:sp>
        <p:nvSpPr>
          <p:cNvPr id="3" name="Freeform 3"/>
          <p:cNvSpPr/>
          <p:nvPr/>
        </p:nvSpPr>
        <p:spPr>
          <a:xfrm>
            <a:off x="15314140" y="9001800"/>
            <a:ext cx="2787410" cy="1134302"/>
          </a:xfrm>
          <a:custGeom>
            <a:avLst/>
            <a:gdLst/>
            <a:ahLst/>
            <a:cxnLst/>
            <a:rect l="l" t="t" r="r" b="b"/>
            <a:pathLst>
              <a:path w="2787410" h="1134302">
                <a:moveTo>
                  <a:pt x="0" y="0"/>
                </a:moveTo>
                <a:lnTo>
                  <a:pt x="2787411" y="0"/>
                </a:lnTo>
                <a:lnTo>
                  <a:pt x="2787411" y="1134301"/>
                </a:lnTo>
                <a:lnTo>
                  <a:pt x="0" y="1134301"/>
                </a:lnTo>
                <a:lnTo>
                  <a:pt x="0" y="0"/>
                </a:lnTo>
                <a:close/>
              </a:path>
            </a:pathLst>
          </a:custGeom>
          <a:blipFill>
            <a:blip r:embed="rId3"/>
            <a:stretch>
              <a:fillRect/>
            </a:stretch>
          </a:blipFill>
        </p:spPr>
        <p:txBody>
          <a:bodyPr/>
          <a:lstStyle/>
          <a:p>
            <a:endParaRPr lang="de-DE"/>
          </a:p>
        </p:txBody>
      </p:sp>
      <p:sp>
        <p:nvSpPr>
          <p:cNvPr id="4" name="TextBox 4"/>
          <p:cNvSpPr txBox="1"/>
          <p:nvPr/>
        </p:nvSpPr>
        <p:spPr>
          <a:xfrm>
            <a:off x="1390898" y="1567064"/>
            <a:ext cx="15506205" cy="976052"/>
          </a:xfrm>
          <a:prstGeom prst="rect">
            <a:avLst/>
          </a:prstGeom>
        </p:spPr>
        <p:txBody>
          <a:bodyPr lIns="0" tIns="0" rIns="0" bIns="0" rtlCol="0" anchor="t">
            <a:spAutoFit/>
          </a:bodyPr>
          <a:lstStyle/>
          <a:p>
            <a:pPr algn="ctr">
              <a:lnSpc>
                <a:spcPts val="7626"/>
              </a:lnSpc>
            </a:pPr>
            <a:r>
              <a:rPr lang="en-US" sz="5447" b="1">
                <a:solidFill>
                  <a:srgbClr val="E8440B"/>
                </a:solidFill>
                <a:latin typeface="Poppins Bold"/>
                <a:ea typeface="Poppins Bold"/>
                <a:cs typeface="Poppins Bold"/>
                <a:sym typeface="Poppins Bold"/>
              </a:rPr>
              <a:t>3D-Druck: Umsetzung </a:t>
            </a:r>
          </a:p>
        </p:txBody>
      </p:sp>
      <p:sp>
        <p:nvSpPr>
          <p:cNvPr id="5" name="Freeform 5"/>
          <p:cNvSpPr/>
          <p:nvPr/>
        </p:nvSpPr>
        <p:spPr>
          <a:xfrm rot="-5400000">
            <a:off x="15408372" y="311379"/>
            <a:ext cx="2598946" cy="2537221"/>
          </a:xfrm>
          <a:custGeom>
            <a:avLst/>
            <a:gdLst/>
            <a:ahLst/>
            <a:cxnLst/>
            <a:rect l="l" t="t" r="r" b="b"/>
            <a:pathLst>
              <a:path w="2598946" h="2537221">
                <a:moveTo>
                  <a:pt x="0" y="0"/>
                </a:moveTo>
                <a:lnTo>
                  <a:pt x="2598946" y="0"/>
                </a:lnTo>
                <a:lnTo>
                  <a:pt x="2598946" y="2537221"/>
                </a:lnTo>
                <a:lnTo>
                  <a:pt x="0" y="253722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6" name="TextBox 6"/>
          <p:cNvSpPr txBox="1"/>
          <p:nvPr/>
        </p:nvSpPr>
        <p:spPr>
          <a:xfrm>
            <a:off x="605767" y="2812788"/>
            <a:ext cx="17068632" cy="7549513"/>
          </a:xfrm>
          <a:prstGeom prst="rect">
            <a:avLst/>
          </a:prstGeom>
        </p:spPr>
        <p:txBody>
          <a:bodyPr lIns="0" tIns="0" rIns="0" bIns="0" rtlCol="0" anchor="t">
            <a:spAutoFit/>
          </a:bodyPr>
          <a:lstStyle/>
          <a:p>
            <a:pPr marL="518176" lvl="1" indent="-259088" algn="l">
              <a:lnSpc>
                <a:spcPts val="3360"/>
              </a:lnSpc>
              <a:buFont typeface="Arial"/>
              <a:buChar char="•"/>
            </a:pPr>
            <a:r>
              <a:rPr lang="en-US" sz="2400" b="1">
                <a:solidFill>
                  <a:srgbClr val="000000"/>
                </a:solidFill>
                <a:latin typeface="Poppins Bold"/>
                <a:ea typeface="Poppins Bold"/>
                <a:cs typeface="Poppins Bold"/>
                <a:sym typeface="Poppins Bold"/>
              </a:rPr>
              <a:t>Rätsel &amp; Aufgabe: Findet heraus, wie der USB-Stick gestaltet werden muss und erstellt einen Doppelgänger-USB Stick</a:t>
            </a:r>
          </a:p>
          <a:p>
            <a:pPr marL="1036352" lvl="2" indent="-345451" algn="l">
              <a:lnSpc>
                <a:spcPts val="3360"/>
              </a:lnSpc>
              <a:buFont typeface="Arial"/>
              <a:buChar char="⚬"/>
            </a:pPr>
            <a:r>
              <a:rPr lang="en-US" sz="2400">
                <a:solidFill>
                  <a:srgbClr val="000000"/>
                </a:solidFill>
                <a:latin typeface="Poppins"/>
                <a:ea typeface="Poppins"/>
                <a:cs typeface="Poppins"/>
                <a:sym typeface="Poppins"/>
              </a:rPr>
              <a:t>Damit die TN den USB-Stick dem Original entsprechend gestalten können und eine Vorlage für den 3D-Druck erhalten, müssen sie zunächst unter 8 KI generierten Bildern 2 von Menschen erstellte Bilder erkennen. </a:t>
            </a:r>
            <a:r>
              <a:rPr lang="en-US" sz="2400" b="1">
                <a:solidFill>
                  <a:srgbClr val="000000"/>
                </a:solidFill>
                <a:latin typeface="Poppins Bold"/>
                <a:ea typeface="Poppins Bold"/>
                <a:cs typeface="Poppins Bold"/>
                <a:sym typeface="Poppins Bold"/>
              </a:rPr>
              <a:t>Hinweise für KI generierte Bilder:</a:t>
            </a:r>
          </a:p>
          <a:p>
            <a:pPr marL="1036352" lvl="2" indent="-345451" algn="l">
              <a:lnSpc>
                <a:spcPts val="3360"/>
              </a:lnSpc>
              <a:buFont typeface="Arial"/>
              <a:buChar char="⚬"/>
            </a:pPr>
            <a:r>
              <a:rPr lang="en-US" sz="2400">
                <a:solidFill>
                  <a:srgbClr val="000000"/>
                </a:solidFill>
                <a:latin typeface="Poppins"/>
                <a:ea typeface="Poppins"/>
                <a:cs typeface="Poppins"/>
                <a:sym typeface="Poppins"/>
              </a:rPr>
              <a:t>Café 1: Menschen und Getränke sehen gleich aus, fehlerhafte Darstellung des Stuhls hinten im Bild</a:t>
            </a:r>
          </a:p>
          <a:p>
            <a:pPr marL="1036352" lvl="2" indent="-345451" algn="l">
              <a:lnSpc>
                <a:spcPts val="3360"/>
              </a:lnSpc>
              <a:buFont typeface="Arial"/>
              <a:buChar char="⚬"/>
            </a:pPr>
            <a:r>
              <a:rPr lang="en-US" sz="2400">
                <a:solidFill>
                  <a:srgbClr val="000000"/>
                </a:solidFill>
                <a:latin typeface="Poppins"/>
                <a:ea typeface="Poppins"/>
                <a:cs typeface="Poppins"/>
                <a:sym typeface="Poppins"/>
              </a:rPr>
              <a:t>Café 3: Doppelungen von Menschen</a:t>
            </a:r>
          </a:p>
          <a:p>
            <a:pPr marL="1036352" lvl="2" indent="-345451" algn="l">
              <a:lnSpc>
                <a:spcPts val="3360"/>
              </a:lnSpc>
              <a:buFont typeface="Arial"/>
              <a:buChar char="⚬"/>
            </a:pPr>
            <a:r>
              <a:rPr lang="en-US" sz="2400">
                <a:solidFill>
                  <a:srgbClr val="000000"/>
                </a:solidFill>
                <a:latin typeface="Poppins"/>
                <a:ea typeface="Poppins"/>
                <a:cs typeface="Poppins"/>
                <a:sym typeface="Poppins"/>
              </a:rPr>
              <a:t>Café 4: zwei Getränke vor Menschen und falsche Darstellung des Notausgangsschilds </a:t>
            </a:r>
          </a:p>
          <a:p>
            <a:pPr marL="1036352" lvl="2" indent="-345451" algn="l">
              <a:lnSpc>
                <a:spcPts val="3360"/>
              </a:lnSpc>
              <a:buFont typeface="Arial"/>
              <a:buChar char="⚬"/>
            </a:pPr>
            <a:r>
              <a:rPr lang="en-US" sz="2400">
                <a:solidFill>
                  <a:srgbClr val="000000"/>
                </a:solidFill>
                <a:latin typeface="Poppins"/>
                <a:ea typeface="Poppins"/>
                <a:cs typeface="Poppins"/>
                <a:sym typeface="Poppins"/>
              </a:rPr>
              <a:t>Bei den Alpakabildern ist es bewusst unmöglich, mit Sicherheit die KI generierten Bilder als solche zu enttarnen, da die KI kaum mehr Fehler macht</a:t>
            </a:r>
          </a:p>
          <a:p>
            <a:pPr marL="1036352" lvl="2" indent="-345451" algn="l">
              <a:lnSpc>
                <a:spcPts val="3360"/>
              </a:lnSpc>
              <a:buFont typeface="Arial"/>
              <a:buChar char="⚬"/>
            </a:pPr>
            <a:r>
              <a:rPr lang="en-US" sz="2400">
                <a:solidFill>
                  <a:srgbClr val="000000"/>
                </a:solidFill>
                <a:latin typeface="Poppins"/>
                <a:ea typeface="Poppins"/>
                <a:cs typeface="Poppins"/>
                <a:sym typeface="Poppins"/>
              </a:rPr>
              <a:t>Alpaka 2: Schnauze erinnert an einen Hasen; Alpaka 3: Zähne nicht ganz richtig dargestellt</a:t>
            </a:r>
          </a:p>
          <a:p>
            <a:pPr algn="l">
              <a:lnSpc>
                <a:spcPts val="3360"/>
              </a:lnSpc>
            </a:pPr>
            <a:endParaRPr lang="en-US" sz="2400">
              <a:solidFill>
                <a:srgbClr val="000000"/>
              </a:solidFill>
              <a:latin typeface="Poppins"/>
              <a:ea typeface="Poppins"/>
              <a:cs typeface="Poppins"/>
              <a:sym typeface="Poppins"/>
            </a:endParaRPr>
          </a:p>
          <a:p>
            <a:pPr marL="518176" lvl="1" indent="-259088" algn="l">
              <a:lnSpc>
                <a:spcPts val="3360"/>
              </a:lnSpc>
              <a:buFont typeface="Arial"/>
              <a:buChar char="•"/>
            </a:pPr>
            <a:r>
              <a:rPr lang="en-US" sz="2400" b="1">
                <a:solidFill>
                  <a:srgbClr val="000000"/>
                </a:solidFill>
                <a:latin typeface="Poppins Bold"/>
                <a:ea typeface="Poppins Bold"/>
                <a:cs typeface="Poppins Bold"/>
                <a:sym typeface="Poppins Bold"/>
              </a:rPr>
              <a:t>Auflösung: Der Stick soll mit einem Herzen als Symbol gestaltet werden.</a:t>
            </a:r>
          </a:p>
          <a:p>
            <a:pPr marL="1036352" lvl="2" indent="-345451" algn="l">
              <a:lnSpc>
                <a:spcPts val="3360"/>
              </a:lnSpc>
              <a:buFont typeface="Arial"/>
              <a:buChar char="⚬"/>
            </a:pPr>
            <a:r>
              <a:rPr lang="en-US" sz="2400">
                <a:solidFill>
                  <a:srgbClr val="000000"/>
                </a:solidFill>
                <a:latin typeface="Poppins"/>
                <a:ea typeface="Poppins"/>
                <a:cs typeface="Poppins"/>
                <a:sym typeface="Poppins"/>
              </a:rPr>
              <a:t>Café Bilder: Herz Symbol</a:t>
            </a:r>
          </a:p>
          <a:p>
            <a:pPr marL="1036352" lvl="2" indent="-345451" algn="l">
              <a:lnSpc>
                <a:spcPts val="3360"/>
              </a:lnSpc>
              <a:buFont typeface="Arial"/>
              <a:buChar char="⚬"/>
            </a:pPr>
            <a:r>
              <a:rPr lang="en-US" sz="2400">
                <a:solidFill>
                  <a:srgbClr val="000000"/>
                </a:solidFill>
                <a:latin typeface="Poppins"/>
                <a:ea typeface="Poppins"/>
                <a:cs typeface="Poppins"/>
                <a:sym typeface="Poppins"/>
              </a:rPr>
              <a:t>Alpaka Bilder: ROT</a:t>
            </a:r>
          </a:p>
          <a:p>
            <a:pPr algn="l">
              <a:lnSpc>
                <a:spcPts val="3360"/>
              </a:lnSpc>
            </a:pPr>
            <a:endParaRPr lang="en-US" sz="2400">
              <a:solidFill>
                <a:srgbClr val="000000"/>
              </a:solidFill>
              <a:latin typeface="Poppins"/>
              <a:ea typeface="Poppins"/>
              <a:cs typeface="Poppins"/>
              <a:sym typeface="Poppins"/>
            </a:endParaRPr>
          </a:p>
          <a:p>
            <a:pPr marL="518176" lvl="1" indent="-259088" algn="l">
              <a:lnSpc>
                <a:spcPts val="3360"/>
              </a:lnSpc>
              <a:buFont typeface="Arial"/>
              <a:buChar char="•"/>
            </a:pPr>
            <a:r>
              <a:rPr lang="en-US" sz="2400" b="1">
                <a:solidFill>
                  <a:srgbClr val="000000"/>
                </a:solidFill>
                <a:latin typeface="Poppins Bold"/>
                <a:ea typeface="Poppins Bold"/>
                <a:cs typeface="Poppins Bold"/>
                <a:sym typeface="Poppins Bold"/>
              </a:rPr>
              <a:t>Learning-App Lösungswort: rot / ROT</a:t>
            </a:r>
          </a:p>
          <a:p>
            <a:pPr algn="l">
              <a:lnSpc>
                <a:spcPts val="3360"/>
              </a:lnSpc>
            </a:pPr>
            <a:endParaRPr lang="en-US" sz="2400" b="1">
              <a:solidFill>
                <a:srgbClr val="000000"/>
              </a:solidFill>
              <a:latin typeface="Poppins Bold"/>
              <a:ea typeface="Poppins Bold"/>
              <a:cs typeface="Poppins Bold"/>
              <a:sym typeface="Poppins Bold"/>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6F6F1"/>
        </a:solidFill>
        <a:effectLst/>
      </p:bgPr>
    </p:bg>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a:ln w="200025" cap="sq">
            <a:solidFill>
              <a:srgbClr val="EB4210"/>
            </a:solidFill>
            <a:prstDash val="solid"/>
            <a:miter/>
          </a:ln>
        </p:spPr>
        <p:txBody>
          <a:bodyPr/>
          <a:lstStyle/>
          <a:p>
            <a:endParaRPr lang="de-DE"/>
          </a:p>
        </p:txBody>
      </p:sp>
      <p:sp>
        <p:nvSpPr>
          <p:cNvPr id="3" name="Freeform 3"/>
          <p:cNvSpPr/>
          <p:nvPr/>
        </p:nvSpPr>
        <p:spPr>
          <a:xfrm>
            <a:off x="15314140" y="9001800"/>
            <a:ext cx="2787410" cy="1134302"/>
          </a:xfrm>
          <a:custGeom>
            <a:avLst/>
            <a:gdLst/>
            <a:ahLst/>
            <a:cxnLst/>
            <a:rect l="l" t="t" r="r" b="b"/>
            <a:pathLst>
              <a:path w="2787410" h="1134302">
                <a:moveTo>
                  <a:pt x="0" y="0"/>
                </a:moveTo>
                <a:lnTo>
                  <a:pt x="2787411" y="0"/>
                </a:lnTo>
                <a:lnTo>
                  <a:pt x="2787411" y="1134301"/>
                </a:lnTo>
                <a:lnTo>
                  <a:pt x="0" y="1134301"/>
                </a:lnTo>
                <a:lnTo>
                  <a:pt x="0" y="0"/>
                </a:lnTo>
                <a:close/>
              </a:path>
            </a:pathLst>
          </a:custGeom>
          <a:blipFill>
            <a:blip r:embed="rId3"/>
            <a:stretch>
              <a:fillRect/>
            </a:stretch>
          </a:blipFill>
        </p:spPr>
        <p:txBody>
          <a:bodyPr/>
          <a:lstStyle/>
          <a:p>
            <a:endParaRPr lang="de-DE"/>
          </a:p>
        </p:txBody>
      </p:sp>
      <p:sp>
        <p:nvSpPr>
          <p:cNvPr id="4" name="TextBox 4"/>
          <p:cNvSpPr txBox="1"/>
          <p:nvPr/>
        </p:nvSpPr>
        <p:spPr>
          <a:xfrm>
            <a:off x="1390898" y="1567064"/>
            <a:ext cx="15506205" cy="976052"/>
          </a:xfrm>
          <a:prstGeom prst="rect">
            <a:avLst/>
          </a:prstGeom>
        </p:spPr>
        <p:txBody>
          <a:bodyPr lIns="0" tIns="0" rIns="0" bIns="0" rtlCol="0" anchor="t">
            <a:spAutoFit/>
          </a:bodyPr>
          <a:lstStyle/>
          <a:p>
            <a:pPr algn="ctr">
              <a:lnSpc>
                <a:spcPts val="7626"/>
              </a:lnSpc>
            </a:pPr>
            <a:r>
              <a:rPr lang="en-US" sz="5447" b="1">
                <a:solidFill>
                  <a:srgbClr val="E8440B"/>
                </a:solidFill>
                <a:latin typeface="Poppins Bold"/>
                <a:ea typeface="Poppins Bold"/>
                <a:cs typeface="Poppins Bold"/>
                <a:sym typeface="Poppins Bold"/>
              </a:rPr>
              <a:t>Robotik: Checkliste</a:t>
            </a:r>
          </a:p>
        </p:txBody>
      </p:sp>
      <p:grpSp>
        <p:nvGrpSpPr>
          <p:cNvPr id="5" name="Group 5"/>
          <p:cNvGrpSpPr/>
          <p:nvPr/>
        </p:nvGrpSpPr>
        <p:grpSpPr>
          <a:xfrm>
            <a:off x="15131182" y="276736"/>
            <a:ext cx="2970369" cy="2612252"/>
            <a:chOff x="0" y="0"/>
            <a:chExt cx="3960491" cy="3483003"/>
          </a:xfrm>
        </p:grpSpPr>
        <p:sp>
          <p:nvSpPr>
            <p:cNvPr id="6" name="Freeform 6"/>
            <p:cNvSpPr/>
            <p:nvPr/>
          </p:nvSpPr>
          <p:spPr>
            <a:xfrm rot="7057943">
              <a:off x="2693451" y="2198216"/>
              <a:ext cx="1055295" cy="1116714"/>
            </a:xfrm>
            <a:custGeom>
              <a:avLst/>
              <a:gdLst/>
              <a:ahLst/>
              <a:cxnLst/>
              <a:rect l="l" t="t" r="r" b="b"/>
              <a:pathLst>
                <a:path w="1055295" h="1116714">
                  <a:moveTo>
                    <a:pt x="0" y="0"/>
                  </a:moveTo>
                  <a:lnTo>
                    <a:pt x="1055295" y="0"/>
                  </a:lnTo>
                  <a:lnTo>
                    <a:pt x="1055295" y="1116715"/>
                  </a:lnTo>
                  <a:lnTo>
                    <a:pt x="0" y="1116715"/>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7" name="Freeform 7"/>
            <p:cNvSpPr/>
            <p:nvPr/>
          </p:nvSpPr>
          <p:spPr>
            <a:xfrm rot="58956">
              <a:off x="27412" y="23805"/>
              <a:ext cx="2803904" cy="3221021"/>
            </a:xfrm>
            <a:custGeom>
              <a:avLst/>
              <a:gdLst/>
              <a:ahLst/>
              <a:cxnLst/>
              <a:rect l="l" t="t" r="r" b="b"/>
              <a:pathLst>
                <a:path w="2803904" h="3221021">
                  <a:moveTo>
                    <a:pt x="0" y="0"/>
                  </a:moveTo>
                  <a:lnTo>
                    <a:pt x="2803905" y="0"/>
                  </a:lnTo>
                  <a:lnTo>
                    <a:pt x="2803905" y="3221021"/>
                  </a:lnTo>
                  <a:lnTo>
                    <a:pt x="0" y="3221021"/>
                  </a:lnTo>
                  <a:lnTo>
                    <a:pt x="0" y="0"/>
                  </a:lnTo>
                  <a:close/>
                </a:path>
              </a:pathLst>
            </a:custGeom>
            <a:blipFill>
              <a:blip>
                <a:extLst>
                  <a:ext uri="{96DAC541-7B7A-43D3-8B79-37D633B846F1}">
                    <asvg:svgBlip xmlns:asvg="http://schemas.microsoft.com/office/drawing/2016/SVG/main" r:embed="rId5"/>
                  </a:ext>
                </a:extLst>
              </a:blip>
              <a:stretch>
                <a:fillRect r="-2389" b="-11123"/>
              </a:stretch>
            </a:blipFill>
          </p:spPr>
          <p:txBody>
            <a:bodyPr/>
            <a:lstStyle/>
            <a:p>
              <a:endParaRPr lang="de-DE"/>
            </a:p>
          </p:txBody>
        </p:sp>
      </p:grpSp>
      <p:sp>
        <p:nvSpPr>
          <p:cNvPr id="8" name="TextBox 8"/>
          <p:cNvSpPr txBox="1"/>
          <p:nvPr/>
        </p:nvSpPr>
        <p:spPr>
          <a:xfrm>
            <a:off x="605767" y="2812788"/>
            <a:ext cx="17068632" cy="6711313"/>
          </a:xfrm>
          <a:prstGeom prst="rect">
            <a:avLst/>
          </a:prstGeom>
        </p:spPr>
        <p:txBody>
          <a:bodyPr lIns="0" tIns="0" rIns="0" bIns="0" rtlCol="0" anchor="t">
            <a:spAutoFit/>
          </a:bodyPr>
          <a:lstStyle/>
          <a:p>
            <a:pPr marL="518176" lvl="1" indent="-259088" algn="l">
              <a:lnSpc>
                <a:spcPts val="3360"/>
              </a:lnSpc>
              <a:buFont typeface="Arial"/>
              <a:buChar char="•"/>
            </a:pPr>
            <a:r>
              <a:rPr lang="en-US" sz="2400" b="1">
                <a:solidFill>
                  <a:srgbClr val="000000"/>
                </a:solidFill>
                <a:latin typeface="Poppins Bold"/>
                <a:ea typeface="Poppins Bold"/>
                <a:cs typeface="Poppins Bold"/>
                <a:sym typeface="Poppins Bold"/>
              </a:rPr>
              <a:t>Digitale Tools inkl. der ggf. notwendigen Software:</a:t>
            </a:r>
          </a:p>
          <a:p>
            <a:pPr marL="1036352" lvl="2" indent="-345451" algn="l">
              <a:lnSpc>
                <a:spcPts val="3360"/>
              </a:lnSpc>
              <a:buFont typeface="Arial"/>
              <a:buChar char="⚬"/>
            </a:pPr>
            <a:r>
              <a:rPr lang="en-US" sz="2400">
                <a:solidFill>
                  <a:srgbClr val="000000"/>
                </a:solidFill>
                <a:latin typeface="Poppins"/>
                <a:ea typeface="Poppins"/>
                <a:cs typeface="Poppins"/>
                <a:sym typeface="Poppins"/>
              </a:rPr>
              <a:t>Roboter inkl. jeweiliger Steuerungsapp und Tablet</a:t>
            </a:r>
          </a:p>
          <a:p>
            <a:pPr marL="1036352" lvl="2" indent="-345451" algn="l">
              <a:lnSpc>
                <a:spcPts val="3360"/>
              </a:lnSpc>
              <a:buFont typeface="Arial"/>
              <a:buChar char="⚬"/>
            </a:pPr>
            <a:r>
              <a:rPr lang="en-US" sz="2400" b="1">
                <a:solidFill>
                  <a:srgbClr val="000000"/>
                </a:solidFill>
                <a:latin typeface="Poppins Bold"/>
                <a:ea typeface="Poppins Bold"/>
                <a:cs typeface="Poppins Bold"/>
                <a:sym typeface="Poppins Bold"/>
              </a:rPr>
              <a:t>mBot 2 </a:t>
            </a:r>
            <a:r>
              <a:rPr lang="en-US" sz="2400">
                <a:solidFill>
                  <a:srgbClr val="000000"/>
                </a:solidFill>
                <a:latin typeface="Poppins"/>
                <a:ea typeface="Poppins"/>
                <a:cs typeface="Poppins"/>
                <a:sym typeface="Poppins"/>
              </a:rPr>
              <a:t>Roboter, makeBlock-App (Anleitung für die Inbetriebnahme liegt im Stationsordner ab)</a:t>
            </a:r>
          </a:p>
          <a:p>
            <a:pPr marL="1036352" lvl="2" indent="-345451" algn="l">
              <a:lnSpc>
                <a:spcPts val="3360"/>
              </a:lnSpc>
              <a:buFont typeface="Arial"/>
              <a:buChar char="⚬"/>
            </a:pPr>
            <a:r>
              <a:rPr lang="en-US" sz="2400" b="1">
                <a:solidFill>
                  <a:srgbClr val="000000"/>
                </a:solidFill>
                <a:latin typeface="Poppins Bold"/>
                <a:ea typeface="Poppins Bold"/>
                <a:cs typeface="Poppins Bold"/>
                <a:sym typeface="Poppins Bold"/>
              </a:rPr>
              <a:t>Calliope mini V3</a:t>
            </a:r>
            <a:r>
              <a:rPr lang="en-US" sz="2400">
                <a:solidFill>
                  <a:srgbClr val="000000"/>
                </a:solidFill>
                <a:latin typeface="Poppins"/>
                <a:ea typeface="Poppins"/>
                <a:cs typeface="Poppins"/>
                <a:sym typeface="Poppins"/>
              </a:rPr>
              <a:t> mit Motionkit, App Calliope mini inkl. vorbereiteter Aufgabe </a:t>
            </a:r>
            <a:r>
              <a:rPr lang="en-US" sz="2400" u="sng">
                <a:solidFill>
                  <a:srgbClr val="000000"/>
                </a:solidFill>
                <a:latin typeface="Poppins"/>
                <a:ea typeface="Poppins"/>
                <a:cs typeface="Poppins"/>
                <a:sym typeface="Poppins"/>
                <a:hlinkClick r:id="rId6" tooltip="https://makecode.calliope.cc/68714-02467-53095-15506"/>
              </a:rPr>
              <a:t>https://makecode.calliope.cc/_WRT0vUMf35kA</a:t>
            </a:r>
          </a:p>
          <a:p>
            <a:pPr algn="l">
              <a:lnSpc>
                <a:spcPts val="3360"/>
              </a:lnSpc>
            </a:pPr>
            <a:r>
              <a:rPr lang="en-US" sz="2400">
                <a:solidFill>
                  <a:srgbClr val="000000"/>
                </a:solidFill>
                <a:latin typeface="Poppins"/>
                <a:ea typeface="Poppins"/>
                <a:cs typeface="Poppins"/>
                <a:sym typeface="Poppins"/>
              </a:rPr>
              <a:t> </a:t>
            </a:r>
          </a:p>
          <a:p>
            <a:pPr marL="518176" lvl="1" indent="-259088" algn="l">
              <a:lnSpc>
                <a:spcPts val="3360"/>
              </a:lnSpc>
              <a:buFont typeface="Arial"/>
              <a:buChar char="•"/>
            </a:pPr>
            <a:r>
              <a:rPr lang="en-US" sz="2400" b="1">
                <a:solidFill>
                  <a:srgbClr val="000000"/>
                </a:solidFill>
                <a:latin typeface="Poppins Bold"/>
                <a:ea typeface="Poppins Bold"/>
                <a:cs typeface="Poppins Bold"/>
                <a:sym typeface="Poppins Bold"/>
              </a:rPr>
              <a:t>Druckmaterial:</a:t>
            </a:r>
          </a:p>
          <a:p>
            <a:pPr marL="1036352" lvl="2" indent="-345451" algn="l">
              <a:lnSpc>
                <a:spcPts val="3360"/>
              </a:lnSpc>
              <a:buFont typeface="Arial"/>
              <a:buChar char="⚬"/>
            </a:pPr>
            <a:r>
              <a:rPr lang="en-US" sz="2400">
                <a:solidFill>
                  <a:srgbClr val="000000"/>
                </a:solidFill>
                <a:latin typeface="Poppins"/>
                <a:ea typeface="Poppins"/>
                <a:cs typeface="Poppins"/>
                <a:sym typeface="Poppins"/>
              </a:rPr>
              <a:t>Stationsschild</a:t>
            </a:r>
          </a:p>
          <a:p>
            <a:pPr marL="1036352" lvl="2" indent="-345451" algn="l">
              <a:lnSpc>
                <a:spcPts val="3360"/>
              </a:lnSpc>
              <a:buFont typeface="Arial"/>
              <a:buChar char="⚬"/>
            </a:pPr>
            <a:r>
              <a:rPr lang="en-US" sz="2400">
                <a:solidFill>
                  <a:srgbClr val="000000"/>
                </a:solidFill>
                <a:latin typeface="Poppins"/>
                <a:ea typeface="Poppins"/>
                <a:cs typeface="Poppins"/>
                <a:sym typeface="Poppins"/>
              </a:rPr>
              <a:t>Aufgabentext des Meisterdiebs zum analogen Nachlesen (optional) </a:t>
            </a:r>
          </a:p>
          <a:p>
            <a:pPr marL="1036352" lvl="2" indent="-345451" algn="l">
              <a:lnSpc>
                <a:spcPts val="3360"/>
              </a:lnSpc>
              <a:buFont typeface="Arial"/>
              <a:buChar char="⚬"/>
            </a:pPr>
            <a:r>
              <a:rPr lang="en-US" sz="2400">
                <a:solidFill>
                  <a:srgbClr val="000000"/>
                </a:solidFill>
                <a:latin typeface="Poppins"/>
                <a:ea typeface="Poppins"/>
                <a:cs typeface="Poppins"/>
                <a:sym typeface="Poppins"/>
              </a:rPr>
              <a:t>Bodenmatte (Druck auf großer Plane) </a:t>
            </a:r>
          </a:p>
          <a:p>
            <a:pPr marL="1036352" lvl="2" indent="-345451" algn="l">
              <a:lnSpc>
                <a:spcPts val="3360"/>
              </a:lnSpc>
              <a:buFont typeface="Arial"/>
              <a:buChar char="⚬"/>
            </a:pPr>
            <a:r>
              <a:rPr lang="en-US" sz="2400">
                <a:solidFill>
                  <a:srgbClr val="000000"/>
                </a:solidFill>
                <a:latin typeface="Poppins"/>
                <a:ea typeface="Poppins"/>
                <a:cs typeface="Poppins"/>
                <a:sym typeface="Poppins"/>
              </a:rPr>
              <a:t>Bodenplättchen, laminieren für Wiederverwendung</a:t>
            </a:r>
          </a:p>
          <a:p>
            <a:pPr marL="1036352" lvl="2" indent="-345451" algn="l">
              <a:lnSpc>
                <a:spcPts val="3360"/>
              </a:lnSpc>
              <a:buFont typeface="Arial"/>
              <a:buChar char="⚬"/>
            </a:pPr>
            <a:r>
              <a:rPr lang="en-US" sz="2400">
                <a:solidFill>
                  <a:srgbClr val="000000"/>
                </a:solidFill>
                <a:latin typeface="Poppins"/>
                <a:ea typeface="Poppins"/>
                <a:cs typeface="Poppins"/>
                <a:sym typeface="Poppins"/>
              </a:rPr>
              <a:t>Tipp-Karten laminieren</a:t>
            </a:r>
          </a:p>
          <a:p>
            <a:pPr marL="1036352" lvl="2" indent="-345451" algn="l">
              <a:lnSpc>
                <a:spcPts val="3360"/>
              </a:lnSpc>
              <a:buFont typeface="Arial"/>
              <a:buChar char="⚬"/>
            </a:pPr>
            <a:r>
              <a:rPr lang="en-US" sz="2400">
                <a:solidFill>
                  <a:srgbClr val="000000"/>
                </a:solidFill>
                <a:latin typeface="Poppins"/>
                <a:ea typeface="Poppins"/>
                <a:cs typeface="Poppins"/>
                <a:sym typeface="Poppins"/>
              </a:rPr>
              <a:t>QR-Code, der zur Ergebnis-TaskCard mit Schreibrecht für die Teilnehmenden führt</a:t>
            </a:r>
          </a:p>
          <a:p>
            <a:pPr algn="l">
              <a:lnSpc>
                <a:spcPts val="3360"/>
              </a:lnSpc>
            </a:pPr>
            <a:endParaRPr lang="en-US" sz="2400">
              <a:solidFill>
                <a:srgbClr val="000000"/>
              </a:solidFill>
              <a:latin typeface="Poppins"/>
              <a:ea typeface="Poppins"/>
              <a:cs typeface="Poppins"/>
              <a:sym typeface="Poppins"/>
            </a:endParaRPr>
          </a:p>
          <a:p>
            <a:pPr marL="518176" lvl="1" indent="-259088" algn="l">
              <a:lnSpc>
                <a:spcPts val="3360"/>
              </a:lnSpc>
              <a:buFont typeface="Arial"/>
              <a:buChar char="•"/>
            </a:pPr>
            <a:r>
              <a:rPr lang="en-US" sz="2400" b="1">
                <a:solidFill>
                  <a:srgbClr val="000000"/>
                </a:solidFill>
                <a:latin typeface="Poppins Bold"/>
                <a:ea typeface="Poppins Bold"/>
                <a:cs typeface="Poppins Bold"/>
                <a:sym typeface="Poppins Bold"/>
              </a:rPr>
              <a:t>Arbeitsmaterial </a:t>
            </a:r>
          </a:p>
          <a:p>
            <a:pPr marL="1036352" lvl="2" indent="-345451" algn="l">
              <a:lnSpc>
                <a:spcPts val="3360"/>
              </a:lnSpc>
              <a:buFont typeface="Arial"/>
              <a:buChar char="⚬"/>
            </a:pPr>
            <a:r>
              <a:rPr lang="en-US" sz="2400">
                <a:solidFill>
                  <a:srgbClr val="000000"/>
                </a:solidFill>
                <a:latin typeface="Poppins"/>
                <a:ea typeface="Poppins"/>
                <a:cs typeface="Poppins"/>
                <a:sym typeface="Poppins"/>
              </a:rPr>
              <a:t>Stift und Papier für Notizen des Teams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6F6F1"/>
        </a:solidFill>
        <a:effectLst/>
      </p:bgPr>
    </p:bg>
    <p:spTree>
      <p:nvGrpSpPr>
        <p:cNvPr id="1" name=""/>
        <p:cNvGrpSpPr/>
        <p:nvPr/>
      </p:nvGrpSpPr>
      <p:grpSpPr>
        <a:xfrm>
          <a:off x="0" y="0"/>
          <a:ext cx="0" cy="0"/>
          <a:chOff x="0" y="0"/>
          <a:chExt cx="0" cy="0"/>
        </a:xfrm>
      </p:grpSpPr>
      <p:sp>
        <p:nvSpPr>
          <p:cNvPr id="2" name="Freeform 2"/>
          <p:cNvSpPr/>
          <p:nvPr/>
        </p:nvSpPr>
        <p:spPr>
          <a:xfrm>
            <a:off x="10546757" y="6181792"/>
            <a:ext cx="7554793" cy="3951607"/>
          </a:xfrm>
          <a:custGeom>
            <a:avLst/>
            <a:gdLst/>
            <a:ahLst/>
            <a:cxnLst/>
            <a:rect l="l" t="t" r="r" b="b"/>
            <a:pathLst>
              <a:path w="7554793" h="3951607">
                <a:moveTo>
                  <a:pt x="0" y="0"/>
                </a:moveTo>
                <a:lnTo>
                  <a:pt x="7554794" y="0"/>
                </a:lnTo>
                <a:lnTo>
                  <a:pt x="7554794" y="3951607"/>
                </a:lnTo>
                <a:lnTo>
                  <a:pt x="0" y="3951607"/>
                </a:lnTo>
                <a:lnTo>
                  <a:pt x="0" y="0"/>
                </a:lnTo>
                <a:close/>
              </a:path>
            </a:pathLst>
          </a:custGeom>
          <a:blipFill>
            <a:blip r:embed="rId2"/>
            <a:stretch>
              <a:fillRect/>
            </a:stretch>
          </a:blipFill>
        </p:spPr>
        <p:txBody>
          <a:bodyPr/>
          <a:lstStyle/>
          <a:p>
            <a:endParaRPr lang="de-DE"/>
          </a:p>
        </p:txBody>
      </p:sp>
      <p:sp>
        <p:nvSpPr>
          <p:cNvPr id="3" name="Freeform 3"/>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38888" b="-38888"/>
            </a:stretch>
          </a:blipFill>
          <a:ln w="200025" cap="sq">
            <a:solidFill>
              <a:srgbClr val="EB4210"/>
            </a:solidFill>
            <a:prstDash val="solid"/>
            <a:miter/>
          </a:ln>
        </p:spPr>
        <p:txBody>
          <a:bodyPr/>
          <a:lstStyle/>
          <a:p>
            <a:endParaRPr lang="de-DE"/>
          </a:p>
        </p:txBody>
      </p:sp>
      <p:sp>
        <p:nvSpPr>
          <p:cNvPr id="4" name="TextBox 4"/>
          <p:cNvSpPr txBox="1"/>
          <p:nvPr/>
        </p:nvSpPr>
        <p:spPr>
          <a:xfrm>
            <a:off x="1390898" y="1567064"/>
            <a:ext cx="15506205" cy="976052"/>
          </a:xfrm>
          <a:prstGeom prst="rect">
            <a:avLst/>
          </a:prstGeom>
        </p:spPr>
        <p:txBody>
          <a:bodyPr lIns="0" tIns="0" rIns="0" bIns="0" rtlCol="0" anchor="t">
            <a:spAutoFit/>
          </a:bodyPr>
          <a:lstStyle/>
          <a:p>
            <a:pPr algn="ctr">
              <a:lnSpc>
                <a:spcPts val="7626"/>
              </a:lnSpc>
            </a:pPr>
            <a:r>
              <a:rPr lang="en-US" sz="5447" b="1">
                <a:solidFill>
                  <a:srgbClr val="E8440B"/>
                </a:solidFill>
                <a:latin typeface="Poppins Bold"/>
                <a:ea typeface="Poppins Bold"/>
                <a:cs typeface="Poppins Bold"/>
                <a:sym typeface="Poppins Bold"/>
              </a:rPr>
              <a:t>3D-Druck: Umsetzung  </a:t>
            </a:r>
          </a:p>
        </p:txBody>
      </p:sp>
      <p:sp>
        <p:nvSpPr>
          <p:cNvPr id="5" name="TextBox 5"/>
          <p:cNvSpPr txBox="1"/>
          <p:nvPr/>
        </p:nvSpPr>
        <p:spPr>
          <a:xfrm>
            <a:off x="605767" y="2812788"/>
            <a:ext cx="16942301" cy="3750147"/>
          </a:xfrm>
          <a:prstGeom prst="rect">
            <a:avLst/>
          </a:prstGeom>
        </p:spPr>
        <p:txBody>
          <a:bodyPr lIns="0" tIns="0" rIns="0" bIns="0" rtlCol="0" anchor="t">
            <a:spAutoFit/>
          </a:bodyPr>
          <a:lstStyle/>
          <a:p>
            <a:pPr marL="514341" lvl="1" indent="-257170" algn="l">
              <a:lnSpc>
                <a:spcPts val="3335"/>
              </a:lnSpc>
              <a:buFont typeface="Arial"/>
              <a:buChar char="•"/>
            </a:pPr>
            <a:r>
              <a:rPr lang="en-US" sz="2382" b="1">
                <a:solidFill>
                  <a:srgbClr val="000000"/>
                </a:solidFill>
                <a:latin typeface="Poppins Bold"/>
                <a:ea typeface="Poppins Bold"/>
                <a:cs typeface="Poppins Bold"/>
                <a:sym typeface="Poppins Bold"/>
              </a:rPr>
              <a:t>Rätsel &amp; Aufgabe: Findet heraus, welcher Weg zum Lichtschalter führt und programmiert den Roboter.</a:t>
            </a:r>
          </a:p>
          <a:p>
            <a:pPr marL="1028682" lvl="2" indent="-342894" algn="l">
              <a:lnSpc>
                <a:spcPts val="3335"/>
              </a:lnSpc>
              <a:buFont typeface="Arial"/>
              <a:buChar char="⚬"/>
            </a:pPr>
            <a:r>
              <a:rPr lang="en-US" sz="2382">
                <a:solidFill>
                  <a:srgbClr val="000000"/>
                </a:solidFill>
                <a:latin typeface="Poppins"/>
                <a:ea typeface="Poppins"/>
                <a:cs typeface="Poppins"/>
                <a:sym typeface="Poppins"/>
              </a:rPr>
              <a:t>Um den Weg zu ermitteln, können die Teilnehmenden die vorhandenen Materialien verwenden. Sie können auf der Bodenmatte die verschiedenen langen Plättchen legen oder die Anzahl der Kästchen ermitteln und so das Rätsel lösen. </a:t>
            </a:r>
          </a:p>
          <a:p>
            <a:pPr marL="1028682" lvl="2" indent="-342894" algn="l">
              <a:lnSpc>
                <a:spcPts val="3335"/>
              </a:lnSpc>
              <a:buFont typeface="Arial"/>
              <a:buChar char="⚬"/>
            </a:pPr>
            <a:r>
              <a:rPr lang="en-US" sz="2382">
                <a:solidFill>
                  <a:srgbClr val="000000"/>
                </a:solidFill>
                <a:latin typeface="Poppins"/>
                <a:ea typeface="Poppins"/>
                <a:cs typeface="Poppins"/>
                <a:sym typeface="Poppins"/>
              </a:rPr>
              <a:t>Hinweis: Der Roboter fährt nur auf den weißen Kästchen.</a:t>
            </a:r>
          </a:p>
          <a:p>
            <a:pPr marL="1028682" lvl="2" indent="-342894" algn="l">
              <a:lnSpc>
                <a:spcPts val="3335"/>
              </a:lnSpc>
              <a:buFont typeface="Arial"/>
              <a:buChar char="⚬"/>
            </a:pPr>
            <a:r>
              <a:rPr lang="en-US" sz="2382">
                <a:solidFill>
                  <a:srgbClr val="000000"/>
                </a:solidFill>
                <a:latin typeface="Poppins"/>
                <a:ea typeface="Poppins"/>
                <a:cs typeface="Poppins"/>
                <a:sym typeface="Poppins"/>
              </a:rPr>
              <a:t>Start: Roboter steht auf dem grauen Kästchen.</a:t>
            </a:r>
          </a:p>
          <a:p>
            <a:pPr marL="1028682" lvl="2" indent="-342894" algn="l">
              <a:lnSpc>
                <a:spcPts val="3335"/>
              </a:lnSpc>
              <a:buFont typeface="Arial"/>
              <a:buChar char="⚬"/>
            </a:pPr>
            <a:r>
              <a:rPr lang="en-US" sz="2382">
                <a:solidFill>
                  <a:srgbClr val="000000"/>
                </a:solidFill>
                <a:latin typeface="Poppins"/>
                <a:ea typeface="Poppins"/>
                <a:cs typeface="Poppins"/>
                <a:sym typeface="Poppins"/>
              </a:rPr>
              <a:t>Ziel: Roboter steht vor dem gelben Kästchen.</a:t>
            </a:r>
          </a:p>
          <a:p>
            <a:pPr marL="1028682" lvl="2" indent="-342894" algn="l">
              <a:lnSpc>
                <a:spcPts val="3335"/>
              </a:lnSpc>
              <a:buFont typeface="Arial"/>
              <a:buChar char="⚬"/>
            </a:pPr>
            <a:r>
              <a:rPr lang="en-US" sz="2382">
                <a:solidFill>
                  <a:srgbClr val="000000"/>
                </a:solidFill>
                <a:latin typeface="Poppins"/>
                <a:ea typeface="Poppins"/>
                <a:cs typeface="Poppins"/>
                <a:sym typeface="Poppins"/>
              </a:rPr>
              <a:t>Hinweis zur Steuerung der Roboter: mBot fährt leider etwas ungenau, Frustration bei Schüler:innen kann hoch sein. </a:t>
            </a:r>
          </a:p>
        </p:txBody>
      </p:sp>
      <p:grpSp>
        <p:nvGrpSpPr>
          <p:cNvPr id="6" name="Group 6"/>
          <p:cNvGrpSpPr/>
          <p:nvPr/>
        </p:nvGrpSpPr>
        <p:grpSpPr>
          <a:xfrm>
            <a:off x="15131182" y="276736"/>
            <a:ext cx="2970369" cy="2612252"/>
            <a:chOff x="0" y="0"/>
            <a:chExt cx="3960491" cy="3483003"/>
          </a:xfrm>
        </p:grpSpPr>
        <p:sp>
          <p:nvSpPr>
            <p:cNvPr id="7" name="Freeform 7"/>
            <p:cNvSpPr/>
            <p:nvPr/>
          </p:nvSpPr>
          <p:spPr>
            <a:xfrm rot="7057943">
              <a:off x="2693451" y="2198216"/>
              <a:ext cx="1055295" cy="1116714"/>
            </a:xfrm>
            <a:custGeom>
              <a:avLst/>
              <a:gdLst/>
              <a:ahLst/>
              <a:cxnLst/>
              <a:rect l="l" t="t" r="r" b="b"/>
              <a:pathLst>
                <a:path w="1055295" h="1116714">
                  <a:moveTo>
                    <a:pt x="0" y="0"/>
                  </a:moveTo>
                  <a:lnTo>
                    <a:pt x="1055295" y="0"/>
                  </a:lnTo>
                  <a:lnTo>
                    <a:pt x="1055295" y="1116715"/>
                  </a:lnTo>
                  <a:lnTo>
                    <a:pt x="0" y="1116715"/>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8" name="Freeform 8"/>
            <p:cNvSpPr/>
            <p:nvPr/>
          </p:nvSpPr>
          <p:spPr>
            <a:xfrm rot="58956">
              <a:off x="27412" y="23805"/>
              <a:ext cx="2803904" cy="3221021"/>
            </a:xfrm>
            <a:custGeom>
              <a:avLst/>
              <a:gdLst/>
              <a:ahLst/>
              <a:cxnLst/>
              <a:rect l="l" t="t" r="r" b="b"/>
              <a:pathLst>
                <a:path w="2803904" h="3221021">
                  <a:moveTo>
                    <a:pt x="0" y="0"/>
                  </a:moveTo>
                  <a:lnTo>
                    <a:pt x="2803905" y="0"/>
                  </a:lnTo>
                  <a:lnTo>
                    <a:pt x="2803905" y="3221021"/>
                  </a:lnTo>
                  <a:lnTo>
                    <a:pt x="0" y="3221021"/>
                  </a:lnTo>
                  <a:lnTo>
                    <a:pt x="0" y="0"/>
                  </a:lnTo>
                  <a:close/>
                </a:path>
              </a:pathLst>
            </a:custGeom>
            <a:blipFill>
              <a:blip>
                <a:extLst>
                  <a:ext uri="{96DAC541-7B7A-43D3-8B79-37D633B846F1}">
                    <asvg:svgBlip xmlns:asvg="http://schemas.microsoft.com/office/drawing/2016/SVG/main" r:embed="rId5"/>
                  </a:ext>
                </a:extLst>
              </a:blip>
              <a:stretch>
                <a:fillRect r="-2389" b="-11123"/>
              </a:stretch>
            </a:blipFill>
          </p:spPr>
          <p:txBody>
            <a:bodyPr/>
            <a:lstStyle/>
            <a:p>
              <a:endParaRPr lang="de-DE"/>
            </a:p>
          </p:txBody>
        </p:sp>
      </p:grpSp>
      <p:sp>
        <p:nvSpPr>
          <p:cNvPr id="9" name="TextBox 9"/>
          <p:cNvSpPr txBox="1"/>
          <p:nvPr/>
        </p:nvSpPr>
        <p:spPr>
          <a:xfrm>
            <a:off x="605767" y="6302861"/>
            <a:ext cx="8252911" cy="2455418"/>
          </a:xfrm>
          <a:prstGeom prst="rect">
            <a:avLst/>
          </a:prstGeom>
        </p:spPr>
        <p:txBody>
          <a:bodyPr lIns="0" tIns="0" rIns="0" bIns="0" rtlCol="0" anchor="t">
            <a:spAutoFit/>
          </a:bodyPr>
          <a:lstStyle/>
          <a:p>
            <a:pPr algn="l">
              <a:lnSpc>
                <a:spcPts val="3262"/>
              </a:lnSpc>
            </a:pPr>
            <a:endParaRPr/>
          </a:p>
          <a:p>
            <a:pPr marL="503049" lvl="1" indent="-251525" algn="l">
              <a:lnSpc>
                <a:spcPts val="3262"/>
              </a:lnSpc>
              <a:spcBef>
                <a:spcPct val="0"/>
              </a:spcBef>
              <a:buFont typeface="Arial"/>
              <a:buChar char="•"/>
            </a:pPr>
            <a:r>
              <a:rPr lang="en-US" sz="2330" b="1">
                <a:solidFill>
                  <a:srgbClr val="000000"/>
                </a:solidFill>
                <a:latin typeface="Poppins Bold"/>
                <a:ea typeface="Poppins Bold"/>
                <a:cs typeface="Poppins Bold"/>
                <a:sym typeface="Poppins Bold"/>
              </a:rPr>
              <a:t>Auflösung: Der Roboter fährt vor das gelbe Kästchen, welches den Lichtschalter symoblisiert. </a:t>
            </a:r>
          </a:p>
          <a:p>
            <a:pPr algn="l">
              <a:lnSpc>
                <a:spcPts val="3262"/>
              </a:lnSpc>
              <a:spcBef>
                <a:spcPct val="0"/>
              </a:spcBef>
            </a:pPr>
            <a:endParaRPr lang="en-US" sz="2330" b="1">
              <a:solidFill>
                <a:srgbClr val="000000"/>
              </a:solidFill>
              <a:latin typeface="Poppins Bold"/>
              <a:ea typeface="Poppins Bold"/>
              <a:cs typeface="Poppins Bold"/>
              <a:sym typeface="Poppins Bold"/>
            </a:endParaRPr>
          </a:p>
          <a:p>
            <a:pPr marL="503049" lvl="1" indent="-251525" algn="l">
              <a:lnSpc>
                <a:spcPts val="3262"/>
              </a:lnSpc>
              <a:spcBef>
                <a:spcPct val="0"/>
              </a:spcBef>
              <a:buFont typeface="Arial"/>
              <a:buChar char="•"/>
            </a:pPr>
            <a:r>
              <a:rPr lang="en-US" sz="2330" b="1">
                <a:solidFill>
                  <a:srgbClr val="000000"/>
                </a:solidFill>
                <a:latin typeface="Poppins Bold"/>
                <a:ea typeface="Poppins Bold"/>
                <a:cs typeface="Poppins Bold"/>
                <a:sym typeface="Poppins Bold"/>
              </a:rPr>
              <a:t>Learningapps Lösungswort: gelb </a:t>
            </a:r>
          </a:p>
          <a:p>
            <a:pPr algn="l">
              <a:lnSpc>
                <a:spcPts val="3262"/>
              </a:lnSpc>
              <a:spcBef>
                <a:spcPct val="0"/>
              </a:spcBef>
            </a:pPr>
            <a:endParaRPr lang="en-US" sz="2330" b="1">
              <a:solidFill>
                <a:srgbClr val="000000"/>
              </a:solidFill>
              <a:latin typeface="Poppins Bold"/>
              <a:ea typeface="Poppins Bold"/>
              <a:cs typeface="Poppins Bold"/>
              <a:sym typeface="Poppins Bold"/>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6F6F1"/>
        </a:solidFill>
        <a:effectLst/>
      </p:bgPr>
    </p:bg>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a:ln w="200025" cap="sq">
            <a:solidFill>
              <a:srgbClr val="EB4210"/>
            </a:solidFill>
            <a:prstDash val="solid"/>
            <a:miter/>
          </a:ln>
        </p:spPr>
        <p:txBody>
          <a:bodyPr/>
          <a:lstStyle/>
          <a:p>
            <a:endParaRPr lang="de-DE"/>
          </a:p>
        </p:txBody>
      </p:sp>
      <p:sp>
        <p:nvSpPr>
          <p:cNvPr id="3" name="Freeform 3"/>
          <p:cNvSpPr/>
          <p:nvPr/>
        </p:nvSpPr>
        <p:spPr>
          <a:xfrm>
            <a:off x="15314140" y="9001800"/>
            <a:ext cx="2787410" cy="1134302"/>
          </a:xfrm>
          <a:custGeom>
            <a:avLst/>
            <a:gdLst/>
            <a:ahLst/>
            <a:cxnLst/>
            <a:rect l="l" t="t" r="r" b="b"/>
            <a:pathLst>
              <a:path w="2787410" h="1134302">
                <a:moveTo>
                  <a:pt x="0" y="0"/>
                </a:moveTo>
                <a:lnTo>
                  <a:pt x="2787411" y="0"/>
                </a:lnTo>
                <a:lnTo>
                  <a:pt x="2787411" y="1134301"/>
                </a:lnTo>
                <a:lnTo>
                  <a:pt x="0" y="1134301"/>
                </a:lnTo>
                <a:lnTo>
                  <a:pt x="0" y="0"/>
                </a:lnTo>
                <a:close/>
              </a:path>
            </a:pathLst>
          </a:custGeom>
          <a:blipFill>
            <a:blip r:embed="rId3"/>
            <a:stretch>
              <a:fillRect/>
            </a:stretch>
          </a:blipFill>
        </p:spPr>
        <p:txBody>
          <a:bodyPr/>
          <a:lstStyle/>
          <a:p>
            <a:endParaRPr lang="de-DE"/>
          </a:p>
        </p:txBody>
      </p:sp>
      <p:sp>
        <p:nvSpPr>
          <p:cNvPr id="4" name="TextBox 4"/>
          <p:cNvSpPr txBox="1"/>
          <p:nvPr/>
        </p:nvSpPr>
        <p:spPr>
          <a:xfrm>
            <a:off x="1390898" y="1567064"/>
            <a:ext cx="15506205" cy="976052"/>
          </a:xfrm>
          <a:prstGeom prst="rect">
            <a:avLst/>
          </a:prstGeom>
        </p:spPr>
        <p:txBody>
          <a:bodyPr lIns="0" tIns="0" rIns="0" bIns="0" rtlCol="0" anchor="t">
            <a:spAutoFit/>
          </a:bodyPr>
          <a:lstStyle/>
          <a:p>
            <a:pPr algn="ctr">
              <a:lnSpc>
                <a:spcPts val="7626"/>
              </a:lnSpc>
            </a:pPr>
            <a:r>
              <a:rPr lang="en-US" sz="5447" b="1">
                <a:solidFill>
                  <a:srgbClr val="E8440B"/>
                </a:solidFill>
                <a:latin typeface="Poppins Bold"/>
                <a:ea typeface="Poppins Bold"/>
                <a:cs typeface="Poppins Bold"/>
                <a:sym typeface="Poppins Bold"/>
              </a:rPr>
              <a:t>Drohne: Checkliste</a:t>
            </a:r>
          </a:p>
        </p:txBody>
      </p:sp>
      <p:sp>
        <p:nvSpPr>
          <p:cNvPr id="5" name="TextBox 5"/>
          <p:cNvSpPr txBox="1"/>
          <p:nvPr/>
        </p:nvSpPr>
        <p:spPr>
          <a:xfrm>
            <a:off x="609684" y="2822313"/>
            <a:ext cx="17068632" cy="7130413"/>
          </a:xfrm>
          <a:prstGeom prst="rect">
            <a:avLst/>
          </a:prstGeom>
        </p:spPr>
        <p:txBody>
          <a:bodyPr lIns="0" tIns="0" rIns="0" bIns="0" rtlCol="0" anchor="t">
            <a:spAutoFit/>
          </a:bodyPr>
          <a:lstStyle/>
          <a:p>
            <a:pPr marL="518176" lvl="1" indent="-259088" algn="l">
              <a:lnSpc>
                <a:spcPts val="3360"/>
              </a:lnSpc>
              <a:buFont typeface="Arial"/>
              <a:buChar char="•"/>
            </a:pPr>
            <a:r>
              <a:rPr lang="en-US" sz="2400" b="1">
                <a:solidFill>
                  <a:srgbClr val="000000"/>
                </a:solidFill>
                <a:latin typeface="Poppins Bold"/>
                <a:ea typeface="Poppins Bold"/>
                <a:cs typeface="Poppins Bold"/>
                <a:sym typeface="Poppins Bold"/>
              </a:rPr>
              <a:t>Digitale Tools inkl. der ggf. notwendigen Software:</a:t>
            </a:r>
          </a:p>
          <a:p>
            <a:pPr marL="1036352" lvl="2" indent="-345451" algn="l">
              <a:lnSpc>
                <a:spcPts val="3360"/>
              </a:lnSpc>
              <a:buFont typeface="Arial"/>
              <a:buChar char="⚬"/>
            </a:pPr>
            <a:r>
              <a:rPr lang="en-US" sz="2400">
                <a:solidFill>
                  <a:srgbClr val="000000"/>
                </a:solidFill>
                <a:latin typeface="Poppins"/>
                <a:ea typeface="Poppins"/>
                <a:cs typeface="Poppins"/>
                <a:sym typeface="Poppins"/>
              </a:rPr>
              <a:t>Drohnen, Tablet und entsprechnde Apps</a:t>
            </a:r>
          </a:p>
          <a:p>
            <a:pPr marL="1036352" lvl="2" indent="-345451" algn="l">
              <a:lnSpc>
                <a:spcPts val="3360"/>
              </a:lnSpc>
              <a:buFont typeface="Arial"/>
              <a:buChar char="⚬"/>
            </a:pPr>
            <a:r>
              <a:rPr lang="en-US" sz="2400" b="1">
                <a:solidFill>
                  <a:srgbClr val="000000"/>
                </a:solidFill>
                <a:latin typeface="Poppins Bold"/>
                <a:ea typeface="Poppins Bold"/>
                <a:cs typeface="Poppins Bold"/>
                <a:sym typeface="Poppins Bold"/>
              </a:rPr>
              <a:t>Tello Minidrohne</a:t>
            </a:r>
            <a:r>
              <a:rPr lang="en-US" sz="2400">
                <a:solidFill>
                  <a:srgbClr val="000000"/>
                </a:solidFill>
                <a:latin typeface="Poppins"/>
                <a:ea typeface="Poppins"/>
                <a:cs typeface="Poppins"/>
                <a:sym typeface="Poppins"/>
              </a:rPr>
              <a:t> mit DroneBlocks App (EN)</a:t>
            </a:r>
          </a:p>
          <a:p>
            <a:pPr marL="1036352" lvl="2" indent="-345451" algn="l">
              <a:lnSpc>
                <a:spcPts val="3360"/>
              </a:lnSpc>
              <a:buFont typeface="Arial"/>
              <a:buChar char="⚬"/>
            </a:pPr>
            <a:r>
              <a:rPr lang="en-US" sz="2400">
                <a:solidFill>
                  <a:srgbClr val="000000"/>
                </a:solidFill>
                <a:latin typeface="Poppins"/>
                <a:ea typeface="Poppins"/>
                <a:cs typeface="Poppins"/>
                <a:sym typeface="Poppins"/>
              </a:rPr>
              <a:t>Wer die Aufgabe mit einer </a:t>
            </a:r>
            <a:r>
              <a:rPr lang="en-US" sz="2400" b="1">
                <a:solidFill>
                  <a:srgbClr val="000000"/>
                </a:solidFill>
                <a:latin typeface="Poppins Bold"/>
                <a:ea typeface="Poppins Bold"/>
                <a:cs typeface="Poppins Bold"/>
                <a:sym typeface="Poppins Bold"/>
              </a:rPr>
              <a:t>LiteBee Drohne</a:t>
            </a:r>
            <a:r>
              <a:rPr lang="en-US" sz="2400">
                <a:solidFill>
                  <a:srgbClr val="000000"/>
                </a:solidFill>
                <a:latin typeface="Poppins"/>
                <a:ea typeface="Poppins"/>
                <a:cs typeface="Poppins"/>
                <a:sym typeface="Poppins"/>
              </a:rPr>
              <a:t> umsetzen möchte, muss die Drohne zunächst flashen und die in der StationsTaskCard gelisteten Arbeitsschritte sowie Tippkarten zur Steuerung nutzen. Alle Infos dazu sind im Respository zu finden.</a:t>
            </a:r>
          </a:p>
          <a:p>
            <a:pPr algn="l">
              <a:lnSpc>
                <a:spcPts val="3360"/>
              </a:lnSpc>
            </a:pPr>
            <a:endParaRPr lang="en-US" sz="2400">
              <a:solidFill>
                <a:srgbClr val="000000"/>
              </a:solidFill>
              <a:latin typeface="Poppins"/>
              <a:ea typeface="Poppins"/>
              <a:cs typeface="Poppins"/>
              <a:sym typeface="Poppins"/>
            </a:endParaRPr>
          </a:p>
          <a:p>
            <a:pPr marL="518176" lvl="1" indent="-259088" algn="l">
              <a:lnSpc>
                <a:spcPts val="3360"/>
              </a:lnSpc>
              <a:buFont typeface="Arial"/>
              <a:buChar char="•"/>
            </a:pPr>
            <a:r>
              <a:rPr lang="en-US" sz="2400" b="1">
                <a:solidFill>
                  <a:srgbClr val="000000"/>
                </a:solidFill>
                <a:latin typeface="Poppins Bold"/>
                <a:ea typeface="Poppins Bold"/>
                <a:cs typeface="Poppins Bold"/>
                <a:sym typeface="Poppins Bold"/>
              </a:rPr>
              <a:t>Druckmaterial:</a:t>
            </a:r>
          </a:p>
          <a:p>
            <a:pPr marL="1036352" lvl="2" indent="-345451" algn="l">
              <a:lnSpc>
                <a:spcPts val="3360"/>
              </a:lnSpc>
              <a:buFont typeface="Arial"/>
              <a:buChar char="⚬"/>
            </a:pPr>
            <a:r>
              <a:rPr lang="en-US" sz="2400">
                <a:solidFill>
                  <a:srgbClr val="000000"/>
                </a:solidFill>
                <a:latin typeface="Poppins"/>
                <a:ea typeface="Poppins"/>
                <a:cs typeface="Poppins"/>
                <a:sym typeface="Poppins"/>
              </a:rPr>
              <a:t>Stationsschild</a:t>
            </a:r>
          </a:p>
          <a:p>
            <a:pPr marL="1036352" lvl="2" indent="-345451" algn="l">
              <a:lnSpc>
                <a:spcPts val="3360"/>
              </a:lnSpc>
              <a:buFont typeface="Arial"/>
              <a:buChar char="⚬"/>
            </a:pPr>
            <a:r>
              <a:rPr lang="en-US" sz="2400">
                <a:solidFill>
                  <a:srgbClr val="000000"/>
                </a:solidFill>
                <a:latin typeface="Poppins"/>
                <a:ea typeface="Poppins"/>
                <a:cs typeface="Poppins"/>
                <a:sym typeface="Poppins"/>
              </a:rPr>
              <a:t>Aufgabentext des Meisterdiebs zum analogen Nachlesen (optional)</a:t>
            </a:r>
          </a:p>
          <a:p>
            <a:pPr marL="1036352" lvl="2" indent="-345451" algn="l">
              <a:lnSpc>
                <a:spcPts val="3360"/>
              </a:lnSpc>
              <a:buFont typeface="Arial"/>
              <a:buChar char="⚬"/>
            </a:pPr>
            <a:r>
              <a:rPr lang="en-US" sz="2400">
                <a:solidFill>
                  <a:srgbClr val="000000"/>
                </a:solidFill>
                <a:latin typeface="Poppins"/>
                <a:ea typeface="Poppins"/>
                <a:cs typeface="Poppins"/>
                <a:sym typeface="Poppins"/>
              </a:rPr>
              <a:t>Rätselblätter: Angaben zur Flugbahn, Grundriss zur Rästellösung beschreibbar </a:t>
            </a:r>
          </a:p>
          <a:p>
            <a:pPr marL="1036352" lvl="2" indent="-345451" algn="l">
              <a:lnSpc>
                <a:spcPts val="3360"/>
              </a:lnSpc>
              <a:buFont typeface="Arial"/>
              <a:buChar char="⚬"/>
            </a:pPr>
            <a:r>
              <a:rPr lang="en-US" sz="2400">
                <a:solidFill>
                  <a:srgbClr val="000000"/>
                </a:solidFill>
                <a:latin typeface="Poppins"/>
                <a:ea typeface="Poppins"/>
                <a:cs typeface="Poppins"/>
                <a:sym typeface="Poppins"/>
              </a:rPr>
              <a:t>Bodenmatte (Druck auf großer Plane) und Bodenplättchen, laminieren für Wiederverwendung</a:t>
            </a:r>
          </a:p>
          <a:p>
            <a:pPr marL="1036352" lvl="2" indent="-345451" algn="l">
              <a:lnSpc>
                <a:spcPts val="3360"/>
              </a:lnSpc>
              <a:buFont typeface="Arial"/>
              <a:buChar char="⚬"/>
            </a:pPr>
            <a:r>
              <a:rPr lang="en-US" sz="2400">
                <a:solidFill>
                  <a:srgbClr val="000000"/>
                </a:solidFill>
                <a:latin typeface="Poppins"/>
                <a:ea typeface="Poppins"/>
                <a:cs typeface="Poppins"/>
                <a:sym typeface="Poppins"/>
              </a:rPr>
              <a:t>Tipp-Karten laminieren</a:t>
            </a:r>
          </a:p>
          <a:p>
            <a:pPr marL="1036352" lvl="2" indent="-345451" algn="l">
              <a:lnSpc>
                <a:spcPts val="3360"/>
              </a:lnSpc>
              <a:buFont typeface="Arial"/>
              <a:buChar char="⚬"/>
            </a:pPr>
            <a:r>
              <a:rPr lang="en-US" sz="2400">
                <a:solidFill>
                  <a:srgbClr val="000000"/>
                </a:solidFill>
                <a:latin typeface="Poppins"/>
                <a:ea typeface="Poppins"/>
                <a:cs typeface="Poppins"/>
                <a:sym typeface="Poppins"/>
              </a:rPr>
              <a:t>QR-Code, der zur Ergebnis-TaskCard mit Schreibrecht für die Teilnehmenden führt</a:t>
            </a:r>
          </a:p>
          <a:p>
            <a:pPr algn="l">
              <a:lnSpc>
                <a:spcPts val="3360"/>
              </a:lnSpc>
            </a:pPr>
            <a:endParaRPr lang="en-US" sz="2400">
              <a:solidFill>
                <a:srgbClr val="000000"/>
              </a:solidFill>
              <a:latin typeface="Poppins"/>
              <a:ea typeface="Poppins"/>
              <a:cs typeface="Poppins"/>
              <a:sym typeface="Poppins"/>
            </a:endParaRPr>
          </a:p>
          <a:p>
            <a:pPr marL="518176" lvl="1" indent="-259088" algn="l">
              <a:lnSpc>
                <a:spcPts val="3360"/>
              </a:lnSpc>
              <a:buFont typeface="Arial"/>
              <a:buChar char="•"/>
            </a:pPr>
            <a:r>
              <a:rPr lang="en-US" sz="2400" b="1">
                <a:solidFill>
                  <a:srgbClr val="000000"/>
                </a:solidFill>
                <a:latin typeface="Poppins Bold"/>
                <a:ea typeface="Poppins Bold"/>
                <a:cs typeface="Poppins Bold"/>
                <a:sym typeface="Poppins Bold"/>
              </a:rPr>
              <a:t>Arbeitsmaterial </a:t>
            </a:r>
          </a:p>
          <a:p>
            <a:pPr marL="1036352" lvl="2" indent="-345451" algn="l">
              <a:lnSpc>
                <a:spcPts val="3360"/>
              </a:lnSpc>
              <a:buFont typeface="Arial"/>
              <a:buChar char="⚬"/>
            </a:pPr>
            <a:r>
              <a:rPr lang="en-US" sz="2400">
                <a:solidFill>
                  <a:srgbClr val="000000"/>
                </a:solidFill>
                <a:latin typeface="Poppins"/>
                <a:ea typeface="Poppins"/>
                <a:cs typeface="Poppins"/>
                <a:sym typeface="Poppins"/>
              </a:rPr>
              <a:t>Stift und Papier für Notizen des Teams</a:t>
            </a:r>
          </a:p>
        </p:txBody>
      </p:sp>
      <p:sp>
        <p:nvSpPr>
          <p:cNvPr id="6" name="Freeform 6"/>
          <p:cNvSpPr/>
          <p:nvPr/>
        </p:nvSpPr>
        <p:spPr>
          <a:xfrm>
            <a:off x="14947216" y="364566"/>
            <a:ext cx="2970197" cy="1560704"/>
          </a:xfrm>
          <a:custGeom>
            <a:avLst/>
            <a:gdLst/>
            <a:ahLst/>
            <a:cxnLst/>
            <a:rect l="l" t="t" r="r" b="b"/>
            <a:pathLst>
              <a:path w="2970197" h="1560704">
                <a:moveTo>
                  <a:pt x="0" y="0"/>
                </a:moveTo>
                <a:lnTo>
                  <a:pt x="2970197" y="0"/>
                </a:lnTo>
                <a:lnTo>
                  <a:pt x="2970197" y="1560704"/>
                </a:lnTo>
                <a:lnTo>
                  <a:pt x="0" y="156070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6F6F1"/>
        </a:solidFill>
        <a:effectLst/>
      </p:bgPr>
    </p:bg>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a:ln w="200025" cap="sq">
            <a:solidFill>
              <a:srgbClr val="EB4210"/>
            </a:solidFill>
            <a:prstDash val="solid"/>
            <a:miter/>
          </a:ln>
        </p:spPr>
        <p:txBody>
          <a:bodyPr/>
          <a:lstStyle/>
          <a:p>
            <a:endParaRPr lang="de-DE"/>
          </a:p>
        </p:txBody>
      </p:sp>
      <p:sp>
        <p:nvSpPr>
          <p:cNvPr id="3" name="Freeform 3"/>
          <p:cNvSpPr/>
          <p:nvPr/>
        </p:nvSpPr>
        <p:spPr>
          <a:xfrm>
            <a:off x="319372" y="9001800"/>
            <a:ext cx="2787410" cy="1134302"/>
          </a:xfrm>
          <a:custGeom>
            <a:avLst/>
            <a:gdLst/>
            <a:ahLst/>
            <a:cxnLst/>
            <a:rect l="l" t="t" r="r" b="b"/>
            <a:pathLst>
              <a:path w="2787410" h="1134302">
                <a:moveTo>
                  <a:pt x="0" y="0"/>
                </a:moveTo>
                <a:lnTo>
                  <a:pt x="2787410" y="0"/>
                </a:lnTo>
                <a:lnTo>
                  <a:pt x="2787410" y="1134301"/>
                </a:lnTo>
                <a:lnTo>
                  <a:pt x="0" y="1134301"/>
                </a:lnTo>
                <a:lnTo>
                  <a:pt x="0" y="0"/>
                </a:lnTo>
                <a:close/>
              </a:path>
            </a:pathLst>
          </a:custGeom>
          <a:blipFill>
            <a:blip r:embed="rId3"/>
            <a:stretch>
              <a:fillRect/>
            </a:stretch>
          </a:blipFill>
        </p:spPr>
        <p:txBody>
          <a:bodyPr/>
          <a:lstStyle/>
          <a:p>
            <a:endParaRPr lang="de-DE"/>
          </a:p>
        </p:txBody>
      </p:sp>
      <p:sp>
        <p:nvSpPr>
          <p:cNvPr id="4" name="TextBox 4"/>
          <p:cNvSpPr txBox="1"/>
          <p:nvPr/>
        </p:nvSpPr>
        <p:spPr>
          <a:xfrm>
            <a:off x="1390898" y="1567064"/>
            <a:ext cx="15506205" cy="976052"/>
          </a:xfrm>
          <a:prstGeom prst="rect">
            <a:avLst/>
          </a:prstGeom>
        </p:spPr>
        <p:txBody>
          <a:bodyPr lIns="0" tIns="0" rIns="0" bIns="0" rtlCol="0" anchor="t">
            <a:spAutoFit/>
          </a:bodyPr>
          <a:lstStyle/>
          <a:p>
            <a:pPr algn="ctr">
              <a:lnSpc>
                <a:spcPts val="7626"/>
              </a:lnSpc>
            </a:pPr>
            <a:r>
              <a:rPr lang="en-US" sz="5447" b="1">
                <a:solidFill>
                  <a:srgbClr val="E8440B"/>
                </a:solidFill>
                <a:latin typeface="Poppins Bold"/>
                <a:ea typeface="Poppins Bold"/>
                <a:cs typeface="Poppins Bold"/>
                <a:sym typeface="Poppins Bold"/>
              </a:rPr>
              <a:t>Drohne: Umsetzung </a:t>
            </a:r>
          </a:p>
        </p:txBody>
      </p:sp>
      <p:sp>
        <p:nvSpPr>
          <p:cNvPr id="5" name="Freeform 5"/>
          <p:cNvSpPr/>
          <p:nvPr/>
        </p:nvSpPr>
        <p:spPr>
          <a:xfrm>
            <a:off x="14947216" y="364566"/>
            <a:ext cx="2970197" cy="1560704"/>
          </a:xfrm>
          <a:custGeom>
            <a:avLst/>
            <a:gdLst/>
            <a:ahLst/>
            <a:cxnLst/>
            <a:rect l="l" t="t" r="r" b="b"/>
            <a:pathLst>
              <a:path w="2970197" h="1560704">
                <a:moveTo>
                  <a:pt x="0" y="0"/>
                </a:moveTo>
                <a:lnTo>
                  <a:pt x="2970197" y="0"/>
                </a:lnTo>
                <a:lnTo>
                  <a:pt x="2970197" y="1560704"/>
                </a:lnTo>
                <a:lnTo>
                  <a:pt x="0" y="156070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6" name="Freeform 6"/>
          <p:cNvSpPr/>
          <p:nvPr/>
        </p:nvSpPr>
        <p:spPr>
          <a:xfrm>
            <a:off x="11273432" y="5258807"/>
            <a:ext cx="6643982" cy="4688654"/>
          </a:xfrm>
          <a:custGeom>
            <a:avLst/>
            <a:gdLst/>
            <a:ahLst/>
            <a:cxnLst/>
            <a:rect l="l" t="t" r="r" b="b"/>
            <a:pathLst>
              <a:path w="6643982" h="4688654">
                <a:moveTo>
                  <a:pt x="0" y="0"/>
                </a:moveTo>
                <a:lnTo>
                  <a:pt x="6643981" y="0"/>
                </a:lnTo>
                <a:lnTo>
                  <a:pt x="6643981" y="4688654"/>
                </a:lnTo>
                <a:lnTo>
                  <a:pt x="0" y="4688654"/>
                </a:lnTo>
                <a:lnTo>
                  <a:pt x="0" y="0"/>
                </a:lnTo>
                <a:close/>
              </a:path>
            </a:pathLst>
          </a:custGeom>
          <a:blipFill>
            <a:blip r:embed="rId5"/>
            <a:stretch>
              <a:fillRect/>
            </a:stretch>
          </a:blipFill>
        </p:spPr>
        <p:txBody>
          <a:bodyPr/>
          <a:lstStyle/>
          <a:p>
            <a:endParaRPr lang="de-DE"/>
          </a:p>
        </p:txBody>
      </p:sp>
      <p:sp>
        <p:nvSpPr>
          <p:cNvPr id="7" name="TextBox 7"/>
          <p:cNvSpPr txBox="1"/>
          <p:nvPr/>
        </p:nvSpPr>
        <p:spPr>
          <a:xfrm>
            <a:off x="605767" y="2812788"/>
            <a:ext cx="17068632" cy="4615813"/>
          </a:xfrm>
          <a:prstGeom prst="rect">
            <a:avLst/>
          </a:prstGeom>
        </p:spPr>
        <p:txBody>
          <a:bodyPr lIns="0" tIns="0" rIns="0" bIns="0" rtlCol="0" anchor="t">
            <a:spAutoFit/>
          </a:bodyPr>
          <a:lstStyle/>
          <a:p>
            <a:pPr marL="518176" lvl="1" indent="-259088" algn="l">
              <a:lnSpc>
                <a:spcPts val="3360"/>
              </a:lnSpc>
              <a:buFont typeface="Arial"/>
              <a:buChar char="•"/>
            </a:pPr>
            <a:r>
              <a:rPr lang="en-US" sz="2400" b="1">
                <a:solidFill>
                  <a:srgbClr val="000000"/>
                </a:solidFill>
                <a:latin typeface="Poppins Bold"/>
                <a:ea typeface="Poppins Bold"/>
                <a:cs typeface="Poppins Bold"/>
                <a:sym typeface="Poppins Bold"/>
              </a:rPr>
              <a:t>Rätsel &amp; Aufgabe: Findet heraus, in welchem Büro/Raum sich der begehrte USB-Stick befindet und programmiert danach die Flugbahn. </a:t>
            </a:r>
          </a:p>
          <a:p>
            <a:pPr marL="1036352" lvl="2" indent="-345451" algn="l">
              <a:lnSpc>
                <a:spcPts val="3360"/>
              </a:lnSpc>
              <a:buFont typeface="Arial"/>
              <a:buChar char="⚬"/>
            </a:pPr>
            <a:r>
              <a:rPr lang="en-US" sz="2400">
                <a:solidFill>
                  <a:srgbClr val="000000"/>
                </a:solidFill>
                <a:latin typeface="Poppins"/>
                <a:ea typeface="Poppins"/>
                <a:cs typeface="Poppins"/>
                <a:sym typeface="Poppins"/>
              </a:rPr>
              <a:t>Um den Weg zu ermitteln, können die Teilnehmenden die vorhandenen Materialien verwenden, insb. den ausgedruckten Raumplan. </a:t>
            </a:r>
          </a:p>
          <a:p>
            <a:pPr marL="1036352" lvl="2" indent="-345451" algn="l">
              <a:lnSpc>
                <a:spcPts val="3360"/>
              </a:lnSpc>
              <a:buFont typeface="Arial"/>
              <a:buChar char="⚬"/>
            </a:pPr>
            <a:r>
              <a:rPr lang="en-US" sz="2400">
                <a:solidFill>
                  <a:srgbClr val="000000"/>
                </a:solidFill>
                <a:latin typeface="Poppins"/>
                <a:ea typeface="Poppins"/>
                <a:cs typeface="Poppins"/>
                <a:sym typeface="Poppins"/>
              </a:rPr>
              <a:t>Wichtige Hinweise stehen auf dem Blatt “Angaben zur Flugbahn”, z.B. 1 Kästchen entspricht 0,5m und Drohne fliegt 15m.</a:t>
            </a:r>
          </a:p>
          <a:p>
            <a:pPr algn="l">
              <a:lnSpc>
                <a:spcPts val="3360"/>
              </a:lnSpc>
            </a:pPr>
            <a:endParaRPr lang="en-US" sz="2400">
              <a:solidFill>
                <a:srgbClr val="000000"/>
              </a:solidFill>
              <a:latin typeface="Poppins"/>
              <a:ea typeface="Poppins"/>
              <a:cs typeface="Poppins"/>
              <a:sym typeface="Poppins"/>
            </a:endParaRPr>
          </a:p>
          <a:p>
            <a:pPr marL="518176" lvl="1" indent="-259088" algn="l">
              <a:lnSpc>
                <a:spcPts val="3360"/>
              </a:lnSpc>
              <a:buFont typeface="Arial"/>
              <a:buChar char="•"/>
            </a:pPr>
            <a:r>
              <a:rPr lang="en-US" sz="2400" b="1">
                <a:solidFill>
                  <a:srgbClr val="000000"/>
                </a:solidFill>
                <a:latin typeface="Poppins Bold"/>
                <a:ea typeface="Poppins Bold"/>
                <a:cs typeface="Poppins Bold"/>
                <a:sym typeface="Poppins Bold"/>
              </a:rPr>
              <a:t>Auflösung: Der USB-Stick befindet sich in Büro 7.</a:t>
            </a:r>
          </a:p>
          <a:p>
            <a:pPr algn="l">
              <a:lnSpc>
                <a:spcPts val="3360"/>
              </a:lnSpc>
            </a:pPr>
            <a:endParaRPr lang="en-US" sz="2400" b="1">
              <a:solidFill>
                <a:srgbClr val="000000"/>
              </a:solidFill>
              <a:latin typeface="Poppins Bold"/>
              <a:ea typeface="Poppins Bold"/>
              <a:cs typeface="Poppins Bold"/>
              <a:sym typeface="Poppins Bold"/>
            </a:endParaRPr>
          </a:p>
          <a:p>
            <a:pPr marL="518176" lvl="1" indent="-259088" algn="l">
              <a:lnSpc>
                <a:spcPts val="3360"/>
              </a:lnSpc>
              <a:buFont typeface="Arial"/>
              <a:buChar char="•"/>
            </a:pPr>
            <a:r>
              <a:rPr lang="en-US" sz="2400" b="1">
                <a:solidFill>
                  <a:srgbClr val="000000"/>
                </a:solidFill>
                <a:latin typeface="Poppins Bold"/>
                <a:ea typeface="Poppins Bold"/>
                <a:cs typeface="Poppins Bold"/>
                <a:sym typeface="Poppins Bold"/>
              </a:rPr>
              <a:t>Learningapps Lösungswort: 7</a:t>
            </a:r>
          </a:p>
          <a:p>
            <a:pPr algn="l">
              <a:lnSpc>
                <a:spcPts val="3360"/>
              </a:lnSpc>
            </a:pPr>
            <a:endParaRPr lang="en-US" sz="2400" b="1">
              <a:solidFill>
                <a:srgbClr val="000000"/>
              </a:solidFill>
              <a:latin typeface="Poppins Bold"/>
              <a:ea typeface="Poppins Bold"/>
              <a:cs typeface="Poppins Bold"/>
              <a:sym typeface="Poppins Bold"/>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6F6F1"/>
        </a:solidFill>
        <a:effectLst/>
      </p:bgPr>
    </p:bg>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a:ln w="200025" cap="sq">
            <a:solidFill>
              <a:srgbClr val="EB4210"/>
            </a:solidFill>
            <a:prstDash val="solid"/>
            <a:miter/>
          </a:ln>
        </p:spPr>
        <p:txBody>
          <a:bodyPr/>
          <a:lstStyle/>
          <a:p>
            <a:endParaRPr lang="de-DE"/>
          </a:p>
        </p:txBody>
      </p:sp>
      <p:sp>
        <p:nvSpPr>
          <p:cNvPr id="3" name="Freeform 3"/>
          <p:cNvSpPr/>
          <p:nvPr/>
        </p:nvSpPr>
        <p:spPr>
          <a:xfrm>
            <a:off x="15314140" y="9001800"/>
            <a:ext cx="2787410" cy="1134302"/>
          </a:xfrm>
          <a:custGeom>
            <a:avLst/>
            <a:gdLst/>
            <a:ahLst/>
            <a:cxnLst/>
            <a:rect l="l" t="t" r="r" b="b"/>
            <a:pathLst>
              <a:path w="2787410" h="1134302">
                <a:moveTo>
                  <a:pt x="0" y="0"/>
                </a:moveTo>
                <a:lnTo>
                  <a:pt x="2787411" y="0"/>
                </a:lnTo>
                <a:lnTo>
                  <a:pt x="2787411" y="1134301"/>
                </a:lnTo>
                <a:lnTo>
                  <a:pt x="0" y="1134301"/>
                </a:lnTo>
                <a:lnTo>
                  <a:pt x="0" y="0"/>
                </a:lnTo>
                <a:close/>
              </a:path>
            </a:pathLst>
          </a:custGeom>
          <a:blipFill>
            <a:blip r:embed="rId3"/>
            <a:stretch>
              <a:fillRect/>
            </a:stretch>
          </a:blipFill>
        </p:spPr>
        <p:txBody>
          <a:bodyPr/>
          <a:lstStyle/>
          <a:p>
            <a:endParaRPr lang="de-DE"/>
          </a:p>
        </p:txBody>
      </p:sp>
      <p:sp>
        <p:nvSpPr>
          <p:cNvPr id="4" name="TextBox 4"/>
          <p:cNvSpPr txBox="1"/>
          <p:nvPr/>
        </p:nvSpPr>
        <p:spPr>
          <a:xfrm>
            <a:off x="1390898" y="1567064"/>
            <a:ext cx="15506205" cy="976052"/>
          </a:xfrm>
          <a:prstGeom prst="rect">
            <a:avLst/>
          </a:prstGeom>
        </p:spPr>
        <p:txBody>
          <a:bodyPr lIns="0" tIns="0" rIns="0" bIns="0" rtlCol="0" anchor="t">
            <a:spAutoFit/>
          </a:bodyPr>
          <a:lstStyle/>
          <a:p>
            <a:pPr algn="ctr">
              <a:lnSpc>
                <a:spcPts val="7626"/>
              </a:lnSpc>
            </a:pPr>
            <a:r>
              <a:rPr lang="en-US" sz="5447" b="1">
                <a:solidFill>
                  <a:srgbClr val="E8440B"/>
                </a:solidFill>
                <a:latin typeface="Poppins Bold"/>
                <a:ea typeface="Poppins Bold"/>
                <a:cs typeface="Poppins Bold"/>
                <a:sym typeface="Poppins Bold"/>
              </a:rPr>
              <a:t>Stop-Motion-Filmtechnik: Checkliste</a:t>
            </a:r>
          </a:p>
        </p:txBody>
      </p:sp>
      <p:sp>
        <p:nvSpPr>
          <p:cNvPr id="5" name="TextBox 5"/>
          <p:cNvSpPr txBox="1"/>
          <p:nvPr/>
        </p:nvSpPr>
        <p:spPr>
          <a:xfrm>
            <a:off x="609684" y="2822313"/>
            <a:ext cx="17068632" cy="6292213"/>
          </a:xfrm>
          <a:prstGeom prst="rect">
            <a:avLst/>
          </a:prstGeom>
        </p:spPr>
        <p:txBody>
          <a:bodyPr lIns="0" tIns="0" rIns="0" bIns="0" rtlCol="0" anchor="t">
            <a:spAutoFit/>
          </a:bodyPr>
          <a:lstStyle/>
          <a:p>
            <a:pPr marL="518176" lvl="1" indent="-259088" algn="l">
              <a:lnSpc>
                <a:spcPts val="3360"/>
              </a:lnSpc>
              <a:buFont typeface="Arial"/>
              <a:buChar char="•"/>
            </a:pPr>
            <a:r>
              <a:rPr lang="en-US" sz="2400" b="1">
                <a:solidFill>
                  <a:srgbClr val="000000"/>
                </a:solidFill>
                <a:latin typeface="Poppins Bold"/>
                <a:ea typeface="Poppins Bold"/>
                <a:cs typeface="Poppins Bold"/>
                <a:sym typeface="Poppins Bold"/>
              </a:rPr>
              <a:t>Digitale Tools inkl. der ggf. notwendigen Software:</a:t>
            </a:r>
          </a:p>
          <a:p>
            <a:pPr marL="1036352" lvl="2" indent="-345451" algn="l">
              <a:lnSpc>
                <a:spcPts val="3360"/>
              </a:lnSpc>
              <a:buFont typeface="Arial"/>
              <a:buChar char="⚬"/>
            </a:pPr>
            <a:r>
              <a:rPr lang="en-US" sz="2400">
                <a:solidFill>
                  <a:srgbClr val="000000"/>
                </a:solidFill>
                <a:latin typeface="Poppins"/>
                <a:ea typeface="Poppins"/>
                <a:cs typeface="Poppins"/>
                <a:sym typeface="Poppins"/>
              </a:rPr>
              <a:t>Tablets inkl. Stop-Motion-App</a:t>
            </a:r>
          </a:p>
          <a:p>
            <a:pPr marL="1036352" lvl="2" indent="-345451" algn="l">
              <a:lnSpc>
                <a:spcPts val="3360"/>
              </a:lnSpc>
              <a:buFont typeface="Arial"/>
              <a:buChar char="⚬"/>
            </a:pPr>
            <a:r>
              <a:rPr lang="en-US" sz="2400">
                <a:solidFill>
                  <a:srgbClr val="000000"/>
                </a:solidFill>
                <a:latin typeface="Poppins"/>
                <a:ea typeface="Poppins"/>
                <a:cs typeface="Poppins"/>
                <a:sym typeface="Poppins"/>
              </a:rPr>
              <a:t>Stative oder Halterung für Legefilmtechnik, Studiolichtboxen</a:t>
            </a:r>
          </a:p>
          <a:p>
            <a:pPr algn="l">
              <a:lnSpc>
                <a:spcPts val="3360"/>
              </a:lnSpc>
            </a:pPr>
            <a:endParaRPr lang="en-US" sz="2400">
              <a:solidFill>
                <a:srgbClr val="000000"/>
              </a:solidFill>
              <a:latin typeface="Poppins"/>
              <a:ea typeface="Poppins"/>
              <a:cs typeface="Poppins"/>
              <a:sym typeface="Poppins"/>
            </a:endParaRPr>
          </a:p>
          <a:p>
            <a:pPr marL="518176" lvl="1" indent="-259088" algn="l">
              <a:lnSpc>
                <a:spcPts val="3360"/>
              </a:lnSpc>
              <a:buFont typeface="Arial"/>
              <a:buChar char="•"/>
            </a:pPr>
            <a:r>
              <a:rPr lang="en-US" sz="2400" b="1">
                <a:solidFill>
                  <a:srgbClr val="000000"/>
                </a:solidFill>
                <a:latin typeface="Poppins Bold"/>
                <a:ea typeface="Poppins Bold"/>
                <a:cs typeface="Poppins Bold"/>
                <a:sym typeface="Poppins Bold"/>
              </a:rPr>
              <a:t>Druckmaterial:</a:t>
            </a:r>
          </a:p>
          <a:p>
            <a:pPr marL="1036352" lvl="2" indent="-345451" algn="l">
              <a:lnSpc>
                <a:spcPts val="3360"/>
              </a:lnSpc>
              <a:buFont typeface="Arial"/>
              <a:buChar char="⚬"/>
            </a:pPr>
            <a:r>
              <a:rPr lang="en-US" sz="2400">
                <a:solidFill>
                  <a:srgbClr val="000000"/>
                </a:solidFill>
                <a:latin typeface="Poppins"/>
                <a:ea typeface="Poppins"/>
                <a:cs typeface="Poppins"/>
                <a:sym typeface="Poppins"/>
              </a:rPr>
              <a:t>Stationsschild</a:t>
            </a:r>
          </a:p>
          <a:p>
            <a:pPr marL="1036352" lvl="2" indent="-345451" algn="l">
              <a:lnSpc>
                <a:spcPts val="3360"/>
              </a:lnSpc>
              <a:buFont typeface="Arial"/>
              <a:buChar char="⚬"/>
            </a:pPr>
            <a:r>
              <a:rPr lang="en-US" sz="2400">
                <a:solidFill>
                  <a:srgbClr val="000000"/>
                </a:solidFill>
                <a:latin typeface="Poppins"/>
                <a:ea typeface="Poppins"/>
                <a:cs typeface="Poppins"/>
                <a:sym typeface="Poppins"/>
              </a:rPr>
              <a:t>Aufgabentext des Meisterdiebs zum analogen Nachlesen (optional) </a:t>
            </a:r>
          </a:p>
          <a:p>
            <a:pPr marL="1036352" lvl="2" indent="-345451" algn="l">
              <a:lnSpc>
                <a:spcPts val="3360"/>
              </a:lnSpc>
              <a:buFont typeface="Arial"/>
              <a:buChar char="⚬"/>
            </a:pPr>
            <a:r>
              <a:rPr lang="en-US" sz="2400">
                <a:solidFill>
                  <a:srgbClr val="000000"/>
                </a:solidFill>
                <a:latin typeface="Poppins"/>
                <a:ea typeface="Poppins"/>
                <a:cs typeface="Poppins"/>
                <a:sym typeface="Poppins"/>
              </a:rPr>
              <a:t>Rätselaufgabe </a:t>
            </a:r>
          </a:p>
          <a:p>
            <a:pPr marL="1036352" lvl="2" indent="-345451" algn="l">
              <a:lnSpc>
                <a:spcPts val="3360"/>
              </a:lnSpc>
              <a:buFont typeface="Arial"/>
              <a:buChar char="⚬"/>
            </a:pPr>
            <a:r>
              <a:rPr lang="en-US" sz="2400">
                <a:solidFill>
                  <a:srgbClr val="000000"/>
                </a:solidFill>
                <a:latin typeface="Poppins"/>
                <a:ea typeface="Poppins"/>
                <a:cs typeface="Poppins"/>
                <a:sym typeface="Poppins"/>
              </a:rPr>
              <a:t>QR-Code, der zur Ergebnis-TaskCard mit Schreibrecht für die Teilnehmenden führt</a:t>
            </a:r>
          </a:p>
          <a:p>
            <a:pPr algn="l">
              <a:lnSpc>
                <a:spcPts val="3360"/>
              </a:lnSpc>
            </a:pPr>
            <a:endParaRPr lang="en-US" sz="2400">
              <a:solidFill>
                <a:srgbClr val="000000"/>
              </a:solidFill>
              <a:latin typeface="Poppins"/>
              <a:ea typeface="Poppins"/>
              <a:cs typeface="Poppins"/>
              <a:sym typeface="Poppins"/>
            </a:endParaRPr>
          </a:p>
          <a:p>
            <a:pPr marL="518176" lvl="1" indent="-259088" algn="l">
              <a:lnSpc>
                <a:spcPts val="3360"/>
              </a:lnSpc>
              <a:buFont typeface="Arial"/>
              <a:buChar char="•"/>
            </a:pPr>
            <a:r>
              <a:rPr lang="en-US" sz="2400" b="1">
                <a:solidFill>
                  <a:srgbClr val="000000"/>
                </a:solidFill>
                <a:latin typeface="Poppins Bold"/>
                <a:ea typeface="Poppins Bold"/>
                <a:cs typeface="Poppins Bold"/>
                <a:sym typeface="Poppins Bold"/>
              </a:rPr>
              <a:t>Arbeitsmaterial </a:t>
            </a:r>
          </a:p>
          <a:p>
            <a:pPr marL="1036352" lvl="2" indent="-345451" algn="l">
              <a:lnSpc>
                <a:spcPts val="3360"/>
              </a:lnSpc>
              <a:buFont typeface="Arial"/>
              <a:buChar char="⚬"/>
            </a:pPr>
            <a:r>
              <a:rPr lang="en-US" sz="2400">
                <a:solidFill>
                  <a:srgbClr val="000000"/>
                </a:solidFill>
                <a:latin typeface="Poppins"/>
                <a:ea typeface="Poppins"/>
                <a:cs typeface="Poppins"/>
                <a:sym typeface="Poppins"/>
              </a:rPr>
              <a:t>Stift und Papier für Notizen des Teams </a:t>
            </a:r>
          </a:p>
          <a:p>
            <a:pPr marL="1036352" lvl="2" indent="-345451" algn="l">
              <a:lnSpc>
                <a:spcPts val="3360"/>
              </a:lnSpc>
              <a:buFont typeface="Arial"/>
              <a:buChar char="⚬"/>
            </a:pPr>
            <a:r>
              <a:rPr lang="en-US" sz="2400">
                <a:solidFill>
                  <a:srgbClr val="000000"/>
                </a:solidFill>
                <a:latin typeface="Poppins"/>
                <a:ea typeface="Poppins"/>
                <a:cs typeface="Poppins"/>
                <a:sym typeface="Poppins"/>
              </a:rPr>
              <a:t>Material für Filmerstellung: buntes Papier, Scheren, Stifte, kleber, Wackeaugen, Pfeifenreiniger, Figuren, etc.</a:t>
            </a:r>
          </a:p>
          <a:p>
            <a:pPr marL="1036352" lvl="2" indent="-345451" algn="l">
              <a:lnSpc>
                <a:spcPts val="3360"/>
              </a:lnSpc>
              <a:buFont typeface="Arial"/>
              <a:buChar char="⚬"/>
            </a:pPr>
            <a:r>
              <a:rPr lang="en-US" sz="2400">
                <a:solidFill>
                  <a:srgbClr val="000000"/>
                </a:solidFill>
                <a:latin typeface="Poppins"/>
                <a:ea typeface="Poppins"/>
                <a:cs typeface="Poppins"/>
                <a:sym typeface="Poppins"/>
              </a:rPr>
              <a:t>wichtig: ggf. Material für die Darstellung des Übergabeorts nach Rätsellösung bereitstellen, damit sie die Aufgabe zeitlich schaffen.</a:t>
            </a:r>
          </a:p>
        </p:txBody>
      </p:sp>
      <p:sp>
        <p:nvSpPr>
          <p:cNvPr id="6" name="Freeform 6"/>
          <p:cNvSpPr/>
          <p:nvPr/>
        </p:nvSpPr>
        <p:spPr>
          <a:xfrm>
            <a:off x="15661416" y="413207"/>
            <a:ext cx="2257391" cy="1718082"/>
          </a:xfrm>
          <a:custGeom>
            <a:avLst/>
            <a:gdLst/>
            <a:ahLst/>
            <a:cxnLst/>
            <a:rect l="l" t="t" r="r" b="b"/>
            <a:pathLst>
              <a:path w="2257391" h="1718082">
                <a:moveTo>
                  <a:pt x="0" y="0"/>
                </a:moveTo>
                <a:lnTo>
                  <a:pt x="2257391" y="0"/>
                </a:lnTo>
                <a:lnTo>
                  <a:pt x="2257391" y="1718083"/>
                </a:lnTo>
                <a:lnTo>
                  <a:pt x="0" y="171808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6F6F1"/>
        </a:solidFill>
        <a:effectLst/>
      </p:bgPr>
    </p:bg>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a:ln w="200025" cap="sq">
            <a:solidFill>
              <a:srgbClr val="EB4210"/>
            </a:solidFill>
            <a:prstDash val="solid"/>
            <a:miter/>
          </a:ln>
        </p:spPr>
        <p:txBody>
          <a:bodyPr/>
          <a:lstStyle/>
          <a:p>
            <a:endParaRPr lang="de-DE"/>
          </a:p>
        </p:txBody>
      </p:sp>
      <p:sp>
        <p:nvSpPr>
          <p:cNvPr id="3" name="TextBox 3"/>
          <p:cNvSpPr txBox="1"/>
          <p:nvPr/>
        </p:nvSpPr>
        <p:spPr>
          <a:xfrm>
            <a:off x="1390898" y="1567064"/>
            <a:ext cx="15506205" cy="976052"/>
          </a:xfrm>
          <a:prstGeom prst="rect">
            <a:avLst/>
          </a:prstGeom>
        </p:spPr>
        <p:txBody>
          <a:bodyPr lIns="0" tIns="0" rIns="0" bIns="0" rtlCol="0" anchor="t">
            <a:spAutoFit/>
          </a:bodyPr>
          <a:lstStyle/>
          <a:p>
            <a:pPr algn="l">
              <a:lnSpc>
                <a:spcPts val="7626"/>
              </a:lnSpc>
            </a:pPr>
            <a:r>
              <a:rPr lang="en-US" sz="5447" b="1">
                <a:solidFill>
                  <a:srgbClr val="E8440B"/>
                </a:solidFill>
                <a:latin typeface="Poppins Bold"/>
                <a:ea typeface="Poppins Bold"/>
                <a:cs typeface="Poppins Bold"/>
                <a:sym typeface="Poppins Bold"/>
              </a:rPr>
              <a:t>   Stop-Motion-Filmtechnik: Umsetzung 1</a:t>
            </a:r>
          </a:p>
        </p:txBody>
      </p:sp>
      <p:sp>
        <p:nvSpPr>
          <p:cNvPr id="4" name="TextBox 4"/>
          <p:cNvSpPr txBox="1"/>
          <p:nvPr/>
        </p:nvSpPr>
        <p:spPr>
          <a:xfrm>
            <a:off x="609684" y="2812788"/>
            <a:ext cx="17068632" cy="7130413"/>
          </a:xfrm>
          <a:prstGeom prst="rect">
            <a:avLst/>
          </a:prstGeom>
        </p:spPr>
        <p:txBody>
          <a:bodyPr lIns="0" tIns="0" rIns="0" bIns="0" rtlCol="0" anchor="t">
            <a:spAutoFit/>
          </a:bodyPr>
          <a:lstStyle/>
          <a:p>
            <a:pPr marL="518176" lvl="1" indent="-259088" algn="l">
              <a:lnSpc>
                <a:spcPts val="3360"/>
              </a:lnSpc>
              <a:buFont typeface="Arial"/>
              <a:buChar char="•"/>
            </a:pPr>
            <a:r>
              <a:rPr lang="en-US" sz="2400" b="1">
                <a:solidFill>
                  <a:srgbClr val="000000"/>
                </a:solidFill>
                <a:latin typeface="Poppins Bold"/>
                <a:ea typeface="Poppins Bold"/>
                <a:cs typeface="Poppins Bold"/>
                <a:sym typeface="Poppins Bold"/>
              </a:rPr>
              <a:t>Rätsel &amp; Aufgabe: Findet die erpresste Summe heraus sowie wo und wann die Übergabe stattfinden soll und dreht ein Erpresservideo. </a:t>
            </a:r>
          </a:p>
          <a:p>
            <a:pPr algn="l">
              <a:lnSpc>
                <a:spcPts val="3360"/>
              </a:lnSpc>
            </a:pPr>
            <a:endParaRPr lang="en-US" sz="2400" b="1">
              <a:solidFill>
                <a:srgbClr val="000000"/>
              </a:solidFill>
              <a:latin typeface="Poppins Bold"/>
              <a:ea typeface="Poppins Bold"/>
              <a:cs typeface="Poppins Bold"/>
              <a:sym typeface="Poppins Bold"/>
            </a:endParaRPr>
          </a:p>
          <a:p>
            <a:pPr marL="518176" lvl="1" indent="-259088" algn="l">
              <a:lnSpc>
                <a:spcPts val="3360"/>
              </a:lnSpc>
              <a:buFont typeface="Arial"/>
              <a:buChar char="•"/>
            </a:pPr>
            <a:r>
              <a:rPr lang="en-US" sz="2400" b="1">
                <a:solidFill>
                  <a:srgbClr val="000000"/>
                </a:solidFill>
                <a:latin typeface="Poppins Bold"/>
                <a:ea typeface="Poppins Bold"/>
                <a:cs typeface="Poppins Bold"/>
                <a:sym typeface="Poppins Bold"/>
              </a:rPr>
              <a:t>Der Übergabeort:</a:t>
            </a:r>
            <a:r>
              <a:rPr lang="en-US" sz="2400">
                <a:solidFill>
                  <a:srgbClr val="000000"/>
                </a:solidFill>
                <a:latin typeface="Poppins"/>
                <a:ea typeface="Poppins"/>
                <a:cs typeface="Poppins"/>
                <a:sym typeface="Poppins"/>
              </a:rPr>
              <a:t> </a:t>
            </a:r>
          </a:p>
          <a:p>
            <a:pPr marL="1036352" lvl="2" indent="-345451" algn="l">
              <a:lnSpc>
                <a:spcPts val="3360"/>
              </a:lnSpc>
              <a:buFont typeface="Arial"/>
              <a:buChar char="⚬"/>
            </a:pPr>
            <a:r>
              <a:rPr lang="en-US" sz="2400">
                <a:solidFill>
                  <a:srgbClr val="000000"/>
                </a:solidFill>
                <a:latin typeface="Poppins"/>
                <a:ea typeface="Poppins"/>
                <a:cs typeface="Poppins"/>
                <a:sym typeface="Poppins"/>
              </a:rPr>
              <a:t>Um den Ort zu ermitteln, müssen die TN die Koordinaten (51°58'03.8"N 7°37'46.7"E) aus der TaskCard </a:t>
            </a:r>
            <a:r>
              <a:rPr lang="en-US" sz="2400" u="sng">
                <a:solidFill>
                  <a:srgbClr val="000000"/>
                </a:solidFill>
                <a:latin typeface="Poppins"/>
                <a:ea typeface="Poppins"/>
                <a:cs typeface="Poppins"/>
                <a:sym typeface="Poppins"/>
              </a:rPr>
              <a:t>per copy-paste </a:t>
            </a:r>
            <a:r>
              <a:rPr lang="en-US" sz="2400">
                <a:solidFill>
                  <a:srgbClr val="000000"/>
                </a:solidFill>
                <a:latin typeface="Poppins"/>
                <a:ea typeface="Poppins"/>
                <a:cs typeface="Poppins"/>
                <a:sym typeface="Poppins"/>
              </a:rPr>
              <a:t>in Maps eingeben - </a:t>
            </a:r>
            <a:r>
              <a:rPr lang="en-US" sz="2400" b="1">
                <a:solidFill>
                  <a:srgbClr val="000000"/>
                </a:solidFill>
                <a:latin typeface="Poppins Bold"/>
                <a:ea typeface="Poppins Bold"/>
                <a:cs typeface="Poppins Bold"/>
                <a:sym typeface="Poppins Bold"/>
              </a:rPr>
              <a:t>Flugzeugspielplatz im Kreuzviertel</a:t>
            </a:r>
            <a:r>
              <a:rPr lang="en-US" sz="2400">
                <a:solidFill>
                  <a:srgbClr val="000000"/>
                </a:solidFill>
                <a:latin typeface="Poppins"/>
                <a:ea typeface="Poppins"/>
                <a:cs typeface="Poppins"/>
                <a:sym typeface="Poppins"/>
              </a:rPr>
              <a:t> in Münster.</a:t>
            </a:r>
          </a:p>
          <a:p>
            <a:pPr algn="l">
              <a:lnSpc>
                <a:spcPts val="3360"/>
              </a:lnSpc>
            </a:pPr>
            <a:endParaRPr lang="en-US" sz="2400">
              <a:solidFill>
                <a:srgbClr val="000000"/>
              </a:solidFill>
              <a:latin typeface="Poppins"/>
              <a:ea typeface="Poppins"/>
              <a:cs typeface="Poppins"/>
              <a:sym typeface="Poppins"/>
            </a:endParaRPr>
          </a:p>
          <a:p>
            <a:pPr marL="518176" lvl="1" indent="-259088" algn="l">
              <a:lnSpc>
                <a:spcPts val="3360"/>
              </a:lnSpc>
              <a:buFont typeface="Arial"/>
              <a:buChar char="•"/>
            </a:pPr>
            <a:r>
              <a:rPr lang="en-US" sz="2400" b="1">
                <a:solidFill>
                  <a:srgbClr val="000000"/>
                </a:solidFill>
                <a:latin typeface="Poppins Bold"/>
                <a:ea typeface="Poppins Bold"/>
                <a:cs typeface="Poppins Bold"/>
                <a:sym typeface="Poppins Bold"/>
              </a:rPr>
              <a:t>Die Uhrzeit: </a:t>
            </a:r>
          </a:p>
          <a:p>
            <a:pPr marL="1036352" lvl="2" indent="-345451" algn="l">
              <a:lnSpc>
                <a:spcPts val="3360"/>
              </a:lnSpc>
              <a:buFont typeface="Arial"/>
              <a:buChar char="⚬"/>
            </a:pPr>
            <a:r>
              <a:rPr lang="en-US" sz="2400">
                <a:solidFill>
                  <a:srgbClr val="000000"/>
                </a:solidFill>
                <a:latin typeface="Poppins"/>
                <a:ea typeface="Poppins"/>
                <a:cs typeface="Poppins"/>
                <a:sym typeface="Poppins"/>
              </a:rPr>
              <a:t>Ausgehend vom Spielplatz legen die TN auf einer digitalen Karte entlang der Strecke (Luftlinie) zum Schlossplatz den Stundenzeiger. Das gleiche passiert für den Minutenzeiger. Dieser zeigt zum Pavillon im Wienburgpark. Wenn man die drei Standorte von oben betrachtet, kann man eine Uhr und die entsprechende Uhrzeit erkennen(07:58h). Um zu bestimmen, ob es abends oder tagsüber ist, hilft der Mond in der Skizze. Für die Lösung darf die Uhrzeit gerundet werden und somit beträgt die richtige Zeit </a:t>
            </a:r>
            <a:r>
              <a:rPr lang="en-US" sz="2400" b="1">
                <a:solidFill>
                  <a:srgbClr val="000000"/>
                </a:solidFill>
                <a:latin typeface="Poppins Bold"/>
                <a:ea typeface="Poppins Bold"/>
                <a:cs typeface="Poppins Bold"/>
                <a:sym typeface="Poppins Bold"/>
              </a:rPr>
              <a:t>20:00 Uhr.</a:t>
            </a:r>
            <a:r>
              <a:rPr lang="en-US" sz="2400">
                <a:solidFill>
                  <a:srgbClr val="000000"/>
                </a:solidFill>
                <a:latin typeface="Poppins"/>
                <a:ea typeface="Poppins"/>
                <a:cs typeface="Poppins"/>
                <a:sym typeface="Poppins"/>
              </a:rPr>
              <a:t> </a:t>
            </a:r>
          </a:p>
          <a:p>
            <a:pPr algn="l">
              <a:lnSpc>
                <a:spcPts val="3360"/>
              </a:lnSpc>
            </a:pPr>
            <a:endParaRPr lang="en-US" sz="2400">
              <a:solidFill>
                <a:srgbClr val="000000"/>
              </a:solidFill>
              <a:latin typeface="Poppins"/>
              <a:ea typeface="Poppins"/>
              <a:cs typeface="Poppins"/>
              <a:sym typeface="Poppins"/>
            </a:endParaRPr>
          </a:p>
          <a:p>
            <a:pPr algn="l">
              <a:lnSpc>
                <a:spcPts val="3360"/>
              </a:lnSpc>
            </a:pPr>
            <a:endParaRPr lang="en-US" sz="2400">
              <a:solidFill>
                <a:srgbClr val="000000"/>
              </a:solidFill>
              <a:latin typeface="Poppins"/>
              <a:ea typeface="Poppins"/>
              <a:cs typeface="Poppins"/>
              <a:sym typeface="Poppins"/>
            </a:endParaRPr>
          </a:p>
          <a:p>
            <a:pPr algn="l">
              <a:lnSpc>
                <a:spcPts val="3360"/>
              </a:lnSpc>
            </a:pPr>
            <a:endParaRPr lang="en-US" sz="2400">
              <a:solidFill>
                <a:srgbClr val="000000"/>
              </a:solidFill>
              <a:latin typeface="Poppins"/>
              <a:ea typeface="Poppins"/>
              <a:cs typeface="Poppins"/>
              <a:sym typeface="Poppins"/>
            </a:endParaRPr>
          </a:p>
        </p:txBody>
      </p:sp>
      <p:sp>
        <p:nvSpPr>
          <p:cNvPr id="5" name="Freeform 5"/>
          <p:cNvSpPr/>
          <p:nvPr/>
        </p:nvSpPr>
        <p:spPr>
          <a:xfrm>
            <a:off x="15661416" y="413207"/>
            <a:ext cx="2257391" cy="1718082"/>
          </a:xfrm>
          <a:custGeom>
            <a:avLst/>
            <a:gdLst/>
            <a:ahLst/>
            <a:cxnLst/>
            <a:rect l="l" t="t" r="r" b="b"/>
            <a:pathLst>
              <a:path w="2257391" h="1718082">
                <a:moveTo>
                  <a:pt x="0" y="0"/>
                </a:moveTo>
                <a:lnTo>
                  <a:pt x="2257391" y="0"/>
                </a:lnTo>
                <a:lnTo>
                  <a:pt x="2257391" y="1718083"/>
                </a:lnTo>
                <a:lnTo>
                  <a:pt x="0" y="1718083"/>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6" name="Freeform 6"/>
          <p:cNvSpPr/>
          <p:nvPr/>
        </p:nvSpPr>
        <p:spPr>
          <a:xfrm>
            <a:off x="15314140" y="9001800"/>
            <a:ext cx="2787410" cy="1134302"/>
          </a:xfrm>
          <a:custGeom>
            <a:avLst/>
            <a:gdLst/>
            <a:ahLst/>
            <a:cxnLst/>
            <a:rect l="l" t="t" r="r" b="b"/>
            <a:pathLst>
              <a:path w="2787410" h="1134302">
                <a:moveTo>
                  <a:pt x="0" y="0"/>
                </a:moveTo>
                <a:lnTo>
                  <a:pt x="2787411" y="0"/>
                </a:lnTo>
                <a:lnTo>
                  <a:pt x="2787411" y="1134301"/>
                </a:lnTo>
                <a:lnTo>
                  <a:pt x="0" y="1134301"/>
                </a:lnTo>
                <a:lnTo>
                  <a:pt x="0" y="0"/>
                </a:lnTo>
                <a:close/>
              </a:path>
            </a:pathLst>
          </a:custGeom>
          <a:blipFill>
            <a:blip r:embed="rId4"/>
            <a:stretch>
              <a:fillRect/>
            </a:stretch>
          </a:blipFill>
        </p:spPr>
        <p:txBody>
          <a:bodyPr/>
          <a:lstStyle/>
          <a:p>
            <a:endParaRPr lang="de-DE"/>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6F6F1"/>
        </a:solidFill>
        <a:effectLst/>
      </p:bgPr>
    </p:bg>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a:ln w="200025" cap="sq">
            <a:solidFill>
              <a:srgbClr val="EB4210"/>
            </a:solidFill>
            <a:prstDash val="solid"/>
            <a:miter/>
          </a:ln>
        </p:spPr>
        <p:txBody>
          <a:bodyPr/>
          <a:lstStyle/>
          <a:p>
            <a:endParaRPr lang="de-DE"/>
          </a:p>
        </p:txBody>
      </p:sp>
      <p:sp>
        <p:nvSpPr>
          <p:cNvPr id="3" name="TextBox 3"/>
          <p:cNvSpPr txBox="1"/>
          <p:nvPr/>
        </p:nvSpPr>
        <p:spPr>
          <a:xfrm>
            <a:off x="1390898" y="1567064"/>
            <a:ext cx="15506205" cy="976052"/>
          </a:xfrm>
          <a:prstGeom prst="rect">
            <a:avLst/>
          </a:prstGeom>
        </p:spPr>
        <p:txBody>
          <a:bodyPr lIns="0" tIns="0" rIns="0" bIns="0" rtlCol="0" anchor="t">
            <a:spAutoFit/>
          </a:bodyPr>
          <a:lstStyle/>
          <a:p>
            <a:pPr algn="l">
              <a:lnSpc>
                <a:spcPts val="7626"/>
              </a:lnSpc>
            </a:pPr>
            <a:r>
              <a:rPr lang="en-US" sz="5447" b="1">
                <a:solidFill>
                  <a:srgbClr val="E8440B"/>
                </a:solidFill>
                <a:latin typeface="Poppins Bold"/>
                <a:ea typeface="Poppins Bold"/>
                <a:cs typeface="Poppins Bold"/>
                <a:sym typeface="Poppins Bold"/>
              </a:rPr>
              <a:t>   Stop-Motion-Filmtechnik: Umsetzung 2 </a:t>
            </a:r>
          </a:p>
        </p:txBody>
      </p:sp>
      <p:sp>
        <p:nvSpPr>
          <p:cNvPr id="4" name="TextBox 4"/>
          <p:cNvSpPr txBox="1"/>
          <p:nvPr/>
        </p:nvSpPr>
        <p:spPr>
          <a:xfrm>
            <a:off x="609684" y="2812788"/>
            <a:ext cx="17068632" cy="5454013"/>
          </a:xfrm>
          <a:prstGeom prst="rect">
            <a:avLst/>
          </a:prstGeom>
        </p:spPr>
        <p:txBody>
          <a:bodyPr lIns="0" tIns="0" rIns="0" bIns="0" rtlCol="0" anchor="t">
            <a:spAutoFit/>
          </a:bodyPr>
          <a:lstStyle/>
          <a:p>
            <a:pPr algn="l">
              <a:lnSpc>
                <a:spcPts val="3360"/>
              </a:lnSpc>
            </a:pPr>
            <a:endParaRPr/>
          </a:p>
          <a:p>
            <a:pPr marL="518176" lvl="1" indent="-259088" algn="l">
              <a:lnSpc>
                <a:spcPts val="3360"/>
              </a:lnSpc>
              <a:buFont typeface="Arial"/>
              <a:buChar char="•"/>
            </a:pPr>
            <a:r>
              <a:rPr lang="en-US" sz="2400" b="1">
                <a:solidFill>
                  <a:srgbClr val="000000"/>
                </a:solidFill>
                <a:latin typeface="Poppins Bold"/>
                <a:ea typeface="Poppins Bold"/>
                <a:cs typeface="Poppins Bold"/>
                <a:sym typeface="Poppins Bold"/>
              </a:rPr>
              <a:t>Das Datum:</a:t>
            </a:r>
            <a:r>
              <a:rPr lang="en-US" sz="2400">
                <a:solidFill>
                  <a:srgbClr val="000000"/>
                </a:solidFill>
                <a:latin typeface="Poppins"/>
                <a:ea typeface="Poppins"/>
                <a:cs typeface="Poppins"/>
                <a:sym typeface="Poppins"/>
              </a:rPr>
              <a:t> </a:t>
            </a:r>
          </a:p>
          <a:p>
            <a:pPr marL="1036352" lvl="2" indent="-345451" algn="l">
              <a:lnSpc>
                <a:spcPts val="3360"/>
              </a:lnSpc>
              <a:buFont typeface="Arial"/>
              <a:buChar char="⚬"/>
            </a:pPr>
            <a:r>
              <a:rPr lang="en-US" sz="2400">
                <a:solidFill>
                  <a:srgbClr val="000000"/>
                </a:solidFill>
                <a:latin typeface="Poppins"/>
                <a:ea typeface="Poppins"/>
                <a:cs typeface="Poppins"/>
                <a:sym typeface="Poppins"/>
              </a:rPr>
              <a:t>Um das Datum der Übergabe herauszufinden, müssen die Teilnehmer:innen genau 6 Tage in die Zukunft rechnen. Somit passt sich diese Lösung immer dem aktuellen Datum an.</a:t>
            </a:r>
          </a:p>
          <a:p>
            <a:pPr algn="l">
              <a:lnSpc>
                <a:spcPts val="3360"/>
              </a:lnSpc>
            </a:pPr>
            <a:endParaRPr lang="en-US" sz="2400">
              <a:solidFill>
                <a:srgbClr val="000000"/>
              </a:solidFill>
              <a:latin typeface="Poppins"/>
              <a:ea typeface="Poppins"/>
              <a:cs typeface="Poppins"/>
              <a:sym typeface="Poppins"/>
            </a:endParaRPr>
          </a:p>
          <a:p>
            <a:pPr marL="518176" lvl="1" indent="-259088" algn="l">
              <a:lnSpc>
                <a:spcPts val="3360"/>
              </a:lnSpc>
              <a:buFont typeface="Arial"/>
              <a:buChar char="•"/>
            </a:pPr>
            <a:r>
              <a:rPr lang="en-US" sz="2400" b="1">
                <a:solidFill>
                  <a:srgbClr val="000000"/>
                </a:solidFill>
                <a:latin typeface="Poppins Bold"/>
                <a:ea typeface="Poppins Bold"/>
                <a:cs typeface="Poppins Bold"/>
                <a:sym typeface="Poppins Bold"/>
              </a:rPr>
              <a:t>Der Geldbetrag: </a:t>
            </a:r>
          </a:p>
          <a:p>
            <a:pPr marL="1036352" lvl="2" indent="-345451" algn="l">
              <a:lnSpc>
                <a:spcPts val="3360"/>
              </a:lnSpc>
              <a:buFont typeface="Arial"/>
              <a:buChar char="⚬"/>
            </a:pPr>
            <a:r>
              <a:rPr lang="en-US" sz="2400">
                <a:solidFill>
                  <a:srgbClr val="000000"/>
                </a:solidFill>
                <a:latin typeface="Poppins"/>
                <a:ea typeface="Poppins"/>
                <a:cs typeface="Poppins"/>
                <a:sym typeface="Poppins"/>
              </a:rPr>
              <a:t>Beim Geldbetrag müssen die Zahlen aus den Wörtern herausgelöst werden. In jedem Wort verbirgt sich eine Zahl. Zusätzlich müssen die Wörter entsprechend ihren Farben auf den Farben des vorliegenden Regenbogens sortiert werden, um auf den richtigen Betrag zu kommen.</a:t>
            </a:r>
            <a:r>
              <a:rPr lang="en-US" sz="2400" b="1">
                <a:solidFill>
                  <a:srgbClr val="000000"/>
                </a:solidFill>
                <a:latin typeface="Poppins Bold"/>
                <a:ea typeface="Poppins Bold"/>
                <a:cs typeface="Poppins Bold"/>
                <a:sym typeface="Poppins Bold"/>
              </a:rPr>
              <a:t> Der Betrag lautet: 834.201 €</a:t>
            </a:r>
          </a:p>
          <a:p>
            <a:pPr algn="l">
              <a:lnSpc>
                <a:spcPts val="3360"/>
              </a:lnSpc>
            </a:pPr>
            <a:endParaRPr lang="en-US" sz="2400" b="1">
              <a:solidFill>
                <a:srgbClr val="000000"/>
              </a:solidFill>
              <a:latin typeface="Poppins Bold"/>
              <a:ea typeface="Poppins Bold"/>
              <a:cs typeface="Poppins Bold"/>
              <a:sym typeface="Poppins Bold"/>
            </a:endParaRPr>
          </a:p>
          <a:p>
            <a:pPr marL="518176" lvl="1" indent="-259088" algn="l">
              <a:lnSpc>
                <a:spcPts val="3360"/>
              </a:lnSpc>
              <a:buFont typeface="Arial"/>
              <a:buChar char="•"/>
            </a:pPr>
            <a:r>
              <a:rPr lang="en-US" sz="2400" b="1">
                <a:solidFill>
                  <a:srgbClr val="000000"/>
                </a:solidFill>
                <a:latin typeface="Poppins Bold"/>
                <a:ea typeface="Poppins Bold"/>
                <a:cs typeface="Poppins Bold"/>
                <a:sym typeface="Poppins Bold"/>
              </a:rPr>
              <a:t>Learningapps Lösungswort: 6 (Anzahl der Tage)</a:t>
            </a:r>
          </a:p>
          <a:p>
            <a:pPr algn="l">
              <a:lnSpc>
                <a:spcPts val="3360"/>
              </a:lnSpc>
            </a:pPr>
            <a:endParaRPr lang="en-US" sz="2400" b="1">
              <a:solidFill>
                <a:srgbClr val="000000"/>
              </a:solidFill>
              <a:latin typeface="Poppins Bold"/>
              <a:ea typeface="Poppins Bold"/>
              <a:cs typeface="Poppins Bold"/>
              <a:sym typeface="Poppins Bold"/>
            </a:endParaRPr>
          </a:p>
          <a:p>
            <a:pPr algn="l">
              <a:lnSpc>
                <a:spcPts val="3360"/>
              </a:lnSpc>
            </a:pPr>
            <a:endParaRPr lang="en-US" sz="2400" b="1">
              <a:solidFill>
                <a:srgbClr val="000000"/>
              </a:solidFill>
              <a:latin typeface="Poppins Bold"/>
              <a:ea typeface="Poppins Bold"/>
              <a:cs typeface="Poppins Bold"/>
              <a:sym typeface="Poppins Bold"/>
            </a:endParaRPr>
          </a:p>
        </p:txBody>
      </p:sp>
      <p:sp>
        <p:nvSpPr>
          <p:cNvPr id="5" name="Freeform 5"/>
          <p:cNvSpPr/>
          <p:nvPr/>
        </p:nvSpPr>
        <p:spPr>
          <a:xfrm>
            <a:off x="15661416" y="413207"/>
            <a:ext cx="2257391" cy="1718082"/>
          </a:xfrm>
          <a:custGeom>
            <a:avLst/>
            <a:gdLst/>
            <a:ahLst/>
            <a:cxnLst/>
            <a:rect l="l" t="t" r="r" b="b"/>
            <a:pathLst>
              <a:path w="2257391" h="1718082">
                <a:moveTo>
                  <a:pt x="0" y="0"/>
                </a:moveTo>
                <a:lnTo>
                  <a:pt x="2257391" y="0"/>
                </a:lnTo>
                <a:lnTo>
                  <a:pt x="2257391" y="1718083"/>
                </a:lnTo>
                <a:lnTo>
                  <a:pt x="0" y="1718083"/>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6" name="Freeform 6"/>
          <p:cNvSpPr/>
          <p:nvPr/>
        </p:nvSpPr>
        <p:spPr>
          <a:xfrm>
            <a:off x="15314140" y="9001800"/>
            <a:ext cx="2787410" cy="1134302"/>
          </a:xfrm>
          <a:custGeom>
            <a:avLst/>
            <a:gdLst/>
            <a:ahLst/>
            <a:cxnLst/>
            <a:rect l="l" t="t" r="r" b="b"/>
            <a:pathLst>
              <a:path w="2787410" h="1134302">
                <a:moveTo>
                  <a:pt x="0" y="0"/>
                </a:moveTo>
                <a:lnTo>
                  <a:pt x="2787411" y="0"/>
                </a:lnTo>
                <a:lnTo>
                  <a:pt x="2787411" y="1134301"/>
                </a:lnTo>
                <a:lnTo>
                  <a:pt x="0" y="1134301"/>
                </a:lnTo>
                <a:lnTo>
                  <a:pt x="0" y="0"/>
                </a:lnTo>
                <a:close/>
              </a:path>
            </a:pathLst>
          </a:custGeom>
          <a:blipFill>
            <a:blip r:embed="rId4"/>
            <a:stretch>
              <a:fillRect/>
            </a:stretch>
          </a:blipFill>
        </p:spPr>
        <p:txBody>
          <a:bodyPr/>
          <a:lstStyle/>
          <a:p>
            <a:endParaRPr lang="de-DE"/>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6F6F1"/>
        </a:solidFill>
        <a:effectLst/>
      </p:bgPr>
    </p:bg>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a:ln w="200025" cap="sq">
            <a:solidFill>
              <a:srgbClr val="EB4210"/>
            </a:solidFill>
            <a:prstDash val="solid"/>
            <a:miter/>
          </a:ln>
        </p:spPr>
        <p:txBody>
          <a:bodyPr/>
          <a:lstStyle/>
          <a:p>
            <a:endParaRPr lang="de-DE"/>
          </a:p>
        </p:txBody>
      </p:sp>
      <p:sp>
        <p:nvSpPr>
          <p:cNvPr id="3" name="Freeform 3"/>
          <p:cNvSpPr/>
          <p:nvPr/>
        </p:nvSpPr>
        <p:spPr>
          <a:xfrm>
            <a:off x="15314140" y="9001800"/>
            <a:ext cx="2787410" cy="1134302"/>
          </a:xfrm>
          <a:custGeom>
            <a:avLst/>
            <a:gdLst/>
            <a:ahLst/>
            <a:cxnLst/>
            <a:rect l="l" t="t" r="r" b="b"/>
            <a:pathLst>
              <a:path w="2787410" h="1134302">
                <a:moveTo>
                  <a:pt x="0" y="0"/>
                </a:moveTo>
                <a:lnTo>
                  <a:pt x="2787411" y="0"/>
                </a:lnTo>
                <a:lnTo>
                  <a:pt x="2787411" y="1134301"/>
                </a:lnTo>
                <a:lnTo>
                  <a:pt x="0" y="1134301"/>
                </a:lnTo>
                <a:lnTo>
                  <a:pt x="0" y="0"/>
                </a:lnTo>
                <a:close/>
              </a:path>
            </a:pathLst>
          </a:custGeom>
          <a:blipFill>
            <a:blip r:embed="rId3"/>
            <a:stretch>
              <a:fillRect/>
            </a:stretch>
          </a:blipFill>
        </p:spPr>
        <p:txBody>
          <a:bodyPr/>
          <a:lstStyle/>
          <a:p>
            <a:endParaRPr lang="de-DE"/>
          </a:p>
        </p:txBody>
      </p:sp>
      <p:sp>
        <p:nvSpPr>
          <p:cNvPr id="4" name="TextBox 4"/>
          <p:cNvSpPr txBox="1"/>
          <p:nvPr/>
        </p:nvSpPr>
        <p:spPr>
          <a:xfrm>
            <a:off x="1390898" y="1567064"/>
            <a:ext cx="15506205" cy="976052"/>
          </a:xfrm>
          <a:prstGeom prst="rect">
            <a:avLst/>
          </a:prstGeom>
        </p:spPr>
        <p:txBody>
          <a:bodyPr lIns="0" tIns="0" rIns="0" bIns="0" rtlCol="0" anchor="t">
            <a:spAutoFit/>
          </a:bodyPr>
          <a:lstStyle/>
          <a:p>
            <a:pPr algn="ctr">
              <a:lnSpc>
                <a:spcPts val="7626"/>
              </a:lnSpc>
            </a:pPr>
            <a:r>
              <a:rPr lang="en-US" sz="5447" b="1">
                <a:solidFill>
                  <a:srgbClr val="E8440B"/>
                </a:solidFill>
                <a:latin typeface="Poppins Bold"/>
                <a:ea typeface="Poppins Bold"/>
                <a:cs typeface="Poppins Bold"/>
                <a:sym typeface="Poppins Bold"/>
              </a:rPr>
              <a:t>Künstliche Intelligenz: Checkliste</a:t>
            </a:r>
          </a:p>
        </p:txBody>
      </p:sp>
      <p:sp>
        <p:nvSpPr>
          <p:cNvPr id="5" name="TextBox 5"/>
          <p:cNvSpPr txBox="1"/>
          <p:nvPr/>
        </p:nvSpPr>
        <p:spPr>
          <a:xfrm>
            <a:off x="609684" y="2822313"/>
            <a:ext cx="17068632" cy="5034913"/>
          </a:xfrm>
          <a:prstGeom prst="rect">
            <a:avLst/>
          </a:prstGeom>
        </p:spPr>
        <p:txBody>
          <a:bodyPr lIns="0" tIns="0" rIns="0" bIns="0" rtlCol="0" anchor="t">
            <a:spAutoFit/>
          </a:bodyPr>
          <a:lstStyle/>
          <a:p>
            <a:pPr marL="518176" lvl="1" indent="-259088" algn="l">
              <a:lnSpc>
                <a:spcPts val="3360"/>
              </a:lnSpc>
              <a:buFont typeface="Arial"/>
              <a:buChar char="•"/>
            </a:pPr>
            <a:r>
              <a:rPr lang="en-US" sz="2400" b="1">
                <a:solidFill>
                  <a:srgbClr val="000000"/>
                </a:solidFill>
                <a:latin typeface="Poppins Bold"/>
                <a:ea typeface="Poppins Bold"/>
                <a:cs typeface="Poppins Bold"/>
                <a:sym typeface="Poppins Bold"/>
              </a:rPr>
              <a:t>Digitale Tools inkl. der ggf. notwendigen Software:</a:t>
            </a:r>
          </a:p>
          <a:p>
            <a:pPr marL="1036352" lvl="2" indent="-345451" algn="l">
              <a:lnSpc>
                <a:spcPts val="3360"/>
              </a:lnSpc>
              <a:buFont typeface="Arial"/>
              <a:buChar char="⚬"/>
            </a:pPr>
            <a:r>
              <a:rPr lang="en-US" sz="2400">
                <a:solidFill>
                  <a:srgbClr val="000000"/>
                </a:solidFill>
                <a:latin typeface="Poppins"/>
                <a:ea typeface="Poppins"/>
                <a:cs typeface="Poppins"/>
                <a:sym typeface="Poppins"/>
              </a:rPr>
              <a:t>Notebook</a:t>
            </a:r>
          </a:p>
          <a:p>
            <a:pPr marL="1036352" lvl="2" indent="-345451" algn="l">
              <a:lnSpc>
                <a:spcPts val="3360"/>
              </a:lnSpc>
              <a:buFont typeface="Arial"/>
              <a:buChar char="⚬"/>
            </a:pPr>
            <a:r>
              <a:rPr lang="en-US" sz="2400">
                <a:solidFill>
                  <a:srgbClr val="000000"/>
                </a:solidFill>
                <a:latin typeface="Poppins"/>
                <a:ea typeface="Poppins"/>
                <a:cs typeface="Poppins"/>
                <a:sym typeface="Poppins"/>
              </a:rPr>
              <a:t>Zugang zu KI-Assistenten</a:t>
            </a:r>
          </a:p>
          <a:p>
            <a:pPr algn="l">
              <a:lnSpc>
                <a:spcPts val="3360"/>
              </a:lnSpc>
            </a:pPr>
            <a:endParaRPr lang="en-US" sz="2400">
              <a:solidFill>
                <a:srgbClr val="000000"/>
              </a:solidFill>
              <a:latin typeface="Poppins"/>
              <a:ea typeface="Poppins"/>
              <a:cs typeface="Poppins"/>
              <a:sym typeface="Poppins"/>
            </a:endParaRPr>
          </a:p>
          <a:p>
            <a:pPr marL="518176" lvl="1" indent="-259088" algn="l">
              <a:lnSpc>
                <a:spcPts val="3360"/>
              </a:lnSpc>
              <a:buFont typeface="Arial"/>
              <a:buChar char="•"/>
            </a:pPr>
            <a:r>
              <a:rPr lang="en-US" sz="2400" b="1">
                <a:solidFill>
                  <a:srgbClr val="000000"/>
                </a:solidFill>
                <a:latin typeface="Poppins Bold"/>
                <a:ea typeface="Poppins Bold"/>
                <a:cs typeface="Poppins Bold"/>
                <a:sym typeface="Poppins Bold"/>
              </a:rPr>
              <a:t>Druckmaterial:</a:t>
            </a:r>
          </a:p>
          <a:p>
            <a:pPr marL="1036352" lvl="2" indent="-345451" algn="l">
              <a:lnSpc>
                <a:spcPts val="3360"/>
              </a:lnSpc>
              <a:buFont typeface="Arial"/>
              <a:buChar char="⚬"/>
            </a:pPr>
            <a:r>
              <a:rPr lang="en-US" sz="2400">
                <a:solidFill>
                  <a:srgbClr val="000000"/>
                </a:solidFill>
                <a:latin typeface="Poppins"/>
                <a:ea typeface="Poppins"/>
                <a:cs typeface="Poppins"/>
                <a:sym typeface="Poppins"/>
              </a:rPr>
              <a:t>Stationsschild</a:t>
            </a:r>
          </a:p>
          <a:p>
            <a:pPr marL="1036352" lvl="2" indent="-345451" algn="l">
              <a:lnSpc>
                <a:spcPts val="3360"/>
              </a:lnSpc>
              <a:buFont typeface="Arial"/>
              <a:buChar char="⚬"/>
            </a:pPr>
            <a:r>
              <a:rPr lang="en-US" sz="2400">
                <a:solidFill>
                  <a:srgbClr val="000000"/>
                </a:solidFill>
                <a:latin typeface="Poppins"/>
                <a:ea typeface="Poppins"/>
                <a:cs typeface="Poppins"/>
                <a:sym typeface="Poppins"/>
              </a:rPr>
              <a:t>Aufgabentext des Meisterdiebs zum analogen Nachlesen (optional) </a:t>
            </a:r>
          </a:p>
          <a:p>
            <a:pPr marL="1036352" lvl="2" indent="-345451" algn="l">
              <a:lnSpc>
                <a:spcPts val="3360"/>
              </a:lnSpc>
              <a:buFont typeface="Arial"/>
              <a:buChar char="⚬"/>
            </a:pPr>
            <a:r>
              <a:rPr lang="en-US" sz="2400">
                <a:solidFill>
                  <a:srgbClr val="000000"/>
                </a:solidFill>
                <a:latin typeface="Poppins"/>
                <a:ea typeface="Poppins"/>
                <a:cs typeface="Poppins"/>
                <a:sym typeface="Poppins"/>
              </a:rPr>
              <a:t>Zeitungsartikel ausgedruckt und beschreibbar</a:t>
            </a:r>
          </a:p>
          <a:p>
            <a:pPr marL="1036352" lvl="2" indent="-345451" algn="l">
              <a:lnSpc>
                <a:spcPts val="3360"/>
              </a:lnSpc>
              <a:buFont typeface="Arial"/>
              <a:buChar char="⚬"/>
            </a:pPr>
            <a:r>
              <a:rPr lang="en-US" sz="2400">
                <a:solidFill>
                  <a:srgbClr val="000000"/>
                </a:solidFill>
                <a:latin typeface="Poppins"/>
                <a:ea typeface="Poppins"/>
                <a:cs typeface="Poppins"/>
                <a:sym typeface="Poppins"/>
              </a:rPr>
              <a:t>QR-Code, der zur Ergebnis-TaskCard mit Schreibrecht für die Teilnehmenden führt</a:t>
            </a:r>
          </a:p>
          <a:p>
            <a:pPr algn="l">
              <a:lnSpc>
                <a:spcPts val="3360"/>
              </a:lnSpc>
            </a:pPr>
            <a:endParaRPr lang="en-US" sz="2400">
              <a:solidFill>
                <a:srgbClr val="000000"/>
              </a:solidFill>
              <a:latin typeface="Poppins"/>
              <a:ea typeface="Poppins"/>
              <a:cs typeface="Poppins"/>
              <a:sym typeface="Poppins"/>
            </a:endParaRPr>
          </a:p>
          <a:p>
            <a:pPr marL="518176" lvl="1" indent="-259088" algn="l">
              <a:lnSpc>
                <a:spcPts val="3360"/>
              </a:lnSpc>
              <a:buFont typeface="Arial"/>
              <a:buChar char="•"/>
            </a:pPr>
            <a:r>
              <a:rPr lang="en-US" sz="2400" b="1">
                <a:solidFill>
                  <a:srgbClr val="000000"/>
                </a:solidFill>
                <a:latin typeface="Poppins Bold"/>
                <a:ea typeface="Poppins Bold"/>
                <a:cs typeface="Poppins Bold"/>
                <a:sym typeface="Poppins Bold"/>
              </a:rPr>
              <a:t>Arbeitsmaterial </a:t>
            </a:r>
          </a:p>
          <a:p>
            <a:pPr marL="1036352" lvl="2" indent="-345451" algn="l">
              <a:lnSpc>
                <a:spcPts val="3360"/>
              </a:lnSpc>
              <a:buFont typeface="Arial"/>
              <a:buChar char="⚬"/>
            </a:pPr>
            <a:r>
              <a:rPr lang="en-US" sz="2400">
                <a:solidFill>
                  <a:srgbClr val="000000"/>
                </a:solidFill>
                <a:latin typeface="Poppins"/>
                <a:ea typeface="Poppins"/>
                <a:cs typeface="Poppins"/>
                <a:sym typeface="Poppins"/>
              </a:rPr>
              <a:t>Stift und Papier für Notizen des Teams</a:t>
            </a:r>
          </a:p>
        </p:txBody>
      </p:sp>
      <p:sp>
        <p:nvSpPr>
          <p:cNvPr id="6" name="Freeform 6"/>
          <p:cNvSpPr/>
          <p:nvPr/>
        </p:nvSpPr>
        <p:spPr>
          <a:xfrm>
            <a:off x="15120417" y="333954"/>
            <a:ext cx="2845941" cy="2209162"/>
          </a:xfrm>
          <a:custGeom>
            <a:avLst/>
            <a:gdLst/>
            <a:ahLst/>
            <a:cxnLst/>
            <a:rect l="l" t="t" r="r" b="b"/>
            <a:pathLst>
              <a:path w="2845941" h="2209162">
                <a:moveTo>
                  <a:pt x="0" y="0"/>
                </a:moveTo>
                <a:lnTo>
                  <a:pt x="2845942" y="0"/>
                </a:lnTo>
                <a:lnTo>
                  <a:pt x="2845942" y="2209162"/>
                </a:lnTo>
                <a:lnTo>
                  <a:pt x="0" y="2209162"/>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6F6F1"/>
        </a:solidFill>
        <a:effectLst/>
      </p:bgPr>
    </p:bg>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a:ln w="200025" cap="sq">
            <a:solidFill>
              <a:srgbClr val="EB4210"/>
            </a:solidFill>
            <a:prstDash val="solid"/>
            <a:miter/>
          </a:ln>
        </p:spPr>
        <p:txBody>
          <a:bodyPr/>
          <a:lstStyle/>
          <a:p>
            <a:endParaRPr lang="de-DE"/>
          </a:p>
        </p:txBody>
      </p:sp>
      <p:sp>
        <p:nvSpPr>
          <p:cNvPr id="3" name="Freeform 3"/>
          <p:cNvSpPr/>
          <p:nvPr/>
        </p:nvSpPr>
        <p:spPr>
          <a:xfrm>
            <a:off x="15314140" y="9001800"/>
            <a:ext cx="2787410" cy="1134302"/>
          </a:xfrm>
          <a:custGeom>
            <a:avLst/>
            <a:gdLst/>
            <a:ahLst/>
            <a:cxnLst/>
            <a:rect l="l" t="t" r="r" b="b"/>
            <a:pathLst>
              <a:path w="2787410" h="1134302">
                <a:moveTo>
                  <a:pt x="0" y="0"/>
                </a:moveTo>
                <a:lnTo>
                  <a:pt x="2787411" y="0"/>
                </a:lnTo>
                <a:lnTo>
                  <a:pt x="2787411" y="1134301"/>
                </a:lnTo>
                <a:lnTo>
                  <a:pt x="0" y="1134301"/>
                </a:lnTo>
                <a:lnTo>
                  <a:pt x="0" y="0"/>
                </a:lnTo>
                <a:close/>
              </a:path>
            </a:pathLst>
          </a:custGeom>
          <a:blipFill>
            <a:blip r:embed="rId3"/>
            <a:stretch>
              <a:fillRect/>
            </a:stretch>
          </a:blipFill>
        </p:spPr>
        <p:txBody>
          <a:bodyPr/>
          <a:lstStyle/>
          <a:p>
            <a:endParaRPr lang="de-DE"/>
          </a:p>
        </p:txBody>
      </p:sp>
      <p:sp>
        <p:nvSpPr>
          <p:cNvPr id="4" name="TextBox 4"/>
          <p:cNvSpPr txBox="1"/>
          <p:nvPr/>
        </p:nvSpPr>
        <p:spPr>
          <a:xfrm>
            <a:off x="1390898" y="1567064"/>
            <a:ext cx="15506205" cy="976052"/>
          </a:xfrm>
          <a:prstGeom prst="rect">
            <a:avLst/>
          </a:prstGeom>
        </p:spPr>
        <p:txBody>
          <a:bodyPr lIns="0" tIns="0" rIns="0" bIns="0" rtlCol="0" anchor="t">
            <a:spAutoFit/>
          </a:bodyPr>
          <a:lstStyle/>
          <a:p>
            <a:pPr algn="ctr">
              <a:lnSpc>
                <a:spcPts val="7626"/>
              </a:lnSpc>
            </a:pPr>
            <a:r>
              <a:rPr lang="en-US" sz="5447" b="1">
                <a:solidFill>
                  <a:srgbClr val="E8440B"/>
                </a:solidFill>
                <a:latin typeface="Poppins Bold"/>
                <a:ea typeface="Poppins Bold"/>
                <a:cs typeface="Poppins Bold"/>
                <a:sym typeface="Poppins Bold"/>
              </a:rPr>
              <a:t>Künstliche Intelligenz: Umsetzung </a:t>
            </a:r>
          </a:p>
        </p:txBody>
      </p:sp>
      <p:sp>
        <p:nvSpPr>
          <p:cNvPr id="5" name="TextBox 5"/>
          <p:cNvSpPr txBox="1"/>
          <p:nvPr/>
        </p:nvSpPr>
        <p:spPr>
          <a:xfrm>
            <a:off x="605767" y="2812788"/>
            <a:ext cx="17068632" cy="2939413"/>
          </a:xfrm>
          <a:prstGeom prst="rect">
            <a:avLst/>
          </a:prstGeom>
        </p:spPr>
        <p:txBody>
          <a:bodyPr lIns="0" tIns="0" rIns="0" bIns="0" rtlCol="0" anchor="t">
            <a:spAutoFit/>
          </a:bodyPr>
          <a:lstStyle/>
          <a:p>
            <a:pPr marL="518176" lvl="1" indent="-259088" algn="l">
              <a:lnSpc>
                <a:spcPts val="3360"/>
              </a:lnSpc>
              <a:buFont typeface="Arial"/>
              <a:buChar char="•"/>
            </a:pPr>
            <a:r>
              <a:rPr lang="en-US" sz="2400" b="1">
                <a:solidFill>
                  <a:srgbClr val="000000"/>
                </a:solidFill>
                <a:latin typeface="Poppins Bold"/>
                <a:ea typeface="Poppins Bold"/>
                <a:cs typeface="Poppins Bold"/>
                <a:sym typeface="Poppins Bold"/>
              </a:rPr>
              <a:t>Rätsel &amp; Aufgabe: Findet das Zugangspasswort und erstellt einen Medienbeitrag eurer Wahl zum genialen Raubzug. </a:t>
            </a:r>
          </a:p>
          <a:p>
            <a:pPr algn="l">
              <a:lnSpc>
                <a:spcPts val="3360"/>
              </a:lnSpc>
            </a:pPr>
            <a:endParaRPr lang="en-US" sz="2400" b="1">
              <a:solidFill>
                <a:srgbClr val="000000"/>
              </a:solidFill>
              <a:latin typeface="Poppins Bold"/>
              <a:ea typeface="Poppins Bold"/>
              <a:cs typeface="Poppins Bold"/>
              <a:sym typeface="Poppins Bold"/>
            </a:endParaRPr>
          </a:p>
          <a:p>
            <a:pPr marL="518176" lvl="1" indent="-259088" algn="l">
              <a:lnSpc>
                <a:spcPts val="3360"/>
              </a:lnSpc>
              <a:buFont typeface="Arial"/>
              <a:buChar char="•"/>
            </a:pPr>
            <a:r>
              <a:rPr lang="en-US" sz="2400">
                <a:solidFill>
                  <a:srgbClr val="000000"/>
                </a:solidFill>
                <a:latin typeface="Poppins"/>
                <a:ea typeface="Poppins"/>
                <a:cs typeface="Poppins"/>
                <a:sym typeface="Poppins"/>
              </a:rPr>
              <a:t>In der Rätselgrafik sind zwei Zeitungsartikel abgedruckt. Aus diesen muss das Passwort entnommen werden mithilfe der Entschlüsselungsmethode – Artikel – Zeile – Wort – Buchstabe. Bei der Methode bekommt die Gruppe mehrere Codes (z.B. u-3-1-1 = unten – Zeile 3 – Wort 1 – Buchstabe 1).</a:t>
            </a:r>
          </a:p>
          <a:p>
            <a:pPr algn="l">
              <a:lnSpc>
                <a:spcPts val="3360"/>
              </a:lnSpc>
            </a:pPr>
            <a:endParaRPr lang="en-US" sz="2400">
              <a:solidFill>
                <a:srgbClr val="000000"/>
              </a:solidFill>
              <a:latin typeface="Poppins"/>
              <a:ea typeface="Poppins"/>
              <a:cs typeface="Poppins"/>
              <a:sym typeface="Poppins"/>
            </a:endParaRPr>
          </a:p>
        </p:txBody>
      </p:sp>
      <p:sp>
        <p:nvSpPr>
          <p:cNvPr id="6" name="Freeform 6"/>
          <p:cNvSpPr/>
          <p:nvPr/>
        </p:nvSpPr>
        <p:spPr>
          <a:xfrm>
            <a:off x="15120417" y="333954"/>
            <a:ext cx="2845941" cy="2209162"/>
          </a:xfrm>
          <a:custGeom>
            <a:avLst/>
            <a:gdLst/>
            <a:ahLst/>
            <a:cxnLst/>
            <a:rect l="l" t="t" r="r" b="b"/>
            <a:pathLst>
              <a:path w="2845941" h="2209162">
                <a:moveTo>
                  <a:pt x="0" y="0"/>
                </a:moveTo>
                <a:lnTo>
                  <a:pt x="2845942" y="0"/>
                </a:lnTo>
                <a:lnTo>
                  <a:pt x="2845942" y="2209162"/>
                </a:lnTo>
                <a:lnTo>
                  <a:pt x="0" y="2209162"/>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7" name="TextBox 7"/>
          <p:cNvSpPr txBox="1"/>
          <p:nvPr/>
        </p:nvSpPr>
        <p:spPr>
          <a:xfrm>
            <a:off x="11900473" y="5685526"/>
            <a:ext cx="2768370" cy="3728237"/>
          </a:xfrm>
          <a:prstGeom prst="rect">
            <a:avLst/>
          </a:prstGeom>
        </p:spPr>
        <p:txBody>
          <a:bodyPr lIns="0" tIns="0" rIns="0" bIns="0" rtlCol="0" anchor="t">
            <a:spAutoFit/>
          </a:bodyPr>
          <a:lstStyle/>
          <a:p>
            <a:pPr algn="l">
              <a:lnSpc>
                <a:spcPts val="2931"/>
              </a:lnSpc>
            </a:pPr>
            <a:r>
              <a:rPr lang="en-US" sz="2094" b="1">
                <a:solidFill>
                  <a:srgbClr val="000000"/>
                </a:solidFill>
                <a:latin typeface="Poppins Bold"/>
                <a:ea typeface="Poppins Bold"/>
                <a:cs typeface="Poppins Bold"/>
                <a:sym typeface="Poppins Bold"/>
              </a:rPr>
              <a:t>u-3-1-1 (R)</a:t>
            </a:r>
          </a:p>
          <a:p>
            <a:pPr algn="l">
              <a:lnSpc>
                <a:spcPts val="2931"/>
              </a:lnSpc>
            </a:pPr>
            <a:r>
              <a:rPr lang="en-US" sz="2094" b="1">
                <a:solidFill>
                  <a:srgbClr val="000000"/>
                </a:solidFill>
                <a:latin typeface="Poppins Bold"/>
                <a:ea typeface="Poppins Bold"/>
                <a:cs typeface="Poppins Bold"/>
                <a:sym typeface="Poppins Bold"/>
              </a:rPr>
              <a:t>u-16-3-5 (E)</a:t>
            </a:r>
          </a:p>
          <a:p>
            <a:pPr algn="l">
              <a:lnSpc>
                <a:spcPts val="2931"/>
              </a:lnSpc>
            </a:pPr>
            <a:r>
              <a:rPr lang="en-US" sz="2094" b="1">
                <a:solidFill>
                  <a:srgbClr val="000000"/>
                </a:solidFill>
                <a:latin typeface="Poppins Bold"/>
                <a:ea typeface="Poppins Bold"/>
                <a:cs typeface="Poppins Bold"/>
                <a:sym typeface="Poppins Bold"/>
              </a:rPr>
              <a:t>o-4-4-12 (G)</a:t>
            </a:r>
          </a:p>
          <a:p>
            <a:pPr algn="l">
              <a:lnSpc>
                <a:spcPts val="2931"/>
              </a:lnSpc>
            </a:pPr>
            <a:r>
              <a:rPr lang="en-US" sz="2094" b="1">
                <a:solidFill>
                  <a:srgbClr val="000000"/>
                </a:solidFill>
                <a:latin typeface="Poppins Bold"/>
                <a:ea typeface="Poppins Bold"/>
                <a:cs typeface="Poppins Bold"/>
                <a:sym typeface="Poppins Bold"/>
              </a:rPr>
              <a:t>u-26-1-1 (E)</a:t>
            </a:r>
          </a:p>
          <a:p>
            <a:pPr algn="l">
              <a:lnSpc>
                <a:spcPts val="2931"/>
              </a:lnSpc>
            </a:pPr>
            <a:r>
              <a:rPr lang="en-US" sz="2094" b="1">
                <a:solidFill>
                  <a:srgbClr val="000000"/>
                </a:solidFill>
                <a:latin typeface="Poppins Bold"/>
                <a:ea typeface="Poppins Bold"/>
                <a:cs typeface="Poppins Bold"/>
                <a:sym typeface="Poppins Bold"/>
              </a:rPr>
              <a:t>o-15-1-2 (N)</a:t>
            </a:r>
          </a:p>
          <a:p>
            <a:pPr algn="l">
              <a:lnSpc>
                <a:spcPts val="2931"/>
              </a:lnSpc>
            </a:pPr>
            <a:r>
              <a:rPr lang="en-US" sz="2094" b="1">
                <a:solidFill>
                  <a:srgbClr val="000000"/>
                </a:solidFill>
                <a:latin typeface="Poppins Bold"/>
                <a:ea typeface="Poppins Bold"/>
                <a:cs typeface="Poppins Bold"/>
                <a:sym typeface="Poppins Bold"/>
              </a:rPr>
              <a:t>o-7-4-4 (B)</a:t>
            </a:r>
          </a:p>
          <a:p>
            <a:pPr algn="l">
              <a:lnSpc>
                <a:spcPts val="2931"/>
              </a:lnSpc>
            </a:pPr>
            <a:r>
              <a:rPr lang="en-US" sz="2094" b="1">
                <a:solidFill>
                  <a:srgbClr val="000000"/>
                </a:solidFill>
                <a:latin typeface="Poppins Bold"/>
                <a:ea typeface="Poppins Bold"/>
                <a:cs typeface="Poppins Bold"/>
                <a:sym typeface="Poppins Bold"/>
              </a:rPr>
              <a:t>u-27-6-1 (O)</a:t>
            </a:r>
          </a:p>
          <a:p>
            <a:pPr algn="l">
              <a:lnSpc>
                <a:spcPts val="2931"/>
              </a:lnSpc>
            </a:pPr>
            <a:r>
              <a:rPr lang="en-US" sz="2094" b="1">
                <a:solidFill>
                  <a:srgbClr val="000000"/>
                </a:solidFill>
                <a:latin typeface="Poppins Bold"/>
                <a:ea typeface="Poppins Bold"/>
                <a:cs typeface="Poppins Bold"/>
                <a:sym typeface="Poppins Bold"/>
              </a:rPr>
              <a:t>o-9-3-7 (G)</a:t>
            </a:r>
          </a:p>
          <a:p>
            <a:pPr algn="l">
              <a:lnSpc>
                <a:spcPts val="2931"/>
              </a:lnSpc>
              <a:spcBef>
                <a:spcPct val="0"/>
              </a:spcBef>
            </a:pPr>
            <a:r>
              <a:rPr lang="en-US" sz="2094" b="1">
                <a:solidFill>
                  <a:srgbClr val="000000"/>
                </a:solidFill>
                <a:latin typeface="Poppins Bold"/>
                <a:ea typeface="Poppins Bold"/>
                <a:cs typeface="Poppins Bold"/>
                <a:sym typeface="Poppins Bold"/>
              </a:rPr>
              <a:t>u-9-2-1 (E)</a:t>
            </a:r>
          </a:p>
          <a:p>
            <a:pPr algn="l">
              <a:lnSpc>
                <a:spcPts val="2931"/>
              </a:lnSpc>
              <a:spcBef>
                <a:spcPct val="0"/>
              </a:spcBef>
            </a:pPr>
            <a:r>
              <a:rPr lang="en-US" sz="2094" b="1">
                <a:solidFill>
                  <a:srgbClr val="000000"/>
                </a:solidFill>
                <a:latin typeface="Poppins Bold"/>
                <a:ea typeface="Poppins Bold"/>
                <a:cs typeface="Poppins Bold"/>
                <a:sym typeface="Poppins Bold"/>
              </a:rPr>
              <a:t>u-18-3-6 (N)</a:t>
            </a:r>
          </a:p>
        </p:txBody>
      </p:sp>
      <p:sp>
        <p:nvSpPr>
          <p:cNvPr id="8" name="TextBox 8"/>
          <p:cNvSpPr txBox="1"/>
          <p:nvPr/>
        </p:nvSpPr>
        <p:spPr>
          <a:xfrm>
            <a:off x="605767" y="5676001"/>
            <a:ext cx="11084197" cy="3034313"/>
          </a:xfrm>
          <a:prstGeom prst="rect">
            <a:avLst/>
          </a:prstGeom>
        </p:spPr>
        <p:txBody>
          <a:bodyPr lIns="0" tIns="0" rIns="0" bIns="0" rtlCol="0" anchor="t">
            <a:spAutoFit/>
          </a:bodyPr>
          <a:lstStyle/>
          <a:p>
            <a:pPr marL="513841" lvl="1" indent="-256921" algn="l">
              <a:lnSpc>
                <a:spcPts val="3331"/>
              </a:lnSpc>
              <a:spcBef>
                <a:spcPct val="0"/>
              </a:spcBef>
              <a:buFont typeface="Arial"/>
              <a:buChar char="•"/>
            </a:pPr>
            <a:r>
              <a:rPr lang="en-US" sz="2379" b="1">
                <a:solidFill>
                  <a:srgbClr val="000000"/>
                </a:solidFill>
                <a:latin typeface="Poppins Bold"/>
                <a:ea typeface="Poppins Bold"/>
                <a:cs typeface="Poppins Bold"/>
                <a:sym typeface="Poppins Bold"/>
              </a:rPr>
              <a:t>Lösung: </a:t>
            </a:r>
            <a:r>
              <a:rPr lang="en-US" sz="2379">
                <a:solidFill>
                  <a:srgbClr val="000000"/>
                </a:solidFill>
                <a:latin typeface="Poppins"/>
                <a:ea typeface="Poppins"/>
                <a:cs typeface="Poppins"/>
                <a:sym typeface="Poppins"/>
              </a:rPr>
              <a:t>Regenbogen - Die Lösung wir einem:r Mitarbeiter:in des Digitallabors genannt und dann wird der Zugang zu Fobizz freigeschaltet.</a:t>
            </a:r>
          </a:p>
          <a:p>
            <a:pPr algn="l">
              <a:lnSpc>
                <a:spcPts val="3331"/>
              </a:lnSpc>
              <a:spcBef>
                <a:spcPct val="0"/>
              </a:spcBef>
            </a:pPr>
            <a:endParaRPr lang="en-US" sz="2379">
              <a:solidFill>
                <a:srgbClr val="000000"/>
              </a:solidFill>
              <a:latin typeface="Poppins"/>
              <a:ea typeface="Poppins"/>
              <a:cs typeface="Poppins"/>
              <a:sym typeface="Poppins"/>
            </a:endParaRPr>
          </a:p>
          <a:p>
            <a:pPr marL="513841" lvl="1" indent="-256921" algn="l">
              <a:lnSpc>
                <a:spcPts val="3331"/>
              </a:lnSpc>
              <a:spcBef>
                <a:spcPct val="0"/>
              </a:spcBef>
              <a:buFont typeface="Arial"/>
              <a:buChar char="•"/>
            </a:pPr>
            <a:r>
              <a:rPr lang="en-US" sz="2379" b="1">
                <a:solidFill>
                  <a:srgbClr val="000000"/>
                </a:solidFill>
                <a:latin typeface="Poppins Bold"/>
                <a:ea typeface="Poppins Bold"/>
                <a:cs typeface="Poppins Bold"/>
                <a:sym typeface="Poppins Bold"/>
              </a:rPr>
              <a:t>Learningapps Lösungswort:</a:t>
            </a:r>
            <a:r>
              <a:rPr lang="en-US" sz="2379">
                <a:solidFill>
                  <a:srgbClr val="000000"/>
                </a:solidFill>
                <a:latin typeface="Poppins"/>
                <a:ea typeface="Poppins"/>
                <a:cs typeface="Poppins"/>
                <a:sym typeface="Poppins"/>
              </a:rPr>
              <a:t> Regenbogen</a:t>
            </a:r>
          </a:p>
          <a:p>
            <a:pPr algn="ctr">
              <a:lnSpc>
                <a:spcPts val="7626"/>
              </a:lnSpc>
              <a:spcBef>
                <a:spcPct val="0"/>
              </a:spcBef>
            </a:pPr>
            <a:endParaRPr lang="en-US" sz="2379">
              <a:solidFill>
                <a:srgbClr val="000000"/>
              </a:solidFill>
              <a:latin typeface="Poppins"/>
              <a:ea typeface="Poppins"/>
              <a:cs typeface="Poppins"/>
              <a:sym typeface="Poppins"/>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6F6F1"/>
        </a:solidFill>
        <a:effectLst/>
      </p:bgPr>
    </p:bg>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a:ln w="200025" cap="sq">
            <a:solidFill>
              <a:srgbClr val="EB4210"/>
            </a:solidFill>
            <a:prstDash val="solid"/>
            <a:miter/>
          </a:ln>
        </p:spPr>
        <p:txBody>
          <a:bodyPr/>
          <a:lstStyle/>
          <a:p>
            <a:endParaRPr lang="de-DE"/>
          </a:p>
        </p:txBody>
      </p:sp>
      <p:sp>
        <p:nvSpPr>
          <p:cNvPr id="3" name="Freeform 3"/>
          <p:cNvSpPr/>
          <p:nvPr/>
        </p:nvSpPr>
        <p:spPr>
          <a:xfrm>
            <a:off x="15314140" y="9001800"/>
            <a:ext cx="2787410" cy="1134302"/>
          </a:xfrm>
          <a:custGeom>
            <a:avLst/>
            <a:gdLst/>
            <a:ahLst/>
            <a:cxnLst/>
            <a:rect l="l" t="t" r="r" b="b"/>
            <a:pathLst>
              <a:path w="2787410" h="1134302">
                <a:moveTo>
                  <a:pt x="0" y="0"/>
                </a:moveTo>
                <a:lnTo>
                  <a:pt x="2787411" y="0"/>
                </a:lnTo>
                <a:lnTo>
                  <a:pt x="2787411" y="1134301"/>
                </a:lnTo>
                <a:lnTo>
                  <a:pt x="0" y="1134301"/>
                </a:lnTo>
                <a:lnTo>
                  <a:pt x="0" y="0"/>
                </a:lnTo>
                <a:close/>
              </a:path>
            </a:pathLst>
          </a:custGeom>
          <a:blipFill>
            <a:blip r:embed="rId3"/>
            <a:stretch>
              <a:fillRect/>
            </a:stretch>
          </a:blipFill>
        </p:spPr>
        <p:txBody>
          <a:bodyPr/>
          <a:lstStyle/>
          <a:p>
            <a:endParaRPr lang="de-DE"/>
          </a:p>
        </p:txBody>
      </p:sp>
      <p:sp>
        <p:nvSpPr>
          <p:cNvPr id="4" name="TextBox 4"/>
          <p:cNvSpPr txBox="1"/>
          <p:nvPr/>
        </p:nvSpPr>
        <p:spPr>
          <a:xfrm>
            <a:off x="3824362" y="1573169"/>
            <a:ext cx="10639276" cy="977265"/>
          </a:xfrm>
          <a:prstGeom prst="rect">
            <a:avLst/>
          </a:prstGeom>
        </p:spPr>
        <p:txBody>
          <a:bodyPr lIns="0" tIns="0" rIns="0" bIns="0" rtlCol="0" anchor="t">
            <a:spAutoFit/>
          </a:bodyPr>
          <a:lstStyle/>
          <a:p>
            <a:pPr algn="ctr">
              <a:lnSpc>
                <a:spcPts val="7559"/>
              </a:lnSpc>
            </a:pPr>
            <a:r>
              <a:rPr lang="en-US" sz="5400" b="1">
                <a:solidFill>
                  <a:srgbClr val="E8440B"/>
                </a:solidFill>
                <a:latin typeface="Poppins Bold"/>
                <a:ea typeface="Poppins Bold"/>
                <a:cs typeface="Poppins Bold"/>
                <a:sym typeface="Poppins Bold"/>
              </a:rPr>
              <a:t>Tagesablauf</a:t>
            </a:r>
          </a:p>
        </p:txBody>
      </p:sp>
      <p:sp>
        <p:nvSpPr>
          <p:cNvPr id="5" name="TextBox 5"/>
          <p:cNvSpPr txBox="1"/>
          <p:nvPr/>
        </p:nvSpPr>
        <p:spPr>
          <a:xfrm>
            <a:off x="605767" y="2812788"/>
            <a:ext cx="17068632" cy="5873113"/>
          </a:xfrm>
          <a:prstGeom prst="rect">
            <a:avLst/>
          </a:prstGeom>
        </p:spPr>
        <p:txBody>
          <a:bodyPr lIns="0" tIns="0" rIns="0" bIns="0" rtlCol="0" anchor="t">
            <a:spAutoFit/>
          </a:bodyPr>
          <a:lstStyle/>
          <a:p>
            <a:pPr marL="518176" lvl="1" indent="-259088" algn="l">
              <a:lnSpc>
                <a:spcPts val="3360"/>
              </a:lnSpc>
              <a:buAutoNum type="arabicPeriod"/>
            </a:pPr>
            <a:r>
              <a:rPr lang="en-US" sz="2400" b="1">
                <a:solidFill>
                  <a:srgbClr val="000000"/>
                </a:solidFill>
                <a:latin typeface="Poppins Bold"/>
                <a:ea typeface="Poppins Bold"/>
                <a:cs typeface="Poppins Bold"/>
                <a:sym typeface="Poppins Bold"/>
              </a:rPr>
              <a:t>Begrüßung: </a:t>
            </a:r>
            <a:r>
              <a:rPr lang="en-US" sz="2400">
                <a:solidFill>
                  <a:srgbClr val="000000"/>
                </a:solidFill>
                <a:latin typeface="Poppins"/>
                <a:ea typeface="Poppins"/>
                <a:cs typeface="Poppins"/>
                <a:sym typeface="Poppins"/>
              </a:rPr>
              <a:t>Präsentation zeigen, auf Rahmenbedingungen eingehen (nicht alle TN spielen alle Stationen)</a:t>
            </a:r>
          </a:p>
          <a:p>
            <a:pPr marL="518176" lvl="1" indent="-259088" algn="l">
              <a:lnSpc>
                <a:spcPts val="3360"/>
              </a:lnSpc>
              <a:buAutoNum type="arabicPeriod"/>
            </a:pPr>
            <a:r>
              <a:rPr lang="en-US" sz="2400" b="1">
                <a:solidFill>
                  <a:srgbClr val="000000"/>
                </a:solidFill>
                <a:latin typeface="Poppins Bold"/>
                <a:ea typeface="Poppins Bold"/>
                <a:cs typeface="Poppins Bold"/>
                <a:sym typeface="Poppins Bold"/>
              </a:rPr>
              <a:t>Einführungspräsentation: </a:t>
            </a:r>
            <a:r>
              <a:rPr lang="en-US" sz="2400">
                <a:solidFill>
                  <a:srgbClr val="000000"/>
                </a:solidFill>
                <a:latin typeface="Poppins"/>
                <a:ea typeface="Poppins"/>
                <a:cs typeface="Poppins"/>
                <a:sym typeface="Poppins"/>
              </a:rPr>
              <a:t>Videos des Meisterdiebs zeigen</a:t>
            </a:r>
            <a:r>
              <a:rPr lang="en-US" sz="2400" b="1">
                <a:solidFill>
                  <a:srgbClr val="000000"/>
                </a:solidFill>
                <a:latin typeface="Poppins Bold"/>
                <a:ea typeface="Poppins Bold"/>
                <a:cs typeface="Poppins Bold"/>
                <a:sym typeface="Poppins Bold"/>
              </a:rPr>
              <a:t> </a:t>
            </a:r>
          </a:p>
          <a:p>
            <a:pPr marL="518176" lvl="1" indent="-259088" algn="l">
              <a:lnSpc>
                <a:spcPts val="3360"/>
              </a:lnSpc>
              <a:buAutoNum type="arabicPeriod"/>
            </a:pPr>
            <a:r>
              <a:rPr lang="en-US" sz="2400" b="1">
                <a:solidFill>
                  <a:srgbClr val="000000"/>
                </a:solidFill>
                <a:latin typeface="Poppins Bold"/>
                <a:ea typeface="Poppins Bold"/>
                <a:cs typeface="Poppins Bold"/>
                <a:sym typeface="Poppins Bold"/>
              </a:rPr>
              <a:t>Aufteilung in Gruppen/Stationen: </a:t>
            </a:r>
            <a:r>
              <a:rPr lang="en-US" sz="2400">
                <a:solidFill>
                  <a:srgbClr val="000000"/>
                </a:solidFill>
                <a:latin typeface="Poppins"/>
                <a:ea typeface="Poppins"/>
                <a:cs typeface="Poppins"/>
                <a:sym typeface="Poppins"/>
              </a:rPr>
              <a:t>Hier muss bei Schüler:innen etwas gesteuert werden, wir fragen im Plenum die Wünsche ab (manchmal wird eine Station ausgelassen oder zwei Gruppen machen eine Station) </a:t>
            </a:r>
          </a:p>
          <a:p>
            <a:pPr marL="518176" lvl="1" indent="-259088" algn="l">
              <a:lnSpc>
                <a:spcPts val="3360"/>
              </a:lnSpc>
              <a:buAutoNum type="arabicPeriod"/>
            </a:pPr>
            <a:r>
              <a:rPr lang="en-US" sz="2400" b="1">
                <a:solidFill>
                  <a:srgbClr val="000000"/>
                </a:solidFill>
                <a:latin typeface="Poppins Bold"/>
                <a:ea typeface="Poppins Bold"/>
                <a:cs typeface="Poppins Bold"/>
                <a:sym typeface="Poppins Bold"/>
              </a:rPr>
              <a:t>Lösen der einzelnen Stationen: </a:t>
            </a:r>
            <a:r>
              <a:rPr lang="en-US" sz="2400">
                <a:solidFill>
                  <a:srgbClr val="000000"/>
                </a:solidFill>
                <a:latin typeface="Poppins"/>
                <a:ea typeface="Poppins"/>
                <a:cs typeface="Poppins"/>
                <a:sym typeface="Poppins"/>
              </a:rPr>
              <a:t>Beleitung 1 Person auf 2 Stationen (3D-Druck und Lasercutting, Stop-Motion und Greenscreen, Robotik und Drohne, KI bedarf kaum Beleitung)</a:t>
            </a:r>
          </a:p>
          <a:p>
            <a:pPr marL="518176" lvl="1" indent="-259088" algn="l">
              <a:lnSpc>
                <a:spcPts val="3360"/>
              </a:lnSpc>
              <a:buAutoNum type="arabicPeriod"/>
            </a:pPr>
            <a:r>
              <a:rPr lang="en-US" sz="2400" b="1">
                <a:solidFill>
                  <a:srgbClr val="000000"/>
                </a:solidFill>
                <a:latin typeface="Poppins Bold"/>
                <a:ea typeface="Poppins Bold"/>
                <a:cs typeface="Poppins Bold"/>
                <a:sym typeface="Poppins Bold"/>
              </a:rPr>
              <a:t>Finale mit Ergebnispräsentation und Rückmeldung des Meisterdiebs im Plenum:</a:t>
            </a:r>
            <a:r>
              <a:rPr lang="en-US" sz="2400">
                <a:solidFill>
                  <a:srgbClr val="000000"/>
                </a:solidFill>
                <a:latin typeface="Poppins"/>
                <a:ea typeface="Poppins"/>
                <a:cs typeface="Poppins"/>
                <a:sym typeface="Poppins"/>
              </a:rPr>
              <a:t> Vorab alle Gruppen zur Ergebnissicherung anhalten, im Plenum Ergebnisse zeigen und mit TN in Austausch über Rätsel bzw. insb. Umsetzung mit digitalen Werkzeugen gehen. Rückmeldung des Meisterdiebes anhören, wenn zeitlich einrichtbar, können die TN nun andere Stationen. Den Link mit den Ergebnissen der Gruppe an Lehrkraft senden.</a:t>
            </a:r>
          </a:p>
          <a:p>
            <a:pPr marL="518176" lvl="1" indent="-259088" algn="l">
              <a:lnSpc>
                <a:spcPts val="3360"/>
              </a:lnSpc>
              <a:buFont typeface="Arial"/>
              <a:buChar char="•"/>
            </a:pPr>
            <a:r>
              <a:rPr lang="en-US" sz="2400">
                <a:solidFill>
                  <a:srgbClr val="000000"/>
                </a:solidFill>
                <a:latin typeface="Poppins"/>
                <a:ea typeface="Poppins"/>
                <a:cs typeface="Poppins"/>
                <a:sym typeface="Poppins"/>
              </a:rPr>
              <a:t>Kleinigkeit für die TN vorbereiten. </a:t>
            </a:r>
          </a:p>
          <a:p>
            <a:pPr algn="l">
              <a:lnSpc>
                <a:spcPts val="3360"/>
              </a:lnSpc>
            </a:pPr>
            <a:endParaRPr lang="en-US" sz="2400">
              <a:solidFill>
                <a:srgbClr val="000000"/>
              </a:solidFill>
              <a:latin typeface="Poppins"/>
              <a:ea typeface="Poppins"/>
              <a:cs typeface="Poppins"/>
              <a:sym typeface="Poppins"/>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6F6F1"/>
        </a:solidFill>
        <a:effectLst/>
      </p:bgPr>
    </p:bg>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a:ln w="200025" cap="sq">
            <a:solidFill>
              <a:srgbClr val="EB4210"/>
            </a:solidFill>
            <a:prstDash val="solid"/>
            <a:miter/>
          </a:ln>
        </p:spPr>
        <p:txBody>
          <a:bodyPr/>
          <a:lstStyle/>
          <a:p>
            <a:endParaRPr lang="de-DE"/>
          </a:p>
        </p:txBody>
      </p:sp>
      <p:sp>
        <p:nvSpPr>
          <p:cNvPr id="3" name="Freeform 3"/>
          <p:cNvSpPr/>
          <p:nvPr/>
        </p:nvSpPr>
        <p:spPr>
          <a:xfrm>
            <a:off x="15314140" y="9001800"/>
            <a:ext cx="2787410" cy="1134302"/>
          </a:xfrm>
          <a:custGeom>
            <a:avLst/>
            <a:gdLst/>
            <a:ahLst/>
            <a:cxnLst/>
            <a:rect l="l" t="t" r="r" b="b"/>
            <a:pathLst>
              <a:path w="2787410" h="1134302">
                <a:moveTo>
                  <a:pt x="0" y="0"/>
                </a:moveTo>
                <a:lnTo>
                  <a:pt x="2787411" y="0"/>
                </a:lnTo>
                <a:lnTo>
                  <a:pt x="2787411" y="1134301"/>
                </a:lnTo>
                <a:lnTo>
                  <a:pt x="0" y="1134301"/>
                </a:lnTo>
                <a:lnTo>
                  <a:pt x="0" y="0"/>
                </a:lnTo>
                <a:close/>
              </a:path>
            </a:pathLst>
          </a:custGeom>
          <a:blipFill>
            <a:blip r:embed="rId3"/>
            <a:stretch>
              <a:fillRect/>
            </a:stretch>
          </a:blipFill>
        </p:spPr>
        <p:txBody>
          <a:bodyPr/>
          <a:lstStyle/>
          <a:p>
            <a:endParaRPr lang="de-DE"/>
          </a:p>
        </p:txBody>
      </p:sp>
      <p:sp>
        <p:nvSpPr>
          <p:cNvPr id="4" name="TextBox 4"/>
          <p:cNvSpPr txBox="1"/>
          <p:nvPr/>
        </p:nvSpPr>
        <p:spPr>
          <a:xfrm>
            <a:off x="7648724" y="1573169"/>
            <a:ext cx="10639276" cy="1929765"/>
          </a:xfrm>
          <a:prstGeom prst="rect">
            <a:avLst/>
          </a:prstGeom>
        </p:spPr>
        <p:txBody>
          <a:bodyPr lIns="0" tIns="0" rIns="0" bIns="0" rtlCol="0" anchor="t">
            <a:spAutoFit/>
          </a:bodyPr>
          <a:lstStyle/>
          <a:p>
            <a:pPr algn="ctr">
              <a:lnSpc>
                <a:spcPts val="7559"/>
              </a:lnSpc>
            </a:pPr>
            <a:r>
              <a:rPr lang="en-US" sz="5400" b="1">
                <a:solidFill>
                  <a:srgbClr val="E8440B"/>
                </a:solidFill>
                <a:latin typeface="Poppins Bold"/>
                <a:ea typeface="Poppins Bold"/>
                <a:cs typeface="Poppins Bold"/>
                <a:sym typeface="Poppins Bold"/>
              </a:rPr>
              <a:t>Die Spielregeln bei Quellenangaben</a:t>
            </a:r>
          </a:p>
        </p:txBody>
      </p:sp>
      <p:sp>
        <p:nvSpPr>
          <p:cNvPr id="5" name="TextBox 5"/>
          <p:cNvSpPr txBox="1"/>
          <p:nvPr/>
        </p:nvSpPr>
        <p:spPr>
          <a:xfrm>
            <a:off x="8923141" y="4114935"/>
            <a:ext cx="8336159" cy="5454015"/>
          </a:xfrm>
          <a:prstGeom prst="rect">
            <a:avLst/>
          </a:prstGeom>
        </p:spPr>
        <p:txBody>
          <a:bodyPr lIns="0" tIns="0" rIns="0" bIns="0" rtlCol="0" anchor="t">
            <a:spAutoFit/>
          </a:bodyPr>
          <a:lstStyle/>
          <a:p>
            <a:pPr algn="l">
              <a:lnSpc>
                <a:spcPts val="3359"/>
              </a:lnSpc>
            </a:pPr>
            <a:r>
              <a:rPr lang="en-US" sz="2400" b="1">
                <a:solidFill>
                  <a:srgbClr val="000000"/>
                </a:solidFill>
                <a:latin typeface="Poppins Bold"/>
                <a:ea typeface="Poppins Bold"/>
                <a:cs typeface="Poppins Bold"/>
                <a:sym typeface="Poppins Bold"/>
              </a:rPr>
              <a:t>Escape &amp; Make</a:t>
            </a:r>
            <a:r>
              <a:rPr lang="en-US" sz="2400">
                <a:solidFill>
                  <a:srgbClr val="000000"/>
                </a:solidFill>
                <a:latin typeface="Poppins"/>
                <a:ea typeface="Poppins"/>
                <a:cs typeface="Poppins"/>
                <a:sym typeface="Poppins"/>
              </a:rPr>
              <a:t> © 2026 vom </a:t>
            </a:r>
            <a:r>
              <a:rPr lang="en-US" sz="2400" b="1" u="sng">
                <a:solidFill>
                  <a:srgbClr val="000000"/>
                </a:solidFill>
                <a:latin typeface="Poppins Bold"/>
                <a:ea typeface="Poppins Bold"/>
                <a:cs typeface="Poppins Bold"/>
                <a:sym typeface="Poppins Bold"/>
                <a:hlinkClick r:id="rId4" tooltip="https://digitallabor.ms/angebot"/>
              </a:rPr>
              <a:t>Digitallabor Münster</a:t>
            </a:r>
            <a:r>
              <a:rPr lang="en-US" sz="2400">
                <a:solidFill>
                  <a:srgbClr val="000000"/>
                </a:solidFill>
                <a:latin typeface="Poppins"/>
                <a:ea typeface="Poppins"/>
                <a:cs typeface="Poppins"/>
                <a:sym typeface="Poppins"/>
              </a:rPr>
              <a:t> ist lizensiert unter </a:t>
            </a:r>
            <a:r>
              <a:rPr lang="en-US" sz="2400" b="1" u="sng">
                <a:solidFill>
                  <a:srgbClr val="000000"/>
                </a:solidFill>
                <a:latin typeface="Poppins Bold"/>
                <a:ea typeface="Poppins Bold"/>
                <a:cs typeface="Poppins Bold"/>
                <a:sym typeface="Poppins Bold"/>
                <a:hlinkClick r:id="rId5" tooltip="https://creativecommons.org/licenses/by-nc-sa/4.0/legalcode.de"/>
              </a:rPr>
              <a:t>CC BY-NC-SA 4.0.</a:t>
            </a:r>
            <a:r>
              <a:rPr lang="en-US" sz="2400">
                <a:solidFill>
                  <a:srgbClr val="000000"/>
                </a:solidFill>
                <a:latin typeface="Poppins"/>
                <a:ea typeface="Poppins"/>
                <a:cs typeface="Poppins"/>
                <a:sym typeface="Poppins"/>
              </a:rPr>
              <a:t>  </a:t>
            </a:r>
          </a:p>
          <a:p>
            <a:pPr algn="l">
              <a:lnSpc>
                <a:spcPts val="3359"/>
              </a:lnSpc>
            </a:pPr>
            <a:endParaRPr lang="en-US" sz="2400">
              <a:solidFill>
                <a:srgbClr val="000000"/>
              </a:solidFill>
              <a:latin typeface="Poppins"/>
              <a:ea typeface="Poppins"/>
              <a:cs typeface="Poppins"/>
              <a:sym typeface="Poppins"/>
            </a:endParaRPr>
          </a:p>
          <a:p>
            <a:pPr algn="l">
              <a:lnSpc>
                <a:spcPts val="3359"/>
              </a:lnSpc>
            </a:pPr>
            <a:r>
              <a:rPr lang="en-US" sz="2400">
                <a:solidFill>
                  <a:srgbClr val="000000"/>
                </a:solidFill>
                <a:latin typeface="Poppins"/>
                <a:ea typeface="Poppins"/>
                <a:cs typeface="Poppins"/>
                <a:sym typeface="Poppins"/>
              </a:rPr>
              <a:t>Das Material steht als offenes Bildungsmaterial (Open Educational Ressource, OER) unter der CC BY-NC 4.0</a:t>
            </a:r>
          </a:p>
          <a:p>
            <a:pPr algn="l">
              <a:lnSpc>
                <a:spcPts val="3359"/>
              </a:lnSpc>
            </a:pPr>
            <a:r>
              <a:rPr lang="en-US" sz="2400">
                <a:solidFill>
                  <a:srgbClr val="000000"/>
                </a:solidFill>
                <a:latin typeface="Poppins"/>
                <a:ea typeface="Poppins"/>
                <a:cs typeface="Poppins"/>
                <a:sym typeface="Poppins"/>
              </a:rPr>
              <a:t>Lizenz zur Verfügung und darf somit unter Namensnennung zu nicht kommerziellen</a:t>
            </a:r>
          </a:p>
          <a:p>
            <a:pPr algn="l">
              <a:lnSpc>
                <a:spcPts val="3359"/>
              </a:lnSpc>
            </a:pPr>
            <a:r>
              <a:rPr lang="en-US" sz="2400">
                <a:solidFill>
                  <a:srgbClr val="000000"/>
                </a:solidFill>
                <a:latin typeface="Poppins"/>
                <a:ea typeface="Poppins"/>
                <a:cs typeface="Poppins"/>
                <a:sym typeface="Poppins"/>
              </a:rPr>
              <a:t>Zwecken bearbeitet und geteilt werden. </a:t>
            </a:r>
          </a:p>
          <a:p>
            <a:pPr algn="l">
              <a:lnSpc>
                <a:spcPts val="3359"/>
              </a:lnSpc>
            </a:pPr>
            <a:endParaRPr lang="en-US" sz="2400">
              <a:solidFill>
                <a:srgbClr val="000000"/>
              </a:solidFill>
              <a:latin typeface="Poppins"/>
              <a:ea typeface="Poppins"/>
              <a:cs typeface="Poppins"/>
              <a:sym typeface="Poppins"/>
            </a:endParaRPr>
          </a:p>
          <a:p>
            <a:pPr algn="l">
              <a:lnSpc>
                <a:spcPts val="3359"/>
              </a:lnSpc>
            </a:pPr>
            <a:r>
              <a:rPr lang="en-US" sz="2400">
                <a:solidFill>
                  <a:srgbClr val="000000"/>
                </a:solidFill>
                <a:latin typeface="Poppins"/>
                <a:ea typeface="Poppins"/>
                <a:cs typeface="Poppins"/>
                <a:sym typeface="Poppins"/>
              </a:rPr>
              <a:t>Alle in dieser Präsentation verwendeten Bilder sind für die Umsetzung von Escape &amp; Make KI generiert mit ChatGPT 4.0. </a:t>
            </a:r>
          </a:p>
          <a:p>
            <a:pPr algn="ctr">
              <a:lnSpc>
                <a:spcPts val="3359"/>
              </a:lnSpc>
            </a:pPr>
            <a:endParaRPr lang="en-US" sz="2400">
              <a:solidFill>
                <a:srgbClr val="000000"/>
              </a:solidFill>
              <a:latin typeface="Poppins"/>
              <a:ea typeface="Poppins"/>
              <a:cs typeface="Poppins"/>
              <a:sym typeface="Poppins"/>
            </a:endParaRPr>
          </a:p>
        </p:txBody>
      </p:sp>
      <p:grpSp>
        <p:nvGrpSpPr>
          <p:cNvPr id="6" name="Group 6"/>
          <p:cNvGrpSpPr/>
          <p:nvPr/>
        </p:nvGrpSpPr>
        <p:grpSpPr>
          <a:xfrm>
            <a:off x="-76534" y="-531873"/>
            <a:ext cx="6936977" cy="10629874"/>
            <a:chOff x="0" y="0"/>
            <a:chExt cx="9249302" cy="14173165"/>
          </a:xfrm>
        </p:grpSpPr>
        <p:sp>
          <p:nvSpPr>
            <p:cNvPr id="7" name="Freeform 7"/>
            <p:cNvSpPr/>
            <p:nvPr/>
          </p:nvSpPr>
          <p:spPr>
            <a:xfrm>
              <a:off x="0" y="0"/>
              <a:ext cx="9249302" cy="14173165"/>
            </a:xfrm>
            <a:custGeom>
              <a:avLst/>
              <a:gdLst/>
              <a:ahLst/>
              <a:cxnLst/>
              <a:rect l="l" t="t" r="r" b="b"/>
              <a:pathLst>
                <a:path w="9249302" h="14173165">
                  <a:moveTo>
                    <a:pt x="0" y="0"/>
                  </a:moveTo>
                  <a:lnTo>
                    <a:pt x="9249302" y="0"/>
                  </a:lnTo>
                  <a:lnTo>
                    <a:pt x="9249302" y="14173165"/>
                  </a:lnTo>
                  <a:lnTo>
                    <a:pt x="0" y="14173165"/>
                  </a:lnTo>
                  <a:lnTo>
                    <a:pt x="0" y="0"/>
                  </a:lnTo>
                  <a:close/>
                </a:path>
              </a:pathLst>
            </a:custGeom>
            <a:blipFill>
              <a:blip r:embed="rId6"/>
              <a:stretch>
                <a:fillRect t="-31785" r="-101941"/>
              </a:stretch>
            </a:blipFill>
          </p:spPr>
          <p:txBody>
            <a:bodyPr/>
            <a:lstStyle/>
            <a:p>
              <a:endParaRPr lang="de-DE"/>
            </a:p>
          </p:txBody>
        </p:sp>
        <p:sp>
          <p:nvSpPr>
            <p:cNvPr id="8" name="Freeform 8"/>
            <p:cNvSpPr/>
            <p:nvPr/>
          </p:nvSpPr>
          <p:spPr>
            <a:xfrm>
              <a:off x="416397" y="13229916"/>
              <a:ext cx="2001477" cy="853963"/>
            </a:xfrm>
            <a:custGeom>
              <a:avLst/>
              <a:gdLst/>
              <a:ahLst/>
              <a:cxnLst/>
              <a:rect l="l" t="t" r="r" b="b"/>
              <a:pathLst>
                <a:path w="2001477" h="853963">
                  <a:moveTo>
                    <a:pt x="0" y="0"/>
                  </a:moveTo>
                  <a:lnTo>
                    <a:pt x="2001477" y="0"/>
                  </a:lnTo>
                  <a:lnTo>
                    <a:pt x="2001477" y="853963"/>
                  </a:lnTo>
                  <a:lnTo>
                    <a:pt x="0" y="853963"/>
                  </a:lnTo>
                  <a:lnTo>
                    <a:pt x="0" y="0"/>
                  </a:lnTo>
                  <a:close/>
                </a:path>
              </a:pathLst>
            </a:custGeom>
            <a:blipFill>
              <a:blip r:embed="rId7"/>
              <a:stretch>
                <a:fillRect/>
              </a:stretch>
            </a:blipFill>
          </p:spPr>
          <p:txBody>
            <a:bodyPr/>
            <a:lstStyle/>
            <a:p>
              <a:endParaRPr lang="de-DE"/>
            </a:p>
          </p:txBody>
        </p:sp>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6F6F1"/>
        </a:solidFill>
        <a:effectLst/>
      </p:bgPr>
    </p:bg>
    <p:spTree>
      <p:nvGrpSpPr>
        <p:cNvPr id="1" name=""/>
        <p:cNvGrpSpPr/>
        <p:nvPr/>
      </p:nvGrpSpPr>
      <p:grpSpPr>
        <a:xfrm>
          <a:off x="0" y="0"/>
          <a:ext cx="0" cy="0"/>
          <a:chOff x="0" y="0"/>
          <a:chExt cx="0" cy="0"/>
        </a:xfrm>
      </p:grpSpPr>
      <p:sp>
        <p:nvSpPr>
          <p:cNvPr id="2" name="TextBox 2"/>
          <p:cNvSpPr txBox="1"/>
          <p:nvPr/>
        </p:nvSpPr>
        <p:spPr>
          <a:xfrm>
            <a:off x="1853726" y="2721042"/>
            <a:ext cx="6507812" cy="3258185"/>
          </a:xfrm>
          <a:prstGeom prst="rect">
            <a:avLst/>
          </a:prstGeom>
        </p:spPr>
        <p:txBody>
          <a:bodyPr lIns="0" tIns="0" rIns="0" bIns="0" rtlCol="0" anchor="t">
            <a:spAutoFit/>
          </a:bodyPr>
          <a:lstStyle/>
          <a:p>
            <a:pPr algn="l">
              <a:lnSpc>
                <a:spcPts val="3919"/>
              </a:lnSpc>
            </a:pPr>
            <a:r>
              <a:rPr lang="en-US" sz="2799">
                <a:solidFill>
                  <a:srgbClr val="000000"/>
                </a:solidFill>
                <a:latin typeface="Poppins"/>
                <a:ea typeface="Poppins"/>
                <a:cs typeface="Poppins"/>
                <a:sym typeface="Poppins"/>
              </a:rPr>
              <a:t>Escape &amp; Make </a:t>
            </a:r>
          </a:p>
          <a:p>
            <a:pPr algn="l">
              <a:lnSpc>
                <a:spcPts val="3919"/>
              </a:lnSpc>
            </a:pPr>
            <a:r>
              <a:rPr lang="en-US" sz="2799">
                <a:solidFill>
                  <a:srgbClr val="000000"/>
                </a:solidFill>
                <a:latin typeface="Poppins"/>
                <a:ea typeface="Poppins"/>
                <a:cs typeface="Poppins"/>
                <a:sym typeface="Poppins"/>
              </a:rPr>
              <a:t>© 2026 </a:t>
            </a:r>
          </a:p>
          <a:p>
            <a:pPr algn="l">
              <a:lnSpc>
                <a:spcPts val="3919"/>
              </a:lnSpc>
            </a:pPr>
            <a:r>
              <a:rPr lang="en-US" sz="2799">
                <a:solidFill>
                  <a:srgbClr val="000000"/>
                </a:solidFill>
                <a:latin typeface="Poppins"/>
                <a:ea typeface="Poppins"/>
                <a:cs typeface="Poppins"/>
                <a:sym typeface="Poppins"/>
              </a:rPr>
              <a:t>vom </a:t>
            </a:r>
            <a:r>
              <a:rPr lang="en-US" sz="2799" u="sng">
                <a:solidFill>
                  <a:srgbClr val="000000"/>
                </a:solidFill>
                <a:latin typeface="Poppins"/>
                <a:ea typeface="Poppins"/>
                <a:cs typeface="Poppins"/>
                <a:sym typeface="Poppins"/>
                <a:hlinkClick r:id="rId2" tooltip="https://digitallabor.ms/angebot"/>
              </a:rPr>
              <a:t>Digitallabor Münster</a:t>
            </a:r>
            <a:r>
              <a:rPr lang="en-US" sz="2799">
                <a:solidFill>
                  <a:srgbClr val="000000"/>
                </a:solidFill>
                <a:latin typeface="Poppins"/>
                <a:ea typeface="Poppins"/>
                <a:cs typeface="Poppins"/>
                <a:sym typeface="Poppins"/>
              </a:rPr>
              <a:t> </a:t>
            </a:r>
          </a:p>
          <a:p>
            <a:pPr algn="l">
              <a:lnSpc>
                <a:spcPts val="3919"/>
              </a:lnSpc>
            </a:pPr>
            <a:r>
              <a:rPr lang="en-US" sz="2799">
                <a:solidFill>
                  <a:srgbClr val="000000"/>
                </a:solidFill>
                <a:latin typeface="Poppins"/>
                <a:ea typeface="Poppins"/>
                <a:cs typeface="Poppins"/>
                <a:sym typeface="Poppins"/>
              </a:rPr>
              <a:t>ist lizensiert unter </a:t>
            </a:r>
            <a:r>
              <a:rPr lang="en-US" sz="2799" u="sng">
                <a:solidFill>
                  <a:srgbClr val="000000"/>
                </a:solidFill>
                <a:latin typeface="Poppins"/>
                <a:ea typeface="Poppins"/>
                <a:cs typeface="Poppins"/>
                <a:sym typeface="Poppins"/>
                <a:hlinkClick r:id="rId3" tooltip="https://creativecommons.org/licenses/by-nc-sa/4.0/legalcode.de"/>
              </a:rPr>
              <a:t>CC BY-NC-SA 4.0.</a:t>
            </a:r>
            <a:r>
              <a:rPr lang="en-US" sz="2799">
                <a:solidFill>
                  <a:srgbClr val="000000"/>
                </a:solidFill>
                <a:latin typeface="Poppins"/>
                <a:ea typeface="Poppins"/>
                <a:cs typeface="Poppins"/>
                <a:sym typeface="Poppins"/>
              </a:rPr>
              <a:t>  </a:t>
            </a:r>
          </a:p>
          <a:p>
            <a:pPr algn="l">
              <a:lnSpc>
                <a:spcPts val="3359"/>
              </a:lnSpc>
            </a:pPr>
            <a:endParaRPr lang="en-US" sz="2799">
              <a:solidFill>
                <a:srgbClr val="000000"/>
              </a:solidFill>
              <a:latin typeface="Poppins"/>
              <a:ea typeface="Poppins"/>
              <a:cs typeface="Poppins"/>
              <a:sym typeface="Poppins"/>
            </a:endParaRPr>
          </a:p>
          <a:p>
            <a:pPr algn="l">
              <a:lnSpc>
                <a:spcPts val="3359"/>
              </a:lnSpc>
            </a:pPr>
            <a:endParaRPr lang="en-US" sz="2799">
              <a:solidFill>
                <a:srgbClr val="000000"/>
              </a:solidFill>
              <a:latin typeface="Poppins"/>
              <a:ea typeface="Poppins"/>
              <a:cs typeface="Poppins"/>
              <a:sym typeface="Poppins"/>
            </a:endParaRPr>
          </a:p>
          <a:p>
            <a:pPr algn="ctr">
              <a:lnSpc>
                <a:spcPts val="3359"/>
              </a:lnSpc>
            </a:pPr>
            <a:endParaRPr lang="en-US" sz="2799">
              <a:solidFill>
                <a:srgbClr val="000000"/>
              </a:solidFill>
              <a:latin typeface="Poppins"/>
              <a:ea typeface="Poppins"/>
              <a:cs typeface="Poppins"/>
              <a:sym typeface="Poppins"/>
            </a:endParaRPr>
          </a:p>
        </p:txBody>
      </p:sp>
      <p:sp>
        <p:nvSpPr>
          <p:cNvPr id="3" name="Freeform 3"/>
          <p:cNvSpPr/>
          <p:nvPr/>
        </p:nvSpPr>
        <p:spPr>
          <a:xfrm>
            <a:off x="1235549" y="4573513"/>
            <a:ext cx="6396857" cy="2603120"/>
          </a:xfrm>
          <a:custGeom>
            <a:avLst/>
            <a:gdLst/>
            <a:ahLst/>
            <a:cxnLst/>
            <a:rect l="l" t="t" r="r" b="b"/>
            <a:pathLst>
              <a:path w="6396857" h="2603120">
                <a:moveTo>
                  <a:pt x="0" y="0"/>
                </a:moveTo>
                <a:lnTo>
                  <a:pt x="6396857" y="0"/>
                </a:lnTo>
                <a:lnTo>
                  <a:pt x="6396857" y="2603121"/>
                </a:lnTo>
                <a:lnTo>
                  <a:pt x="0" y="2603121"/>
                </a:lnTo>
                <a:lnTo>
                  <a:pt x="0" y="0"/>
                </a:lnTo>
                <a:close/>
              </a:path>
            </a:pathLst>
          </a:custGeom>
          <a:blipFill>
            <a:blip r:embed="rId4"/>
            <a:stretch>
              <a:fillRect/>
            </a:stretch>
          </a:blipFill>
        </p:spPr>
        <p:txBody>
          <a:bodyPr/>
          <a:lstStyle/>
          <a:p>
            <a:endParaRPr lang="de-DE"/>
          </a:p>
        </p:txBody>
      </p:sp>
      <p:sp>
        <p:nvSpPr>
          <p:cNvPr id="4" name="TextBox 4"/>
          <p:cNvSpPr txBox="1"/>
          <p:nvPr/>
        </p:nvSpPr>
        <p:spPr>
          <a:xfrm>
            <a:off x="9655078" y="2721042"/>
            <a:ext cx="6507812" cy="1995805"/>
          </a:xfrm>
          <a:prstGeom prst="rect">
            <a:avLst/>
          </a:prstGeom>
        </p:spPr>
        <p:txBody>
          <a:bodyPr lIns="0" tIns="0" rIns="0" bIns="0" rtlCol="0" anchor="t">
            <a:spAutoFit/>
          </a:bodyPr>
          <a:lstStyle/>
          <a:p>
            <a:pPr algn="l">
              <a:lnSpc>
                <a:spcPts val="3919"/>
              </a:lnSpc>
            </a:pPr>
            <a:r>
              <a:rPr lang="en-US" sz="2799">
                <a:solidFill>
                  <a:srgbClr val="000000"/>
                </a:solidFill>
                <a:latin typeface="Poppins"/>
                <a:ea typeface="Poppins"/>
                <a:cs typeface="Poppins"/>
                <a:sym typeface="Poppins"/>
              </a:rPr>
              <a:t>Das Digitallabor wird koordiniert und betreut von der Stabsstelle Digitale Bildung im Amt für Schule und Weiterbildung der Stadt Münster.</a:t>
            </a:r>
          </a:p>
        </p:txBody>
      </p:sp>
      <p:sp>
        <p:nvSpPr>
          <p:cNvPr id="5" name="Freeform 5"/>
          <p:cNvSpPr/>
          <p:nvPr/>
        </p:nvSpPr>
        <p:spPr>
          <a:xfrm>
            <a:off x="9655078" y="5143500"/>
            <a:ext cx="6730476" cy="1463147"/>
          </a:xfrm>
          <a:custGeom>
            <a:avLst/>
            <a:gdLst/>
            <a:ahLst/>
            <a:cxnLst/>
            <a:rect l="l" t="t" r="r" b="b"/>
            <a:pathLst>
              <a:path w="6730476" h="1463147">
                <a:moveTo>
                  <a:pt x="0" y="0"/>
                </a:moveTo>
                <a:lnTo>
                  <a:pt x="6730476" y="0"/>
                </a:lnTo>
                <a:lnTo>
                  <a:pt x="6730476" y="1463147"/>
                </a:lnTo>
                <a:lnTo>
                  <a:pt x="0" y="1463147"/>
                </a:lnTo>
                <a:lnTo>
                  <a:pt x="0" y="0"/>
                </a:lnTo>
                <a:close/>
              </a:path>
            </a:pathLst>
          </a:custGeom>
          <a:blipFill>
            <a:blip r:embed="rId5"/>
            <a:stretch>
              <a:fillRect/>
            </a:stretch>
          </a:blipFill>
        </p:spPr>
        <p:txBody>
          <a:bodyPr/>
          <a:lstStyle/>
          <a:p>
            <a:endParaRPr lang="de-DE"/>
          </a:p>
        </p:txBody>
      </p:sp>
      <p:sp>
        <p:nvSpPr>
          <p:cNvPr id="6" name="Freeform 6"/>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6"/>
            <a:stretch>
              <a:fillRect t="-39172" b="-38605"/>
            </a:stretch>
          </a:blipFill>
          <a:ln w="200025" cap="sq">
            <a:solidFill>
              <a:srgbClr val="E8440B"/>
            </a:solidFill>
            <a:prstDash val="solid"/>
            <a:miter/>
          </a:ln>
        </p:spPr>
        <p:txBody>
          <a:bodyPr/>
          <a:lstStyle/>
          <a:p>
            <a:endParaRPr lang="de-DE"/>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2901</Words>
  <Application>Microsoft Office PowerPoint</Application>
  <PresentationFormat>Benutzerdefiniert</PresentationFormat>
  <Paragraphs>306</Paragraphs>
  <Slides>28</Slides>
  <Notes>0</Notes>
  <HiddenSlides>0</HiddenSlides>
  <MMClips>0</MMClips>
  <ScaleCrop>false</ScaleCrop>
  <HeadingPairs>
    <vt:vector size="6" baseType="variant">
      <vt:variant>
        <vt:lpstr>Verwendete Schriftarten</vt:lpstr>
      </vt:variant>
      <vt:variant>
        <vt:i4>4</vt:i4>
      </vt:variant>
      <vt:variant>
        <vt:lpstr>Design</vt:lpstr>
      </vt:variant>
      <vt:variant>
        <vt:i4>1</vt:i4>
      </vt:variant>
      <vt:variant>
        <vt:lpstr>Folientitel</vt:lpstr>
      </vt:variant>
      <vt:variant>
        <vt:i4>28</vt:i4>
      </vt:variant>
    </vt:vector>
  </HeadingPairs>
  <TitlesOfParts>
    <vt:vector size="33" baseType="lpstr">
      <vt:lpstr>Arial</vt:lpstr>
      <vt:lpstr>Poppins</vt:lpstr>
      <vt:lpstr>Calibri</vt:lpstr>
      <vt:lpstr>Poppins Bold</vt:lpstr>
      <vt:lpstr>Office Theme</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Anleitung für Umsetzende</dc:title>
  <cp:lastModifiedBy>Seida Bahtovic</cp:lastModifiedBy>
  <cp:revision>2</cp:revision>
  <dcterms:created xsi:type="dcterms:W3CDTF">2006-08-16T00:00:00Z</dcterms:created>
  <dcterms:modified xsi:type="dcterms:W3CDTF">2026-07-29T09:05:33Z</dcterms:modified>
  <dc:identifier>DAHN8MRgtD8</dc:identifier>
</cp:coreProperties>
</file>